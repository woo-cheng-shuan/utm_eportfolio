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21" r:id="rId2"/>
    <p:sldId id="256" r:id="rId3"/>
    <p:sldId id="327" r:id="rId4"/>
    <p:sldId id="325" r:id="rId5"/>
    <p:sldId id="326" r:id="rId6"/>
    <p:sldId id="328" r:id="rId7"/>
    <p:sldId id="329" r:id="rId8"/>
    <p:sldId id="330" r:id="rId9"/>
    <p:sldId id="331" r:id="rId10"/>
    <p:sldId id="332" r:id="rId11"/>
    <p:sldId id="333" r:id="rId12"/>
    <p:sldId id="271" r:id="rId13"/>
    <p:sldId id="31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6C1D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5345" autoAdjust="0"/>
  </p:normalViewPr>
  <p:slideViewPr>
    <p:cSldViewPr snapToGrid="0">
      <p:cViewPr varScale="1">
        <p:scale>
          <a:sx n="78" d="100"/>
          <a:sy n="78" d="100"/>
        </p:scale>
        <p:origin x="629"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11/11/2025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11/11/2025</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hyperlink" Target="mailto:woo04@gmail.com" TargetMode="External"/><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4.xml"/><Relationship Id="rId5" Type="http://schemas.openxmlformats.org/officeDocument/2006/relationships/image" Target="../media/image37.sv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B2362F-EF82-97D1-8085-902821FA1D5F}"/>
              </a:ext>
            </a:extLst>
          </p:cNvPr>
          <p:cNvSpPr txBox="1"/>
          <p:nvPr/>
        </p:nvSpPr>
        <p:spPr>
          <a:xfrm>
            <a:off x="3481411" y="3383801"/>
            <a:ext cx="5943600" cy="400110"/>
          </a:xfrm>
          <a:prstGeom prst="rect">
            <a:avLst/>
          </a:prstGeom>
          <a:noFill/>
        </p:spPr>
        <p:txBody>
          <a:bodyPr wrap="square" rtlCol="0">
            <a:spAutoFit/>
          </a:bodyPr>
          <a:lstStyle/>
          <a:p>
            <a:pPr algn="ctr"/>
            <a:r>
              <a:rPr lang="en-MY" sz="2000" b="1" dirty="0">
                <a:solidFill>
                  <a:schemeClr val="bg1"/>
                </a:solidFill>
              </a:rPr>
              <a:t>Lab Assignment 1 (5%) - Indexes</a:t>
            </a:r>
            <a:endParaRPr lang="en-MY" sz="2000" dirty="0">
              <a:solidFill>
                <a:schemeClr val="bg1"/>
              </a:solidFill>
            </a:endParaRPr>
          </a:p>
        </p:txBody>
      </p:sp>
      <p:sp>
        <p:nvSpPr>
          <p:cNvPr id="9" name="TextBox 8">
            <a:extLst>
              <a:ext uri="{FF2B5EF4-FFF2-40B4-BE49-F238E27FC236}">
                <a16:creationId xmlns:a16="http://schemas.microsoft.com/office/drawing/2014/main" id="{E187E90E-A947-F2E4-F188-4C78E30FFB14}"/>
              </a:ext>
            </a:extLst>
          </p:cNvPr>
          <p:cNvSpPr txBox="1"/>
          <p:nvPr/>
        </p:nvSpPr>
        <p:spPr>
          <a:xfrm>
            <a:off x="3349340" y="2468302"/>
            <a:ext cx="5943600" cy="954107"/>
          </a:xfrm>
          <a:prstGeom prst="rect">
            <a:avLst/>
          </a:prstGeom>
          <a:noFill/>
        </p:spPr>
        <p:txBody>
          <a:bodyPr wrap="square" rtlCol="0">
            <a:spAutoFit/>
          </a:bodyPr>
          <a:lstStyle/>
          <a:p>
            <a:pPr algn="ctr"/>
            <a:r>
              <a:rPr lang="en-MY" sz="2800" b="1" dirty="0">
                <a:solidFill>
                  <a:schemeClr val="bg1"/>
                </a:solidFill>
              </a:rPr>
              <a:t>SECP3623 - DATABASE PROGRAMMING</a:t>
            </a:r>
            <a:endParaRPr lang="en-MY" sz="2800" dirty="0">
              <a:solidFill>
                <a:schemeClr val="bg1"/>
              </a:solidFill>
            </a:endParaRPr>
          </a:p>
          <a:p>
            <a:pPr algn="ctr"/>
            <a:r>
              <a:rPr lang="en-MY" sz="2800" b="1" dirty="0">
                <a:solidFill>
                  <a:schemeClr val="bg1"/>
                </a:solidFill>
              </a:rPr>
              <a:t>2025/2026 - SEM 1</a:t>
            </a:r>
            <a:endParaRPr lang="en-MY" sz="2800" dirty="0">
              <a:solidFill>
                <a:schemeClr val="bg1"/>
              </a:solidFill>
            </a:endParaRPr>
          </a:p>
        </p:txBody>
      </p:sp>
      <p:sp>
        <p:nvSpPr>
          <p:cNvPr id="10" name="TextBox 9">
            <a:extLst>
              <a:ext uri="{FF2B5EF4-FFF2-40B4-BE49-F238E27FC236}">
                <a16:creationId xmlns:a16="http://schemas.microsoft.com/office/drawing/2014/main" id="{F9A31FEC-C1AB-A4DF-DA31-FC4B7684A9DD}"/>
              </a:ext>
            </a:extLst>
          </p:cNvPr>
          <p:cNvSpPr txBox="1"/>
          <p:nvPr/>
        </p:nvSpPr>
        <p:spPr>
          <a:xfrm>
            <a:off x="2592028" y="1707711"/>
            <a:ext cx="7722367" cy="707886"/>
          </a:xfrm>
          <a:prstGeom prst="rect">
            <a:avLst/>
          </a:prstGeom>
          <a:noFill/>
        </p:spPr>
        <p:txBody>
          <a:bodyPr wrap="square" rtlCol="0">
            <a:spAutoFit/>
          </a:bodyPr>
          <a:lstStyle/>
          <a:p>
            <a:r>
              <a:rPr lang="en-US" sz="4000" b="1" kern="0" dirty="0">
                <a:solidFill>
                  <a:schemeClr val="bg1"/>
                </a:solidFill>
              </a:rPr>
              <a:t>UNIVERSITI TEKNOLOGI MALAYSIA</a:t>
            </a:r>
          </a:p>
        </p:txBody>
      </p:sp>
      <p:pic>
        <p:nvPicPr>
          <p:cNvPr id="11" name="Picture 10">
            <a:extLst>
              <a:ext uri="{FF2B5EF4-FFF2-40B4-BE49-F238E27FC236}">
                <a16:creationId xmlns:a16="http://schemas.microsoft.com/office/drawing/2014/main" id="{E1FBF1DA-5BFF-1707-4D4A-FFFB821B0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127" y="806075"/>
            <a:ext cx="2139445" cy="723600"/>
          </a:xfrm>
          <a:prstGeom prst="rect">
            <a:avLst/>
          </a:prstGeom>
        </p:spPr>
      </p:pic>
      <p:grpSp>
        <p:nvGrpSpPr>
          <p:cNvPr id="19" name="Group 18">
            <a:extLst>
              <a:ext uri="{FF2B5EF4-FFF2-40B4-BE49-F238E27FC236}">
                <a16:creationId xmlns:a16="http://schemas.microsoft.com/office/drawing/2014/main" id="{8526A73A-E833-94D8-3B96-626DBBC27FC5}"/>
              </a:ext>
            </a:extLst>
          </p:cNvPr>
          <p:cNvGrpSpPr/>
          <p:nvPr/>
        </p:nvGrpSpPr>
        <p:grpSpPr>
          <a:xfrm>
            <a:off x="243682" y="3008152"/>
            <a:ext cx="838200" cy="841694"/>
            <a:chOff x="0" y="585597"/>
            <a:chExt cx="838200" cy="390908"/>
          </a:xfrm>
          <a:solidFill>
            <a:schemeClr val="bg1">
              <a:lumMod val="65000"/>
            </a:schemeClr>
          </a:solidFill>
        </p:grpSpPr>
        <p:sp>
          <p:nvSpPr>
            <p:cNvPr id="20" name="Rectangle 19">
              <a:extLst>
                <a:ext uri="{FF2B5EF4-FFF2-40B4-BE49-F238E27FC236}">
                  <a16:creationId xmlns:a16="http://schemas.microsoft.com/office/drawing/2014/main" id="{AF9D891E-647D-0389-6628-4EE6EB7D852C}"/>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1" name="Right Triangle 20">
              <a:extLst>
                <a:ext uri="{FF2B5EF4-FFF2-40B4-BE49-F238E27FC236}">
                  <a16:creationId xmlns:a16="http://schemas.microsoft.com/office/drawing/2014/main" id="{D91420ED-5903-A743-073E-ED4B56F92DD2}"/>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16" name="Group 15">
            <a:extLst>
              <a:ext uri="{FF2B5EF4-FFF2-40B4-BE49-F238E27FC236}">
                <a16:creationId xmlns:a16="http://schemas.microsoft.com/office/drawing/2014/main" id="{C20E858A-4845-23C9-B443-2E55F05FAEF2}"/>
              </a:ext>
            </a:extLst>
          </p:cNvPr>
          <p:cNvGrpSpPr/>
          <p:nvPr/>
        </p:nvGrpSpPr>
        <p:grpSpPr>
          <a:xfrm>
            <a:off x="0" y="3008153"/>
            <a:ext cx="838200" cy="841694"/>
            <a:chOff x="0" y="585597"/>
            <a:chExt cx="838200" cy="390908"/>
          </a:xfrm>
          <a:solidFill>
            <a:schemeClr val="bg1"/>
          </a:solidFill>
        </p:grpSpPr>
        <p:sp>
          <p:nvSpPr>
            <p:cNvPr id="17" name="Rectangle 16">
              <a:extLst>
                <a:ext uri="{FF2B5EF4-FFF2-40B4-BE49-F238E27FC236}">
                  <a16:creationId xmlns:a16="http://schemas.microsoft.com/office/drawing/2014/main" id="{BAE28CBC-C49B-EEF2-721E-8E91D122E2BA}"/>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Right Triangle 17">
              <a:extLst>
                <a:ext uri="{FF2B5EF4-FFF2-40B4-BE49-F238E27FC236}">
                  <a16:creationId xmlns:a16="http://schemas.microsoft.com/office/drawing/2014/main" id="{C51E1D26-9907-4A93-EEED-313B135BF054}"/>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pic>
        <p:nvPicPr>
          <p:cNvPr id="2" name="Picture 1">
            <a:extLst>
              <a:ext uri="{FF2B5EF4-FFF2-40B4-BE49-F238E27FC236}">
                <a16:creationId xmlns:a16="http://schemas.microsoft.com/office/drawing/2014/main" id="{A0B02FD5-EB1B-0B91-AD16-E933188FD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6513" y="6383329"/>
            <a:ext cx="2525487" cy="190060"/>
          </a:xfrm>
          <a:prstGeom prst="rect">
            <a:avLst/>
          </a:prstGeom>
        </p:spPr>
      </p:pic>
      <p:cxnSp>
        <p:nvCxnSpPr>
          <p:cNvPr id="5" name="Straight Connector 4">
            <a:extLst>
              <a:ext uri="{FF2B5EF4-FFF2-40B4-BE49-F238E27FC236}">
                <a16:creationId xmlns:a16="http://schemas.microsoft.com/office/drawing/2014/main" id="{B811AF99-4926-2858-7547-4E76321CA805}"/>
              </a:ext>
            </a:extLst>
          </p:cNvPr>
          <p:cNvCxnSpPr>
            <a:cxnSpLocks/>
            <a:endCxn id="2" idx="1"/>
          </p:cNvCxnSpPr>
          <p:nvPr/>
        </p:nvCxnSpPr>
        <p:spPr>
          <a:xfrm>
            <a:off x="-46838" y="6448292"/>
            <a:ext cx="9713351" cy="3006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53075173-C2A4-FF06-EBFE-C6AC8C1CA3A5}"/>
              </a:ext>
            </a:extLst>
          </p:cNvPr>
          <p:cNvGraphicFramePr>
            <a:graphicFrameLocks noGrp="1"/>
          </p:cNvGraphicFramePr>
          <p:nvPr>
            <p:extLst>
              <p:ext uri="{D42A27DB-BD31-4B8C-83A1-F6EECF244321}">
                <p14:modId xmlns:p14="http://schemas.microsoft.com/office/powerpoint/2010/main" val="1025313016"/>
              </p:ext>
            </p:extLst>
          </p:nvPr>
        </p:nvGraphicFramePr>
        <p:xfrm>
          <a:off x="3159390" y="4236580"/>
          <a:ext cx="5873219" cy="462830"/>
        </p:xfrm>
        <a:graphic>
          <a:graphicData uri="http://schemas.openxmlformats.org/drawingml/2006/table">
            <a:tbl>
              <a:tblPr firstRow="1" firstCol="1" bandRow="1">
                <a:tableStyleId>{5C22544A-7EE6-4342-B048-85BDC9FD1C3A}</a:tableStyleId>
              </a:tblPr>
              <a:tblGrid>
                <a:gridCol w="944880">
                  <a:extLst>
                    <a:ext uri="{9D8B030D-6E8A-4147-A177-3AD203B41FA5}">
                      <a16:colId xmlns:a16="http://schemas.microsoft.com/office/drawing/2014/main" val="1904679742"/>
                    </a:ext>
                  </a:extLst>
                </a:gridCol>
                <a:gridCol w="297919">
                  <a:extLst>
                    <a:ext uri="{9D8B030D-6E8A-4147-A177-3AD203B41FA5}">
                      <a16:colId xmlns:a16="http://schemas.microsoft.com/office/drawing/2014/main" val="1864084668"/>
                    </a:ext>
                  </a:extLst>
                </a:gridCol>
                <a:gridCol w="4630420">
                  <a:extLst>
                    <a:ext uri="{9D8B030D-6E8A-4147-A177-3AD203B41FA5}">
                      <a16:colId xmlns:a16="http://schemas.microsoft.com/office/drawing/2014/main" val="1159684547"/>
                    </a:ext>
                  </a:extLst>
                </a:gridCol>
              </a:tblGrid>
              <a:tr h="231415">
                <a:tc>
                  <a:txBody>
                    <a:bodyPr/>
                    <a:lstStyle/>
                    <a:p>
                      <a:pPr>
                        <a:lnSpc>
                          <a:spcPct val="107000"/>
                        </a:lnSpc>
                        <a:spcAft>
                          <a:spcPts val="800"/>
                        </a:spcAft>
                        <a:buNone/>
                      </a:pPr>
                      <a:r>
                        <a:rPr lang="en-MY" sz="1200" kern="100" dirty="0">
                          <a:solidFill>
                            <a:schemeClr val="tx1"/>
                          </a:solidFill>
                          <a:effectLst/>
                        </a:rPr>
                        <a:t>Name</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DHESHIEGHAN A/L SARAVANA  MOORTHY</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2429096366"/>
                  </a:ext>
                </a:extLst>
              </a:tr>
              <a:tr h="231415">
                <a:tc>
                  <a:txBody>
                    <a:bodyPr/>
                    <a:lstStyle/>
                    <a:p>
                      <a:pPr>
                        <a:lnSpc>
                          <a:spcPct val="107000"/>
                        </a:lnSpc>
                        <a:spcAft>
                          <a:spcPts val="800"/>
                        </a:spcAft>
                        <a:buNone/>
                      </a:pPr>
                      <a:r>
                        <a:rPr lang="en-MY" sz="1200" kern="100" dirty="0">
                          <a:solidFill>
                            <a:schemeClr val="tx1"/>
                          </a:solidFill>
                          <a:effectLst/>
                        </a:rPr>
                        <a:t>Matric Id </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A23CS0072</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3914104101"/>
                  </a:ext>
                </a:extLst>
              </a:tr>
            </a:tbl>
          </a:graphicData>
        </a:graphic>
      </p:graphicFrame>
      <p:graphicFrame>
        <p:nvGraphicFramePr>
          <p:cNvPr id="13" name="Table 12">
            <a:extLst>
              <a:ext uri="{FF2B5EF4-FFF2-40B4-BE49-F238E27FC236}">
                <a16:creationId xmlns:a16="http://schemas.microsoft.com/office/drawing/2014/main" id="{1D5A0796-DED2-82F3-1FA0-F52260D3D238}"/>
              </a:ext>
            </a:extLst>
          </p:cNvPr>
          <p:cNvGraphicFramePr>
            <a:graphicFrameLocks noGrp="1"/>
          </p:cNvGraphicFramePr>
          <p:nvPr>
            <p:extLst>
              <p:ext uri="{D42A27DB-BD31-4B8C-83A1-F6EECF244321}">
                <p14:modId xmlns:p14="http://schemas.microsoft.com/office/powerpoint/2010/main" val="53132059"/>
              </p:ext>
            </p:extLst>
          </p:nvPr>
        </p:nvGraphicFramePr>
        <p:xfrm>
          <a:off x="3159389" y="4884686"/>
          <a:ext cx="5873219" cy="462830"/>
        </p:xfrm>
        <a:graphic>
          <a:graphicData uri="http://schemas.openxmlformats.org/drawingml/2006/table">
            <a:tbl>
              <a:tblPr firstRow="1" firstCol="1" bandRow="1">
                <a:tableStyleId>{5C22544A-7EE6-4342-B048-85BDC9FD1C3A}</a:tableStyleId>
              </a:tblPr>
              <a:tblGrid>
                <a:gridCol w="944880">
                  <a:extLst>
                    <a:ext uri="{9D8B030D-6E8A-4147-A177-3AD203B41FA5}">
                      <a16:colId xmlns:a16="http://schemas.microsoft.com/office/drawing/2014/main" val="1904679742"/>
                    </a:ext>
                  </a:extLst>
                </a:gridCol>
                <a:gridCol w="297919">
                  <a:extLst>
                    <a:ext uri="{9D8B030D-6E8A-4147-A177-3AD203B41FA5}">
                      <a16:colId xmlns:a16="http://schemas.microsoft.com/office/drawing/2014/main" val="1864084668"/>
                    </a:ext>
                  </a:extLst>
                </a:gridCol>
                <a:gridCol w="4630420">
                  <a:extLst>
                    <a:ext uri="{9D8B030D-6E8A-4147-A177-3AD203B41FA5}">
                      <a16:colId xmlns:a16="http://schemas.microsoft.com/office/drawing/2014/main" val="1159684547"/>
                    </a:ext>
                  </a:extLst>
                </a:gridCol>
              </a:tblGrid>
              <a:tr h="231415">
                <a:tc>
                  <a:txBody>
                    <a:bodyPr/>
                    <a:lstStyle/>
                    <a:p>
                      <a:pPr>
                        <a:lnSpc>
                          <a:spcPct val="107000"/>
                        </a:lnSpc>
                        <a:spcAft>
                          <a:spcPts val="800"/>
                        </a:spcAft>
                        <a:buNone/>
                      </a:pPr>
                      <a:r>
                        <a:rPr lang="en-MY" sz="1200" kern="100" dirty="0">
                          <a:solidFill>
                            <a:schemeClr val="tx1"/>
                          </a:solidFill>
                          <a:effectLst/>
                        </a:rPr>
                        <a:t>Name</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PRAVINRAJ A/L SIVABATHI</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2429096366"/>
                  </a:ext>
                </a:extLst>
              </a:tr>
              <a:tr h="231415">
                <a:tc>
                  <a:txBody>
                    <a:bodyPr/>
                    <a:lstStyle/>
                    <a:p>
                      <a:pPr>
                        <a:lnSpc>
                          <a:spcPct val="107000"/>
                        </a:lnSpc>
                        <a:spcAft>
                          <a:spcPts val="800"/>
                        </a:spcAft>
                        <a:buNone/>
                      </a:pPr>
                      <a:r>
                        <a:rPr lang="en-MY" sz="1200" kern="100" dirty="0">
                          <a:solidFill>
                            <a:schemeClr val="tx1"/>
                          </a:solidFill>
                          <a:effectLst/>
                        </a:rPr>
                        <a:t>Matric Id </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A23CS0171</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3914104101"/>
                  </a:ext>
                </a:extLst>
              </a:tr>
            </a:tbl>
          </a:graphicData>
        </a:graphic>
      </p:graphicFrame>
      <p:graphicFrame>
        <p:nvGraphicFramePr>
          <p:cNvPr id="14" name="Table 13">
            <a:extLst>
              <a:ext uri="{FF2B5EF4-FFF2-40B4-BE49-F238E27FC236}">
                <a16:creationId xmlns:a16="http://schemas.microsoft.com/office/drawing/2014/main" id="{B97F0255-B87B-1D02-576A-CE154265A892}"/>
              </a:ext>
            </a:extLst>
          </p:cNvPr>
          <p:cNvGraphicFramePr>
            <a:graphicFrameLocks noGrp="1"/>
          </p:cNvGraphicFramePr>
          <p:nvPr>
            <p:extLst>
              <p:ext uri="{D42A27DB-BD31-4B8C-83A1-F6EECF244321}">
                <p14:modId xmlns:p14="http://schemas.microsoft.com/office/powerpoint/2010/main" val="1700111612"/>
              </p:ext>
            </p:extLst>
          </p:nvPr>
        </p:nvGraphicFramePr>
        <p:xfrm>
          <a:off x="3159389" y="5558024"/>
          <a:ext cx="5873219" cy="462830"/>
        </p:xfrm>
        <a:graphic>
          <a:graphicData uri="http://schemas.openxmlformats.org/drawingml/2006/table">
            <a:tbl>
              <a:tblPr firstRow="1" firstCol="1" bandRow="1">
                <a:tableStyleId>{5C22544A-7EE6-4342-B048-85BDC9FD1C3A}</a:tableStyleId>
              </a:tblPr>
              <a:tblGrid>
                <a:gridCol w="944880">
                  <a:extLst>
                    <a:ext uri="{9D8B030D-6E8A-4147-A177-3AD203B41FA5}">
                      <a16:colId xmlns:a16="http://schemas.microsoft.com/office/drawing/2014/main" val="1904679742"/>
                    </a:ext>
                  </a:extLst>
                </a:gridCol>
                <a:gridCol w="297919">
                  <a:extLst>
                    <a:ext uri="{9D8B030D-6E8A-4147-A177-3AD203B41FA5}">
                      <a16:colId xmlns:a16="http://schemas.microsoft.com/office/drawing/2014/main" val="1864084668"/>
                    </a:ext>
                  </a:extLst>
                </a:gridCol>
                <a:gridCol w="4630420">
                  <a:extLst>
                    <a:ext uri="{9D8B030D-6E8A-4147-A177-3AD203B41FA5}">
                      <a16:colId xmlns:a16="http://schemas.microsoft.com/office/drawing/2014/main" val="1159684547"/>
                    </a:ext>
                  </a:extLst>
                </a:gridCol>
              </a:tblGrid>
              <a:tr h="231415">
                <a:tc>
                  <a:txBody>
                    <a:bodyPr/>
                    <a:lstStyle/>
                    <a:p>
                      <a:pPr>
                        <a:lnSpc>
                          <a:spcPct val="107000"/>
                        </a:lnSpc>
                        <a:spcAft>
                          <a:spcPts val="800"/>
                        </a:spcAft>
                        <a:buNone/>
                      </a:pPr>
                      <a:r>
                        <a:rPr lang="en-MY" sz="1200" kern="100" dirty="0">
                          <a:solidFill>
                            <a:schemeClr val="tx1"/>
                          </a:solidFill>
                          <a:effectLst/>
                        </a:rPr>
                        <a:t>Name</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WOO CHENG SHUAN</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2429096366"/>
                  </a:ext>
                </a:extLst>
              </a:tr>
              <a:tr h="231415">
                <a:tc>
                  <a:txBody>
                    <a:bodyPr/>
                    <a:lstStyle/>
                    <a:p>
                      <a:pPr>
                        <a:lnSpc>
                          <a:spcPct val="107000"/>
                        </a:lnSpc>
                        <a:spcAft>
                          <a:spcPts val="800"/>
                        </a:spcAft>
                        <a:buNone/>
                      </a:pPr>
                      <a:r>
                        <a:rPr lang="en-MY" sz="1200" kern="100" dirty="0">
                          <a:solidFill>
                            <a:schemeClr val="tx1"/>
                          </a:solidFill>
                          <a:effectLst/>
                        </a:rPr>
                        <a:t>Matric Id </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tc>
                  <a:txBody>
                    <a:bodyPr/>
                    <a:lstStyle/>
                    <a:p>
                      <a:pPr>
                        <a:lnSpc>
                          <a:spcPct val="107000"/>
                        </a:lnSpc>
                        <a:spcAft>
                          <a:spcPts val="800"/>
                        </a:spcAft>
                        <a:buNone/>
                      </a:pPr>
                      <a:r>
                        <a:rPr lang="en-MY" sz="1200" kern="100" dirty="0">
                          <a:solidFill>
                            <a:schemeClr val="tx1"/>
                          </a:solidFill>
                          <a:effectLst/>
                        </a:rPr>
                        <a:t> A23CS0283</a:t>
                      </a:r>
                      <a:endParaRPr lang="en-MY" sz="11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3914104101"/>
                  </a:ext>
                </a:extLst>
              </a:tr>
            </a:tbl>
          </a:graphicData>
        </a:graphic>
      </p:graphicFrame>
    </p:spTree>
    <p:extLst>
      <p:ext uri="{BB962C8B-B14F-4D97-AF65-F5344CB8AC3E}">
        <p14:creationId xmlns:p14="http://schemas.microsoft.com/office/powerpoint/2010/main" val="2103540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6896CFD-2A25-C02C-DFD9-CBB8D67797DA}"/>
              </a:ext>
            </a:extLst>
          </p:cNvPr>
          <p:cNvSpPr>
            <a:spLocks noGrp="1"/>
          </p:cNvSpPr>
          <p:nvPr>
            <p:ph type="title"/>
          </p:nvPr>
        </p:nvSpPr>
        <p:spPr>
          <a:xfrm>
            <a:off x="831850" y="1047751"/>
            <a:ext cx="10515600" cy="1500187"/>
          </a:xfrm>
        </p:spPr>
        <p:txBody>
          <a:bodyPr/>
          <a:lstStyle/>
          <a:p>
            <a:r>
              <a:rPr lang="en-US" dirty="0"/>
              <a:t>1. WHAT IS A UNIQUE INDEX? </a:t>
            </a:r>
          </a:p>
        </p:txBody>
      </p:sp>
      <p:sp>
        <p:nvSpPr>
          <p:cNvPr id="14" name="TextBox 13">
            <a:extLst>
              <a:ext uri="{FF2B5EF4-FFF2-40B4-BE49-F238E27FC236}">
                <a16:creationId xmlns:a16="http://schemas.microsoft.com/office/drawing/2014/main" id="{17667E44-8503-533B-F3AE-F803596C04DE}"/>
              </a:ext>
            </a:extLst>
          </p:cNvPr>
          <p:cNvSpPr txBox="1"/>
          <p:nvPr/>
        </p:nvSpPr>
        <p:spPr>
          <a:xfrm>
            <a:off x="1013753" y="1798286"/>
            <a:ext cx="10520506" cy="4770537"/>
          </a:xfrm>
          <a:prstGeom prst="rect">
            <a:avLst/>
          </a:prstGeom>
          <a:noFill/>
        </p:spPr>
        <p:txBody>
          <a:bodyPr wrap="square" lIns="0" tIns="45720" rIns="0" bIns="45720" rtlCol="0" anchor="t">
            <a:spAutoFit/>
          </a:bodyPr>
          <a:lstStyle/>
          <a:p>
            <a:pPr algn="just"/>
            <a:r>
              <a:rPr lang="en-US" sz="2400" dirty="0">
                <a:solidFill>
                  <a:srgbClr val="666666"/>
                </a:solidFill>
                <a:ea typeface="+mn-lt"/>
                <a:cs typeface="+mn-lt"/>
              </a:rPr>
              <a:t>A </a:t>
            </a:r>
            <a:r>
              <a:rPr lang="en-US" sz="2400" b="1" dirty="0">
                <a:solidFill>
                  <a:srgbClr val="666666"/>
                </a:solidFill>
                <a:ea typeface="+mn-lt"/>
                <a:cs typeface="+mn-lt"/>
              </a:rPr>
              <a:t>Unique Index</a:t>
            </a:r>
            <a:r>
              <a:rPr lang="en-US" sz="2400" dirty="0">
                <a:solidFill>
                  <a:srgbClr val="666666"/>
                </a:solidFill>
                <a:ea typeface="+mn-lt"/>
                <a:cs typeface="+mn-lt"/>
              </a:rPr>
              <a:t> is a database feature that ensures all the values in a specific column (or group of columns) are </a:t>
            </a:r>
            <a:r>
              <a:rPr lang="en-US" sz="2400" b="1" dirty="0">
                <a:solidFill>
                  <a:srgbClr val="666666"/>
                </a:solidFill>
                <a:ea typeface="+mn-lt"/>
                <a:cs typeface="+mn-lt"/>
              </a:rPr>
              <a:t>unique</a:t>
            </a:r>
            <a:r>
              <a:rPr lang="en-US" sz="2400" dirty="0">
                <a:solidFill>
                  <a:srgbClr val="666666"/>
                </a:solidFill>
                <a:ea typeface="+mn-lt"/>
                <a:cs typeface="+mn-lt"/>
              </a:rPr>
              <a:t>, meaning no duplicate values are allowed. It helps maintain </a:t>
            </a:r>
            <a:r>
              <a:rPr lang="en-US" sz="2400" b="1" dirty="0">
                <a:solidFill>
                  <a:srgbClr val="666666"/>
                </a:solidFill>
                <a:ea typeface="+mn-lt"/>
                <a:cs typeface="+mn-lt"/>
              </a:rPr>
              <a:t>data integrity</a:t>
            </a:r>
            <a:r>
              <a:rPr lang="en-US" sz="2400" dirty="0">
                <a:solidFill>
                  <a:srgbClr val="666666"/>
                </a:solidFill>
                <a:ea typeface="+mn-lt"/>
                <a:cs typeface="+mn-lt"/>
              </a:rPr>
              <a:t> by preventing multiple rows from having the same value in the indexed column.</a:t>
            </a:r>
            <a:endParaRPr lang="en-US" sz="2400">
              <a:ea typeface="+mn-lt"/>
              <a:cs typeface="+mn-lt"/>
            </a:endParaRPr>
          </a:p>
          <a:p>
            <a:pPr algn="just"/>
            <a:endParaRPr lang="en-US" sz="2400" dirty="0">
              <a:solidFill>
                <a:srgbClr val="666666"/>
              </a:solidFill>
              <a:ea typeface="Calibri"/>
              <a:cs typeface="Calibri"/>
            </a:endParaRPr>
          </a:p>
          <a:p>
            <a:pPr algn="just"/>
            <a:r>
              <a:rPr lang="en-US" sz="2400" dirty="0">
                <a:solidFill>
                  <a:srgbClr val="666666"/>
                </a:solidFill>
                <a:ea typeface="Calibri"/>
                <a:cs typeface="Calibri"/>
              </a:rPr>
              <a:t>EXAMPLE :</a:t>
            </a:r>
          </a:p>
          <a:p>
            <a:pPr algn="just"/>
            <a:r>
              <a:rPr lang="en-US" sz="2400" dirty="0">
                <a:solidFill>
                  <a:srgbClr val="666666"/>
                </a:solidFill>
                <a:ea typeface="Calibri"/>
                <a:cs typeface="Calibri"/>
              </a:rPr>
              <a:t>ALTER TABLE customer</a:t>
            </a:r>
          </a:p>
          <a:p>
            <a:pPr algn="just"/>
            <a:r>
              <a:rPr lang="en-US" sz="2400" dirty="0">
                <a:solidFill>
                  <a:srgbClr val="666666"/>
                </a:solidFill>
                <a:ea typeface="Calibri"/>
                <a:cs typeface="Calibri"/>
              </a:rPr>
              <a:t>ADD UNIQUE </a:t>
            </a:r>
            <a:r>
              <a:rPr lang="en-US" sz="2400" dirty="0" err="1">
                <a:solidFill>
                  <a:srgbClr val="666666"/>
                </a:solidFill>
                <a:ea typeface="Calibri"/>
                <a:cs typeface="Calibri"/>
              </a:rPr>
              <a:t>idx_email</a:t>
            </a:r>
            <a:r>
              <a:rPr lang="en-US" sz="2400" dirty="0">
                <a:solidFill>
                  <a:srgbClr val="666666"/>
                </a:solidFill>
                <a:ea typeface="Calibri"/>
                <a:cs typeface="Calibri"/>
              </a:rPr>
              <a:t>(email);</a:t>
            </a:r>
          </a:p>
          <a:p>
            <a:pPr algn="just"/>
            <a:endParaRPr lang="en-US" sz="2400" dirty="0">
              <a:solidFill>
                <a:srgbClr val="666666"/>
              </a:solidFill>
              <a:ea typeface="Calibri"/>
              <a:cs typeface="Calibri"/>
            </a:endParaRPr>
          </a:p>
          <a:p>
            <a:pPr algn="just"/>
            <a:r>
              <a:rPr lang="en-US" sz="2400" dirty="0">
                <a:solidFill>
                  <a:srgbClr val="666666"/>
                </a:solidFill>
                <a:ea typeface="+mn-lt"/>
                <a:cs typeface="+mn-lt"/>
              </a:rPr>
              <a:t>This command adds a </a:t>
            </a:r>
            <a:r>
              <a:rPr lang="en-US" sz="2400" b="1" dirty="0">
                <a:solidFill>
                  <a:srgbClr val="666666"/>
                </a:solidFill>
                <a:ea typeface="+mn-lt"/>
                <a:cs typeface="+mn-lt"/>
              </a:rPr>
              <a:t>unique constraint</a:t>
            </a:r>
            <a:r>
              <a:rPr lang="en-US" sz="2400" dirty="0">
                <a:solidFill>
                  <a:srgbClr val="666666"/>
                </a:solidFill>
                <a:ea typeface="+mn-lt"/>
                <a:cs typeface="+mn-lt"/>
              </a:rPr>
              <a:t> on the </a:t>
            </a:r>
            <a:r>
              <a:rPr lang="en-US" sz="2400" dirty="0">
                <a:solidFill>
                  <a:srgbClr val="666666"/>
                </a:solidFill>
                <a:latin typeface="Consolas"/>
                <a:ea typeface="Calibri"/>
                <a:cs typeface="Calibri"/>
              </a:rPr>
              <a:t>email</a:t>
            </a:r>
            <a:r>
              <a:rPr lang="en-US" sz="2400" dirty="0">
                <a:solidFill>
                  <a:srgbClr val="666666"/>
                </a:solidFill>
                <a:ea typeface="+mn-lt"/>
                <a:cs typeface="+mn-lt"/>
              </a:rPr>
              <a:t> column so that no two customers can have the same email address.</a:t>
            </a:r>
            <a:endParaRPr lang="en-US">
              <a:ea typeface="+mn-lt"/>
              <a:cs typeface="+mn-lt"/>
            </a:endParaRPr>
          </a:p>
          <a:p>
            <a:pPr algn="just"/>
            <a:endParaRPr lang="en-US" sz="2800" dirty="0">
              <a:solidFill>
                <a:srgbClr val="666666"/>
              </a:solidFill>
              <a:ea typeface="Calibri"/>
              <a:cs typeface="Calibri"/>
            </a:endParaRPr>
          </a:p>
          <a:p>
            <a:pPr algn="just"/>
            <a:endParaRPr lang="en-US" sz="1200" dirty="0">
              <a:solidFill>
                <a:srgbClr val="666666"/>
              </a:solidFill>
              <a:ea typeface="Calibri"/>
              <a:cs typeface="Calibri"/>
            </a:endParaRPr>
          </a:p>
        </p:txBody>
      </p:sp>
      <p:pic>
        <p:nvPicPr>
          <p:cNvPr id="3" name="Picture 2">
            <a:extLst>
              <a:ext uri="{FF2B5EF4-FFF2-40B4-BE49-F238E27FC236}">
                <a16:creationId xmlns:a16="http://schemas.microsoft.com/office/drawing/2014/main" id="{60BB93CE-FE44-B264-B29B-62D7A4855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1482244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50A9-6194-40D5-07DD-9AEC9E136BE6}"/>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171B0DFB-803D-EBEB-73B3-D6332DD00E15}"/>
              </a:ext>
            </a:extLst>
          </p:cNvPr>
          <p:cNvSpPr>
            <a:spLocks noGrp="1"/>
          </p:cNvSpPr>
          <p:nvPr>
            <p:ph type="title"/>
          </p:nvPr>
        </p:nvSpPr>
        <p:spPr>
          <a:xfrm>
            <a:off x="831850" y="1047751"/>
            <a:ext cx="10515600" cy="1500187"/>
          </a:xfrm>
        </p:spPr>
        <p:txBody>
          <a:bodyPr/>
          <a:lstStyle/>
          <a:p>
            <a:r>
              <a:rPr lang="en-US" dirty="0"/>
              <a:t>2. HOW IT DIFFERS FROM PRIMARY KEY</a:t>
            </a:r>
          </a:p>
        </p:txBody>
      </p:sp>
      <p:pic>
        <p:nvPicPr>
          <p:cNvPr id="3" name="Picture 2">
            <a:extLst>
              <a:ext uri="{FF2B5EF4-FFF2-40B4-BE49-F238E27FC236}">
                <a16:creationId xmlns:a16="http://schemas.microsoft.com/office/drawing/2014/main" id="{37065AD2-5FA0-6BF6-303D-86F1F88E2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graphicFrame>
        <p:nvGraphicFramePr>
          <p:cNvPr id="2" name="Table 1">
            <a:extLst>
              <a:ext uri="{FF2B5EF4-FFF2-40B4-BE49-F238E27FC236}">
                <a16:creationId xmlns:a16="http://schemas.microsoft.com/office/drawing/2014/main" id="{C2828211-5F15-2207-A451-9980CFEE2AF6}"/>
              </a:ext>
            </a:extLst>
          </p:cNvPr>
          <p:cNvGraphicFramePr>
            <a:graphicFrameLocks noGrp="1"/>
          </p:cNvGraphicFramePr>
          <p:nvPr>
            <p:extLst>
              <p:ext uri="{D42A27DB-BD31-4B8C-83A1-F6EECF244321}">
                <p14:modId xmlns:p14="http://schemas.microsoft.com/office/powerpoint/2010/main" val="1174905842"/>
              </p:ext>
            </p:extLst>
          </p:nvPr>
        </p:nvGraphicFramePr>
        <p:xfrm>
          <a:off x="1249680" y="1794341"/>
          <a:ext cx="10105095" cy="4316156"/>
        </p:xfrm>
        <a:graphic>
          <a:graphicData uri="http://schemas.openxmlformats.org/drawingml/2006/table">
            <a:tbl>
              <a:tblPr firstRow="1" bandRow="1">
                <a:tableStyleId>{5C22544A-7EE6-4342-B048-85BDC9FD1C3A}</a:tableStyleId>
              </a:tblPr>
              <a:tblGrid>
                <a:gridCol w="3368365">
                  <a:extLst>
                    <a:ext uri="{9D8B030D-6E8A-4147-A177-3AD203B41FA5}">
                      <a16:colId xmlns:a16="http://schemas.microsoft.com/office/drawing/2014/main" val="2463312127"/>
                    </a:ext>
                  </a:extLst>
                </a:gridCol>
                <a:gridCol w="3368365">
                  <a:extLst>
                    <a:ext uri="{9D8B030D-6E8A-4147-A177-3AD203B41FA5}">
                      <a16:colId xmlns:a16="http://schemas.microsoft.com/office/drawing/2014/main" val="1485968562"/>
                    </a:ext>
                  </a:extLst>
                </a:gridCol>
                <a:gridCol w="3368365">
                  <a:extLst>
                    <a:ext uri="{9D8B030D-6E8A-4147-A177-3AD203B41FA5}">
                      <a16:colId xmlns:a16="http://schemas.microsoft.com/office/drawing/2014/main" val="1155181677"/>
                    </a:ext>
                  </a:extLst>
                </a:gridCol>
              </a:tblGrid>
              <a:tr h="478244">
                <a:tc>
                  <a:txBody>
                    <a:bodyPr/>
                    <a:lstStyle/>
                    <a:p>
                      <a:pPr marL="0" indent="0" algn="just">
                        <a:buNone/>
                      </a:pPr>
                      <a:r>
                        <a:rPr lang="en-US" dirty="0"/>
                        <a:t>Feature                                    </a:t>
                      </a:r>
                    </a:p>
                  </a:txBody>
                  <a:tcPr/>
                </a:tc>
                <a:tc>
                  <a:txBody>
                    <a:bodyPr/>
                    <a:lstStyle/>
                    <a:p>
                      <a:pPr marL="0" indent="0" algn="just">
                        <a:buNone/>
                      </a:pPr>
                      <a:r>
                        <a:rPr lang="en-US" dirty="0"/>
                        <a:t>Primary Key</a:t>
                      </a:r>
                    </a:p>
                  </a:txBody>
                  <a:tcPr/>
                </a:tc>
                <a:tc>
                  <a:txBody>
                    <a:bodyPr/>
                    <a:lstStyle/>
                    <a:p>
                      <a:pPr marL="0" indent="0" algn="just">
                        <a:buNone/>
                      </a:pPr>
                      <a:r>
                        <a:rPr lang="en-US" dirty="0"/>
                        <a:t>Unique Index </a:t>
                      </a:r>
                    </a:p>
                  </a:txBody>
                  <a:tcPr/>
                </a:tc>
                <a:extLst>
                  <a:ext uri="{0D108BD9-81ED-4DB2-BD59-A6C34878D82A}">
                    <a16:rowId xmlns:a16="http://schemas.microsoft.com/office/drawing/2014/main" val="3380448733"/>
                  </a:ext>
                </a:extLst>
              </a:tr>
              <a:tr h="980401">
                <a:tc>
                  <a:txBody>
                    <a:bodyPr/>
                    <a:lstStyle/>
                    <a:p>
                      <a:pPr marL="0" indent="0" algn="just">
                        <a:buNone/>
                      </a:pPr>
                      <a:r>
                        <a:rPr lang="en-US" dirty="0"/>
                        <a:t>Purpose</a:t>
                      </a:r>
                    </a:p>
                  </a:txBody>
                  <a:tcPr/>
                </a:tc>
                <a:tc>
                  <a:txBody>
                    <a:bodyPr/>
                    <a:lstStyle/>
                    <a:p>
                      <a:pPr marL="0" lvl="0" indent="0" algn="just">
                        <a:buNone/>
                      </a:pPr>
                      <a:r>
                        <a:rPr lang="en-US" sz="1800" b="0" i="0" u="none" strike="noStrike" noProof="0" dirty="0">
                          <a:latin typeface="Calibri"/>
                        </a:rPr>
                        <a:t>Identifies each record in a table uniquely.</a:t>
                      </a:r>
                      <a:endParaRPr lang="en-US" dirty="0"/>
                    </a:p>
                  </a:txBody>
                  <a:tcPr/>
                </a:tc>
                <a:tc>
                  <a:txBody>
                    <a:bodyPr/>
                    <a:lstStyle/>
                    <a:p>
                      <a:pPr marL="0" lvl="0" indent="0" algn="just">
                        <a:buNone/>
                      </a:pPr>
                      <a:r>
                        <a:rPr lang="en-US" sz="1800" b="0" i="0" u="none" strike="noStrike" noProof="0" dirty="0">
                          <a:latin typeface="Calibri"/>
                        </a:rPr>
                        <a:t>Ensures that values in a specific column (or columns) are unique.</a:t>
                      </a:r>
                      <a:endParaRPr lang="en-US" dirty="0"/>
                    </a:p>
                  </a:txBody>
                  <a:tcPr/>
                </a:tc>
                <a:extLst>
                  <a:ext uri="{0D108BD9-81ED-4DB2-BD59-A6C34878D82A}">
                    <a16:rowId xmlns:a16="http://schemas.microsoft.com/office/drawing/2014/main" val="1685131331"/>
                  </a:ext>
                </a:extLst>
              </a:tr>
              <a:tr h="645630">
                <a:tc>
                  <a:txBody>
                    <a:bodyPr/>
                    <a:lstStyle/>
                    <a:p>
                      <a:pPr marL="0" lvl="0" indent="0" algn="just">
                        <a:buNone/>
                      </a:pPr>
                      <a:r>
                        <a:rPr lang="en-US" sz="1800" b="0" i="0" u="none" strike="noStrike" noProof="0" dirty="0">
                          <a:latin typeface="Calibri"/>
                        </a:rPr>
                        <a:t>Number per Table</a:t>
                      </a:r>
                      <a:endParaRPr lang="en-US" dirty="0"/>
                    </a:p>
                  </a:txBody>
                  <a:tcPr/>
                </a:tc>
                <a:tc>
                  <a:txBody>
                    <a:bodyPr/>
                    <a:lstStyle/>
                    <a:p>
                      <a:pPr marL="0" lvl="0" indent="0" algn="just">
                        <a:buNone/>
                      </a:pPr>
                      <a:r>
                        <a:rPr lang="en-US" sz="1800" b="0" i="0" u="none" strike="noStrike" noProof="0" dirty="0">
                          <a:latin typeface="Calibri"/>
                        </a:rPr>
                        <a:t>Only </a:t>
                      </a:r>
                      <a:r>
                        <a:rPr lang="en-US" sz="1800" b="1" i="0" u="none" strike="noStrike" noProof="0" dirty="0">
                          <a:latin typeface="Calibri"/>
                        </a:rPr>
                        <a:t>one</a:t>
                      </a:r>
                      <a:r>
                        <a:rPr lang="en-US" sz="1800" b="0" i="0" u="none" strike="noStrike" noProof="0" dirty="0">
                          <a:latin typeface="Calibri"/>
                        </a:rPr>
                        <a:t> primary key per table.</a:t>
                      </a:r>
                      <a:endParaRPr lang="en-US" dirty="0"/>
                    </a:p>
                  </a:txBody>
                  <a:tcPr/>
                </a:tc>
                <a:tc>
                  <a:txBody>
                    <a:bodyPr/>
                    <a:lstStyle/>
                    <a:p>
                      <a:pPr marL="0" lvl="0" indent="0" algn="just">
                        <a:buNone/>
                      </a:pPr>
                      <a:r>
                        <a:rPr lang="en-US" sz="1800" b="0" i="0" u="none" strike="noStrike" noProof="0" dirty="0">
                          <a:latin typeface="Calibri"/>
                        </a:rPr>
                        <a:t>You can have </a:t>
                      </a:r>
                      <a:r>
                        <a:rPr lang="en-US" sz="1800" b="1" i="0" u="none" strike="noStrike" noProof="0" dirty="0">
                          <a:latin typeface="Calibri"/>
                        </a:rPr>
                        <a:t>multiple</a:t>
                      </a:r>
                      <a:r>
                        <a:rPr lang="en-US" sz="1800" b="0" i="0" u="none" strike="noStrike" noProof="0" dirty="0">
                          <a:latin typeface="Calibri"/>
                        </a:rPr>
                        <a:t> unique indexes in a table.</a:t>
                      </a:r>
                      <a:endParaRPr lang="en-US" dirty="0"/>
                    </a:p>
                  </a:txBody>
                  <a:tcPr/>
                </a:tc>
                <a:extLst>
                  <a:ext uri="{0D108BD9-81ED-4DB2-BD59-A6C34878D82A}">
                    <a16:rowId xmlns:a16="http://schemas.microsoft.com/office/drawing/2014/main" val="2299606857"/>
                  </a:ext>
                </a:extLst>
              </a:tr>
              <a:tr h="645630">
                <a:tc>
                  <a:txBody>
                    <a:bodyPr/>
                    <a:lstStyle/>
                    <a:p>
                      <a:pPr marL="0" lvl="0" indent="0" algn="just">
                        <a:buNone/>
                      </a:pPr>
                      <a:r>
                        <a:rPr lang="en-US" sz="1800" b="0" i="0" u="none" strike="noStrike" noProof="0" dirty="0">
                          <a:latin typeface="Calibri"/>
                        </a:rPr>
                        <a:t>NULL Values</a:t>
                      </a:r>
                      <a:endParaRPr lang="en-US" dirty="0"/>
                    </a:p>
                  </a:txBody>
                  <a:tcPr/>
                </a:tc>
                <a:tc>
                  <a:txBody>
                    <a:bodyPr/>
                    <a:lstStyle/>
                    <a:p>
                      <a:pPr marL="0" lvl="0" indent="0" algn="just">
                        <a:buNone/>
                      </a:pPr>
                      <a:r>
                        <a:rPr lang="en-US" sz="1800" b="1" i="0" u="none" strike="noStrike" noProof="0" dirty="0">
                          <a:latin typeface="Calibri"/>
                        </a:rPr>
                        <a:t>Cannot</a:t>
                      </a:r>
                      <a:r>
                        <a:rPr lang="en-US" sz="1800" b="0" i="0" u="none" strike="noStrike" noProof="0" dirty="0">
                          <a:latin typeface="Calibri"/>
                        </a:rPr>
                        <a:t> contain NULL values.</a:t>
                      </a:r>
                      <a:endParaRPr lang="en-US" dirty="0"/>
                    </a:p>
                  </a:txBody>
                  <a:tcPr/>
                </a:tc>
                <a:tc>
                  <a:txBody>
                    <a:bodyPr/>
                    <a:lstStyle/>
                    <a:p>
                      <a:pPr marL="0" lvl="0" indent="0" algn="just">
                        <a:buNone/>
                      </a:pPr>
                      <a:r>
                        <a:rPr lang="en-US" sz="1800" b="1" i="0" u="none" strike="noStrike" noProof="0" dirty="0">
                          <a:latin typeface="Calibri"/>
                        </a:rPr>
                        <a:t>Can</a:t>
                      </a:r>
                      <a:r>
                        <a:rPr lang="en-US" sz="1800" b="0" i="0" u="none" strike="noStrike" noProof="0" dirty="0">
                          <a:latin typeface="Calibri"/>
                        </a:rPr>
                        <a:t> contain NULL values (since NULL is not treated as a value).</a:t>
                      </a:r>
                      <a:endParaRPr lang="en-US" dirty="0"/>
                    </a:p>
                  </a:txBody>
                  <a:tcPr/>
                </a:tc>
                <a:extLst>
                  <a:ext uri="{0D108BD9-81ED-4DB2-BD59-A6C34878D82A}">
                    <a16:rowId xmlns:a16="http://schemas.microsoft.com/office/drawing/2014/main" val="3459246042"/>
                  </a:ext>
                </a:extLst>
              </a:tr>
              <a:tr h="920621">
                <a:tc>
                  <a:txBody>
                    <a:bodyPr/>
                    <a:lstStyle/>
                    <a:p>
                      <a:pPr marL="0" lvl="0" indent="0" algn="just">
                        <a:buNone/>
                      </a:pPr>
                      <a:r>
                        <a:rPr lang="en-US" sz="1800" b="0" i="0" u="none" strike="noStrike" noProof="0" dirty="0"/>
                        <a:t>Automatic Index</a:t>
                      </a:r>
                      <a:endParaRPr lang="en-US" dirty="0"/>
                    </a:p>
                  </a:txBody>
                  <a:tcPr/>
                </a:tc>
                <a:tc>
                  <a:txBody>
                    <a:bodyPr/>
                    <a:lstStyle/>
                    <a:p>
                      <a:pPr marL="0" lvl="0" indent="0" algn="just">
                        <a:buNone/>
                      </a:pPr>
                      <a:r>
                        <a:rPr lang="en-US" sz="1800" b="0" i="0" u="none" strike="noStrike" noProof="0" dirty="0"/>
                        <a:t>Automatically creates a </a:t>
                      </a:r>
                      <a:r>
                        <a:rPr lang="en-US" sz="1800" b="1" i="0" u="none" strike="noStrike" noProof="0" dirty="0"/>
                        <a:t>unique index</a:t>
                      </a:r>
                      <a:r>
                        <a:rPr lang="en-US" sz="1800" b="0" i="0" u="none" strike="noStrike" noProof="0" dirty="0"/>
                        <a:t> on the primary key column.</a:t>
                      </a:r>
                      <a:endParaRPr lang="en-US" dirty="0"/>
                    </a:p>
                  </a:txBody>
                  <a:tcPr/>
                </a:tc>
                <a:tc>
                  <a:txBody>
                    <a:bodyPr/>
                    <a:lstStyle/>
                    <a:p>
                      <a:pPr marL="0" lvl="0" indent="0" algn="just">
                        <a:buNone/>
                      </a:pPr>
                      <a:r>
                        <a:rPr lang="en-US" sz="1800" b="0" i="0" u="none" strike="noStrike" noProof="0" dirty="0"/>
                        <a:t>Must be </a:t>
                      </a:r>
                      <a:r>
                        <a:rPr lang="en-US" sz="1800" b="1" i="0" u="none" strike="noStrike" noProof="0" dirty="0"/>
                        <a:t>manually created</a:t>
                      </a:r>
                      <a:r>
                        <a:rPr lang="en-US" sz="1800" b="0" i="0" u="none" strike="noStrike" noProof="0" dirty="0"/>
                        <a:t> using </a:t>
                      </a:r>
                      <a:r>
                        <a:rPr lang="en-US" sz="1800" b="0" i="0" u="none" strike="noStrike" noProof="0" dirty="0">
                          <a:latin typeface="Consolas"/>
                        </a:rPr>
                        <a:t>UNIQUE</a:t>
                      </a:r>
                      <a:r>
                        <a:rPr lang="en-US" sz="1800" b="0" i="0" u="none" strike="noStrike" noProof="0" dirty="0"/>
                        <a:t> keyword.</a:t>
                      </a:r>
                      <a:endParaRPr lang="en-US" dirty="0"/>
                    </a:p>
                  </a:txBody>
                  <a:tcPr/>
                </a:tc>
                <a:extLst>
                  <a:ext uri="{0D108BD9-81ED-4DB2-BD59-A6C34878D82A}">
                    <a16:rowId xmlns:a16="http://schemas.microsoft.com/office/drawing/2014/main" val="1209544434"/>
                  </a:ext>
                </a:extLst>
              </a:tr>
              <a:tr h="645630">
                <a:tc>
                  <a:txBody>
                    <a:bodyPr/>
                    <a:lstStyle/>
                    <a:p>
                      <a:pPr marL="0" lvl="0" indent="0" algn="just">
                        <a:buNone/>
                      </a:pPr>
                      <a:r>
                        <a:rPr lang="en-US" sz="1800" b="0" i="0" u="none" strike="noStrike" noProof="0" dirty="0">
                          <a:latin typeface="Calibri"/>
                        </a:rPr>
                        <a:t>Main Role</a:t>
                      </a:r>
                      <a:endParaRPr lang="en-US" dirty="0"/>
                    </a:p>
                  </a:txBody>
                  <a:tcPr/>
                </a:tc>
                <a:tc>
                  <a:txBody>
                    <a:bodyPr/>
                    <a:lstStyle/>
                    <a:p>
                      <a:pPr marL="0" lvl="0" indent="0" algn="just">
                        <a:buNone/>
                      </a:pPr>
                      <a:r>
                        <a:rPr lang="en-US" sz="1800" b="0" i="0" u="none" strike="noStrike" noProof="0" dirty="0">
                          <a:latin typeface="Calibri"/>
                        </a:rPr>
                        <a:t>Used to </a:t>
                      </a:r>
                      <a:r>
                        <a:rPr lang="en-US" sz="1800" b="1" i="0" u="none" strike="noStrike" noProof="0" dirty="0">
                          <a:latin typeface="Calibri"/>
                        </a:rPr>
                        <a:t>uniquely identify</a:t>
                      </a:r>
                      <a:r>
                        <a:rPr lang="en-US" sz="1800" b="0" i="0" u="none" strike="noStrike" noProof="0" dirty="0">
                          <a:latin typeface="Calibri"/>
                        </a:rPr>
                        <a:t> each row.</a:t>
                      </a:r>
                      <a:endParaRPr lang="en-US" dirty="0"/>
                    </a:p>
                  </a:txBody>
                  <a:tcPr/>
                </a:tc>
                <a:tc>
                  <a:txBody>
                    <a:bodyPr/>
                    <a:lstStyle/>
                    <a:p>
                      <a:pPr marL="0" lvl="0" indent="0" algn="just">
                        <a:buNone/>
                      </a:pPr>
                      <a:r>
                        <a:rPr lang="en-US" sz="1800" b="0" i="0" u="none" strike="noStrike" noProof="0" dirty="0">
                          <a:latin typeface="Calibri"/>
                        </a:rPr>
                        <a:t>Used to </a:t>
                      </a:r>
                      <a:r>
                        <a:rPr lang="en-US" sz="1800" b="1" i="0" u="none" strike="noStrike" noProof="0" dirty="0">
                          <a:latin typeface="Calibri"/>
                        </a:rPr>
                        <a:t>prevent duplicate values</a:t>
                      </a:r>
                      <a:r>
                        <a:rPr lang="en-US" sz="1800" b="0" i="0" u="none" strike="noStrike" noProof="0" dirty="0">
                          <a:latin typeface="Calibri"/>
                        </a:rPr>
                        <a:t> in certain columns.</a:t>
                      </a:r>
                      <a:endParaRPr lang="en-US" dirty="0"/>
                    </a:p>
                  </a:txBody>
                  <a:tcPr/>
                </a:tc>
                <a:extLst>
                  <a:ext uri="{0D108BD9-81ED-4DB2-BD59-A6C34878D82A}">
                    <a16:rowId xmlns:a16="http://schemas.microsoft.com/office/drawing/2014/main" val="4006706090"/>
                  </a:ext>
                </a:extLst>
              </a:tr>
            </a:tbl>
          </a:graphicData>
        </a:graphic>
      </p:graphicFrame>
    </p:spTree>
    <p:extLst>
      <p:ext uri="{BB962C8B-B14F-4D97-AF65-F5344CB8AC3E}">
        <p14:creationId xmlns:p14="http://schemas.microsoft.com/office/powerpoint/2010/main" val="1669454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D8F72-ECC6-84C4-F09D-7CEC29CDDF89}"/>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4BFA877B-AFC6-A50C-1EF7-32047A0D63E1}"/>
              </a:ext>
            </a:extLst>
          </p:cNvPr>
          <p:cNvSpPr>
            <a:spLocks noGrp="1"/>
          </p:cNvSpPr>
          <p:nvPr>
            <p:ph type="title"/>
          </p:nvPr>
        </p:nvSpPr>
        <p:spPr>
          <a:xfrm>
            <a:off x="831850" y="1047751"/>
            <a:ext cx="10515600" cy="1500187"/>
          </a:xfrm>
        </p:spPr>
        <p:txBody>
          <a:bodyPr/>
          <a:lstStyle/>
          <a:p>
            <a:r>
              <a:rPr lang="en-US" dirty="0"/>
              <a:t>3. ADVANTAGES &amp; DISADVANTAGES</a:t>
            </a:r>
          </a:p>
        </p:txBody>
      </p:sp>
      <p:pic>
        <p:nvPicPr>
          <p:cNvPr id="3" name="Picture 2">
            <a:extLst>
              <a:ext uri="{FF2B5EF4-FFF2-40B4-BE49-F238E27FC236}">
                <a16:creationId xmlns:a16="http://schemas.microsoft.com/office/drawing/2014/main" id="{042833D4-5FDB-F58B-FCB4-A5A9F6504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graphicFrame>
        <p:nvGraphicFramePr>
          <p:cNvPr id="4" name="Table 3">
            <a:extLst>
              <a:ext uri="{FF2B5EF4-FFF2-40B4-BE49-F238E27FC236}">
                <a16:creationId xmlns:a16="http://schemas.microsoft.com/office/drawing/2014/main" id="{7147F289-76E8-6918-B648-7824C54E869F}"/>
              </a:ext>
            </a:extLst>
          </p:cNvPr>
          <p:cNvGraphicFramePr>
            <a:graphicFrameLocks noGrp="1"/>
          </p:cNvGraphicFramePr>
          <p:nvPr>
            <p:extLst>
              <p:ext uri="{D42A27DB-BD31-4B8C-83A1-F6EECF244321}">
                <p14:modId xmlns:p14="http://schemas.microsoft.com/office/powerpoint/2010/main" val="2122368470"/>
              </p:ext>
            </p:extLst>
          </p:nvPr>
        </p:nvGraphicFramePr>
        <p:xfrm>
          <a:off x="926799" y="1794342"/>
          <a:ext cx="10338156" cy="4408028"/>
        </p:xfrm>
        <a:graphic>
          <a:graphicData uri="http://schemas.openxmlformats.org/drawingml/2006/table">
            <a:tbl>
              <a:tblPr firstRow="1" bandRow="1">
                <a:tableStyleId>{5C22544A-7EE6-4342-B048-85BDC9FD1C3A}</a:tableStyleId>
              </a:tblPr>
              <a:tblGrid>
                <a:gridCol w="3446052">
                  <a:extLst>
                    <a:ext uri="{9D8B030D-6E8A-4147-A177-3AD203B41FA5}">
                      <a16:colId xmlns:a16="http://schemas.microsoft.com/office/drawing/2014/main" val="3880653063"/>
                    </a:ext>
                  </a:extLst>
                </a:gridCol>
                <a:gridCol w="3446052">
                  <a:extLst>
                    <a:ext uri="{9D8B030D-6E8A-4147-A177-3AD203B41FA5}">
                      <a16:colId xmlns:a16="http://schemas.microsoft.com/office/drawing/2014/main" val="2298817909"/>
                    </a:ext>
                  </a:extLst>
                </a:gridCol>
                <a:gridCol w="3446052">
                  <a:extLst>
                    <a:ext uri="{9D8B030D-6E8A-4147-A177-3AD203B41FA5}">
                      <a16:colId xmlns:a16="http://schemas.microsoft.com/office/drawing/2014/main" val="3637928590"/>
                    </a:ext>
                  </a:extLst>
                </a:gridCol>
              </a:tblGrid>
              <a:tr h="333017">
                <a:tc>
                  <a:txBody>
                    <a:bodyPr/>
                    <a:lstStyle/>
                    <a:p>
                      <a:pPr algn="just"/>
                      <a:r>
                        <a:rPr lang="en-US" dirty="0"/>
                        <a:t>Aspect </a:t>
                      </a:r>
                    </a:p>
                  </a:txBody>
                  <a:tcPr/>
                </a:tc>
                <a:tc>
                  <a:txBody>
                    <a:bodyPr/>
                    <a:lstStyle/>
                    <a:p>
                      <a:pPr algn="just"/>
                      <a:r>
                        <a:rPr lang="en-US" err="1"/>
                        <a:t>Advanatges</a:t>
                      </a:r>
                    </a:p>
                  </a:txBody>
                  <a:tcPr/>
                </a:tc>
                <a:tc>
                  <a:txBody>
                    <a:bodyPr/>
                    <a:lstStyle/>
                    <a:p>
                      <a:pPr algn="just"/>
                      <a:r>
                        <a:rPr lang="en-US" dirty="0"/>
                        <a:t>Disadvantages</a:t>
                      </a:r>
                    </a:p>
                  </a:txBody>
                  <a:tcPr/>
                </a:tc>
                <a:extLst>
                  <a:ext uri="{0D108BD9-81ED-4DB2-BD59-A6C34878D82A}">
                    <a16:rowId xmlns:a16="http://schemas.microsoft.com/office/drawing/2014/main" val="4076015166"/>
                  </a:ext>
                </a:extLst>
              </a:tr>
              <a:tr h="805687">
                <a:tc>
                  <a:txBody>
                    <a:bodyPr/>
                    <a:lstStyle/>
                    <a:p>
                      <a:pPr algn="just"/>
                      <a:r>
                        <a:rPr lang="en-US" dirty="0"/>
                        <a:t>Data Integrity</a:t>
                      </a:r>
                    </a:p>
                  </a:txBody>
                  <a:tcPr/>
                </a:tc>
                <a:tc>
                  <a:txBody>
                    <a:bodyPr/>
                    <a:lstStyle/>
                    <a:p>
                      <a:pPr lvl="0" algn="just">
                        <a:buNone/>
                      </a:pPr>
                      <a:r>
                        <a:rPr lang="en-US" sz="1800" b="0" i="0" u="none" strike="noStrike" noProof="0" dirty="0">
                          <a:latin typeface="Calibri"/>
                        </a:rPr>
                        <a:t>Ensures no duplicate values are inserted in the column.</a:t>
                      </a:r>
                      <a:endParaRPr lang="en-US" dirty="0"/>
                    </a:p>
                  </a:txBody>
                  <a:tcPr/>
                </a:tc>
                <a:tc>
                  <a:txBody>
                    <a:bodyPr/>
                    <a:lstStyle/>
                    <a:p>
                      <a:pPr algn="just"/>
                      <a:r>
                        <a:rPr lang="en-US" dirty="0"/>
                        <a:t>-</a:t>
                      </a:r>
                    </a:p>
                  </a:txBody>
                  <a:tcPr/>
                </a:tc>
                <a:extLst>
                  <a:ext uri="{0D108BD9-81ED-4DB2-BD59-A6C34878D82A}">
                    <a16:rowId xmlns:a16="http://schemas.microsoft.com/office/drawing/2014/main" val="1448804536"/>
                  </a:ext>
                </a:extLst>
              </a:tr>
              <a:tr h="580095">
                <a:tc>
                  <a:txBody>
                    <a:bodyPr/>
                    <a:lstStyle/>
                    <a:p>
                      <a:pPr lvl="0" algn="just">
                        <a:buNone/>
                      </a:pPr>
                      <a:r>
                        <a:rPr lang="en-US" sz="1800" b="0" i="0" u="none" strike="noStrike" noProof="0" dirty="0">
                          <a:latin typeface="Calibri"/>
                        </a:rPr>
                        <a:t>Data Accuracy</a:t>
                      </a:r>
                      <a:endParaRPr lang="en-US" dirty="0"/>
                    </a:p>
                  </a:txBody>
                  <a:tcPr/>
                </a:tc>
                <a:tc>
                  <a:txBody>
                    <a:bodyPr/>
                    <a:lstStyle/>
                    <a:p>
                      <a:pPr lvl="0" algn="just">
                        <a:buNone/>
                      </a:pPr>
                      <a:r>
                        <a:rPr lang="en-US" sz="1800" b="0" i="0" u="none" strike="noStrike" noProof="0" dirty="0">
                          <a:latin typeface="Calibri"/>
                        </a:rPr>
                        <a:t>Maintains consistent and reliable data in the table.</a:t>
                      </a:r>
                      <a:endParaRPr lang="en-US" dirty="0"/>
                    </a:p>
                  </a:txBody>
                  <a:tcPr/>
                </a:tc>
                <a:tc>
                  <a:txBody>
                    <a:bodyPr/>
                    <a:lstStyle/>
                    <a:p>
                      <a:pPr algn="just"/>
                      <a:r>
                        <a:rPr lang="en-US" dirty="0"/>
                        <a:t>-</a:t>
                      </a:r>
                    </a:p>
                  </a:txBody>
                  <a:tcPr/>
                </a:tc>
                <a:extLst>
                  <a:ext uri="{0D108BD9-81ED-4DB2-BD59-A6C34878D82A}">
                    <a16:rowId xmlns:a16="http://schemas.microsoft.com/office/drawing/2014/main" val="4137165176"/>
                  </a:ext>
                </a:extLst>
              </a:tr>
              <a:tr h="1042021">
                <a:tc>
                  <a:txBody>
                    <a:bodyPr/>
                    <a:lstStyle/>
                    <a:p>
                      <a:pPr lvl="0" algn="just">
                        <a:buNone/>
                      </a:pPr>
                      <a:r>
                        <a:rPr lang="en-US" sz="1800" b="0" i="0" u="none" strike="noStrike" noProof="0" dirty="0">
                          <a:latin typeface="Calibri"/>
                        </a:rPr>
                        <a:t>Performance</a:t>
                      </a:r>
                      <a:endParaRPr lang="en-US" dirty="0"/>
                    </a:p>
                  </a:txBody>
                  <a:tcPr/>
                </a:tc>
                <a:tc>
                  <a:txBody>
                    <a:bodyPr/>
                    <a:lstStyle/>
                    <a:p>
                      <a:pPr lvl="0" algn="just">
                        <a:buNone/>
                      </a:pPr>
                      <a:r>
                        <a:rPr lang="en-US" sz="1800" b="0" i="0" u="none" strike="noStrike" noProof="0" dirty="0">
                          <a:latin typeface="Calibri"/>
                        </a:rPr>
                        <a:t>Speeds up searches and lookups when querying by the unique column.</a:t>
                      </a:r>
                      <a:endParaRPr lang="en-US" dirty="0"/>
                    </a:p>
                  </a:txBody>
                  <a:tcPr/>
                </a:tc>
                <a:tc>
                  <a:txBody>
                    <a:bodyPr/>
                    <a:lstStyle/>
                    <a:p>
                      <a:pPr lvl="0" algn="just">
                        <a:buNone/>
                      </a:pPr>
                      <a:r>
                        <a:rPr lang="en-US" sz="1800" b="0" i="0" u="none" strike="noStrike" noProof="0" dirty="0">
                          <a:latin typeface="Calibri"/>
                        </a:rPr>
                        <a:t>May slow down </a:t>
                      </a:r>
                      <a:r>
                        <a:rPr lang="en-US" sz="1800" b="1" i="0" u="none" strike="noStrike" noProof="0" dirty="0">
                          <a:latin typeface="Calibri"/>
                        </a:rPr>
                        <a:t>INSERT</a:t>
                      </a:r>
                      <a:r>
                        <a:rPr lang="en-US" sz="1800" b="0" i="0" u="none" strike="noStrike" noProof="0" dirty="0">
                          <a:latin typeface="Calibri"/>
                        </a:rPr>
                        <a:t> or </a:t>
                      </a:r>
                      <a:r>
                        <a:rPr lang="en-US" sz="1800" b="1" i="0" u="none" strike="noStrike" noProof="0" dirty="0">
                          <a:latin typeface="Calibri"/>
                        </a:rPr>
                        <a:t>UPDATE</a:t>
                      </a:r>
                      <a:r>
                        <a:rPr lang="en-US" sz="1800" b="0" i="0" u="none" strike="noStrike" noProof="0" dirty="0">
                          <a:latin typeface="Calibri"/>
                        </a:rPr>
                        <a:t> operations because the database must check for duplicates first.</a:t>
                      </a:r>
                      <a:endParaRPr lang="en-US" dirty="0"/>
                    </a:p>
                  </a:txBody>
                  <a:tcPr/>
                </a:tc>
                <a:extLst>
                  <a:ext uri="{0D108BD9-81ED-4DB2-BD59-A6C34878D82A}">
                    <a16:rowId xmlns:a16="http://schemas.microsoft.com/office/drawing/2014/main" val="601587533"/>
                  </a:ext>
                </a:extLst>
              </a:tr>
              <a:tr h="580095">
                <a:tc>
                  <a:txBody>
                    <a:bodyPr/>
                    <a:lstStyle/>
                    <a:p>
                      <a:pPr lvl="0" algn="just">
                        <a:buNone/>
                      </a:pPr>
                      <a:r>
                        <a:rPr lang="en-US" sz="1800" b="0" i="0" u="none" strike="noStrike" noProof="0" dirty="0"/>
                        <a:t>Storage Space</a:t>
                      </a:r>
                      <a:endParaRPr lang="en-US" dirty="0"/>
                    </a:p>
                  </a:txBody>
                  <a:tcPr/>
                </a:tc>
                <a:tc>
                  <a:txBody>
                    <a:bodyPr/>
                    <a:lstStyle/>
                    <a:p>
                      <a:pPr lvl="0" algn="just">
                        <a:buNone/>
                      </a:pPr>
                      <a:r>
                        <a:rPr lang="en-US" dirty="0"/>
                        <a:t>-</a:t>
                      </a:r>
                    </a:p>
                  </a:txBody>
                  <a:tcPr/>
                </a:tc>
                <a:tc>
                  <a:txBody>
                    <a:bodyPr/>
                    <a:lstStyle/>
                    <a:p>
                      <a:pPr lvl="0" algn="just">
                        <a:buNone/>
                      </a:pPr>
                      <a:r>
                        <a:rPr lang="en-US" sz="1800" b="0" i="0" u="none" strike="noStrike" noProof="0" dirty="0">
                          <a:latin typeface="Calibri"/>
                        </a:rPr>
                        <a:t>Uses extra </a:t>
                      </a:r>
                      <a:r>
                        <a:rPr lang="en-US" sz="1800" b="1" i="0" u="none" strike="noStrike" noProof="0" dirty="0">
                          <a:latin typeface="Calibri"/>
                        </a:rPr>
                        <a:t>disk space</a:t>
                      </a:r>
                      <a:r>
                        <a:rPr lang="en-US" sz="1800" b="0" i="0" u="none" strike="noStrike" noProof="0" dirty="0">
                          <a:latin typeface="Calibri"/>
                        </a:rPr>
                        <a:t> to store index information.</a:t>
                      </a:r>
                      <a:endParaRPr lang="en-US" dirty="0"/>
                    </a:p>
                  </a:txBody>
                  <a:tcPr/>
                </a:tc>
                <a:extLst>
                  <a:ext uri="{0D108BD9-81ED-4DB2-BD59-A6C34878D82A}">
                    <a16:rowId xmlns:a16="http://schemas.microsoft.com/office/drawing/2014/main" val="1168085542"/>
                  </a:ext>
                </a:extLst>
              </a:tr>
              <a:tr h="805687">
                <a:tc>
                  <a:txBody>
                    <a:bodyPr/>
                    <a:lstStyle/>
                    <a:p>
                      <a:pPr lvl="0" algn="just">
                        <a:buNone/>
                      </a:pPr>
                      <a:r>
                        <a:rPr lang="en-US" sz="1800" b="0" i="0" u="none" strike="noStrike" noProof="0" dirty="0"/>
                        <a:t>Flexibility</a:t>
                      </a:r>
                      <a:endParaRPr lang="en-US" dirty="0"/>
                    </a:p>
                  </a:txBody>
                  <a:tcPr/>
                </a:tc>
                <a:tc>
                  <a:txBody>
                    <a:bodyPr/>
                    <a:lstStyle/>
                    <a:p>
                      <a:pPr lvl="0" algn="just">
                        <a:buNone/>
                      </a:pPr>
                      <a:r>
                        <a:rPr lang="en-US" sz="1800" b="0" i="0" u="none" strike="noStrike" noProof="0" dirty="0">
                          <a:latin typeface="Calibri"/>
                        </a:rPr>
                        <a:t>Can be applied to multiple columns, allowing flexible uniqueness rules.</a:t>
                      </a:r>
                      <a:endParaRPr lang="en-US" dirty="0"/>
                    </a:p>
                  </a:txBody>
                  <a:tcPr/>
                </a:tc>
                <a:tc>
                  <a:txBody>
                    <a:bodyPr/>
                    <a:lstStyle/>
                    <a:p>
                      <a:pPr lvl="0" algn="just">
                        <a:buNone/>
                      </a:pPr>
                      <a:r>
                        <a:rPr lang="en-US" dirty="0"/>
                        <a:t>-</a:t>
                      </a:r>
                    </a:p>
                  </a:txBody>
                  <a:tcPr/>
                </a:tc>
                <a:extLst>
                  <a:ext uri="{0D108BD9-81ED-4DB2-BD59-A6C34878D82A}">
                    <a16:rowId xmlns:a16="http://schemas.microsoft.com/office/drawing/2014/main" val="1435345758"/>
                  </a:ext>
                </a:extLst>
              </a:tr>
            </a:tbl>
          </a:graphicData>
        </a:graphic>
      </p:graphicFrame>
    </p:spTree>
    <p:extLst>
      <p:ext uri="{BB962C8B-B14F-4D97-AF65-F5344CB8AC3E}">
        <p14:creationId xmlns:p14="http://schemas.microsoft.com/office/powerpoint/2010/main" val="501868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D16BF-37C9-4044-7B9C-8EFC28A06D2F}"/>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0D85A06A-DF41-6395-7175-933F09094BD0}"/>
              </a:ext>
            </a:extLst>
          </p:cNvPr>
          <p:cNvSpPr>
            <a:spLocks noGrp="1"/>
          </p:cNvSpPr>
          <p:nvPr>
            <p:ph type="title"/>
          </p:nvPr>
        </p:nvSpPr>
        <p:spPr>
          <a:xfrm>
            <a:off x="831850" y="1047751"/>
            <a:ext cx="10515600" cy="1500187"/>
          </a:xfrm>
        </p:spPr>
        <p:txBody>
          <a:bodyPr/>
          <a:lstStyle/>
          <a:p>
            <a:r>
              <a:rPr lang="en-US" dirty="0"/>
              <a:t>4. CREATE A TABLE</a:t>
            </a:r>
          </a:p>
        </p:txBody>
      </p:sp>
      <p:pic>
        <p:nvPicPr>
          <p:cNvPr id="3" name="Picture 2">
            <a:extLst>
              <a:ext uri="{FF2B5EF4-FFF2-40B4-BE49-F238E27FC236}">
                <a16:creationId xmlns:a16="http://schemas.microsoft.com/office/drawing/2014/main" id="{16CEC5AE-AE0B-60AC-67B8-870809B5F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4" name="Picture 3">
            <a:extLst>
              <a:ext uri="{FF2B5EF4-FFF2-40B4-BE49-F238E27FC236}">
                <a16:creationId xmlns:a16="http://schemas.microsoft.com/office/drawing/2014/main" id="{4B64374F-8578-2604-E7FD-2BB8852D4E83}"/>
              </a:ext>
            </a:extLst>
          </p:cNvPr>
          <p:cNvPicPr>
            <a:picLocks noChangeAspect="1"/>
          </p:cNvPicPr>
          <p:nvPr/>
        </p:nvPicPr>
        <p:blipFill>
          <a:blip r:embed="rId3"/>
          <a:stretch>
            <a:fillRect/>
          </a:stretch>
        </p:blipFill>
        <p:spPr>
          <a:xfrm>
            <a:off x="1404583" y="2164480"/>
            <a:ext cx="3619500" cy="1990725"/>
          </a:xfrm>
          <a:prstGeom prst="rect">
            <a:avLst/>
          </a:prstGeom>
        </p:spPr>
      </p:pic>
      <p:pic>
        <p:nvPicPr>
          <p:cNvPr id="5" name="Picture 4">
            <a:extLst>
              <a:ext uri="{FF2B5EF4-FFF2-40B4-BE49-F238E27FC236}">
                <a16:creationId xmlns:a16="http://schemas.microsoft.com/office/drawing/2014/main" id="{6AD248C9-12B3-C442-C65F-4BC956A62DD7}"/>
              </a:ext>
            </a:extLst>
          </p:cNvPr>
          <p:cNvPicPr>
            <a:picLocks noChangeAspect="1"/>
          </p:cNvPicPr>
          <p:nvPr/>
        </p:nvPicPr>
        <p:blipFill>
          <a:blip r:embed="rId4"/>
          <a:stretch>
            <a:fillRect/>
          </a:stretch>
        </p:blipFill>
        <p:spPr>
          <a:xfrm>
            <a:off x="6096000" y="2164480"/>
            <a:ext cx="4079355" cy="1990725"/>
          </a:xfrm>
          <a:prstGeom prst="rect">
            <a:avLst/>
          </a:prstGeom>
        </p:spPr>
      </p:pic>
      <p:pic>
        <p:nvPicPr>
          <p:cNvPr id="9" name="Picture 8">
            <a:extLst>
              <a:ext uri="{FF2B5EF4-FFF2-40B4-BE49-F238E27FC236}">
                <a16:creationId xmlns:a16="http://schemas.microsoft.com/office/drawing/2014/main" id="{0DCE3113-6C1F-2389-D8D0-F42E7F14765A}"/>
              </a:ext>
            </a:extLst>
          </p:cNvPr>
          <p:cNvPicPr>
            <a:picLocks noChangeAspect="1"/>
          </p:cNvPicPr>
          <p:nvPr/>
        </p:nvPicPr>
        <p:blipFill>
          <a:blip r:embed="rId5"/>
          <a:stretch>
            <a:fillRect/>
          </a:stretch>
        </p:blipFill>
        <p:spPr>
          <a:xfrm>
            <a:off x="5615940" y="4359015"/>
            <a:ext cx="5731510" cy="212090"/>
          </a:xfrm>
          <a:prstGeom prst="rect">
            <a:avLst/>
          </a:prstGeom>
        </p:spPr>
      </p:pic>
      <p:sp>
        <p:nvSpPr>
          <p:cNvPr id="10" name="TextBox 9">
            <a:extLst>
              <a:ext uri="{FF2B5EF4-FFF2-40B4-BE49-F238E27FC236}">
                <a16:creationId xmlns:a16="http://schemas.microsoft.com/office/drawing/2014/main" id="{B0EAB97D-DF11-C997-1F26-FDDB002F8506}"/>
              </a:ext>
            </a:extLst>
          </p:cNvPr>
          <p:cNvSpPr txBox="1"/>
          <p:nvPr/>
        </p:nvSpPr>
        <p:spPr>
          <a:xfrm>
            <a:off x="942708" y="4982524"/>
            <a:ext cx="10654817" cy="1384995"/>
          </a:xfrm>
          <a:prstGeom prst="rect">
            <a:avLst/>
          </a:prstGeom>
          <a:noFill/>
        </p:spPr>
        <p:txBody>
          <a:bodyPr wrap="square" lIns="0" tIns="45720" rIns="0" bIns="45720" rtlCol="0" anchor="t">
            <a:spAutoFit/>
          </a:bodyPr>
          <a:lstStyle/>
          <a:p>
            <a:pPr algn="just"/>
            <a:r>
              <a:rPr lang="en-US" dirty="0">
                <a:solidFill>
                  <a:srgbClr val="666666"/>
                </a:solidFill>
                <a:ea typeface="+mn-lt"/>
                <a:cs typeface="+mn-lt"/>
              </a:rPr>
              <a:t>In this step, a new database named </a:t>
            </a:r>
            <a:r>
              <a:rPr lang="en-US" b="1" err="1">
                <a:solidFill>
                  <a:srgbClr val="666666"/>
                </a:solidFill>
                <a:ea typeface="+mn-lt"/>
                <a:cs typeface="+mn-lt"/>
              </a:rPr>
              <a:t>index_lab</a:t>
            </a:r>
            <a:r>
              <a:rPr lang="en-US" dirty="0">
                <a:solidFill>
                  <a:srgbClr val="666666"/>
                </a:solidFill>
                <a:ea typeface="+mn-lt"/>
                <a:cs typeface="+mn-lt"/>
              </a:rPr>
              <a:t> is created and selected for use. Then, a table called </a:t>
            </a:r>
            <a:r>
              <a:rPr lang="en-US" b="1" dirty="0">
                <a:solidFill>
                  <a:srgbClr val="666666"/>
                </a:solidFill>
                <a:ea typeface="+mn-lt"/>
                <a:cs typeface="+mn-lt"/>
              </a:rPr>
              <a:t>customer</a:t>
            </a:r>
            <a:r>
              <a:rPr lang="en-US" dirty="0">
                <a:solidFill>
                  <a:srgbClr val="666666"/>
                </a:solidFill>
                <a:ea typeface="+mn-lt"/>
                <a:cs typeface="+mn-lt"/>
              </a:rPr>
              <a:t> is created with three columns: </a:t>
            </a:r>
            <a:r>
              <a:rPr lang="en-US" err="1">
                <a:solidFill>
                  <a:srgbClr val="666666"/>
                </a:solidFill>
                <a:latin typeface="Consolas"/>
                <a:ea typeface="Calibri"/>
                <a:cs typeface="Calibri"/>
              </a:rPr>
              <a:t>cust_id</a:t>
            </a:r>
            <a:r>
              <a:rPr lang="en-US" dirty="0">
                <a:solidFill>
                  <a:srgbClr val="666666"/>
                </a:solidFill>
                <a:ea typeface="+mn-lt"/>
                <a:cs typeface="+mn-lt"/>
              </a:rPr>
              <a:t>, </a:t>
            </a:r>
            <a:r>
              <a:rPr lang="en-US" dirty="0">
                <a:solidFill>
                  <a:srgbClr val="666666"/>
                </a:solidFill>
                <a:latin typeface="Consolas"/>
                <a:ea typeface="Calibri"/>
                <a:cs typeface="Calibri"/>
              </a:rPr>
              <a:t>email</a:t>
            </a:r>
            <a:r>
              <a:rPr lang="en-US" dirty="0">
                <a:solidFill>
                  <a:srgbClr val="666666"/>
                </a:solidFill>
                <a:ea typeface="+mn-lt"/>
                <a:cs typeface="+mn-lt"/>
              </a:rPr>
              <a:t>, and </a:t>
            </a:r>
            <a:r>
              <a:rPr lang="en-US" dirty="0">
                <a:solidFill>
                  <a:srgbClr val="666666"/>
                </a:solidFill>
                <a:latin typeface="Consolas"/>
                <a:ea typeface="Calibri"/>
                <a:cs typeface="Calibri"/>
              </a:rPr>
              <a:t>phone</a:t>
            </a:r>
            <a:r>
              <a:rPr lang="en-US" dirty="0">
                <a:solidFill>
                  <a:srgbClr val="666666"/>
                </a:solidFill>
                <a:ea typeface="+mn-lt"/>
                <a:cs typeface="+mn-lt"/>
              </a:rPr>
              <a:t>. The </a:t>
            </a:r>
            <a:r>
              <a:rPr lang="en-US" err="1">
                <a:solidFill>
                  <a:srgbClr val="666666"/>
                </a:solidFill>
                <a:latin typeface="Consolas"/>
                <a:ea typeface="Calibri"/>
                <a:cs typeface="Calibri"/>
              </a:rPr>
              <a:t>cust_id</a:t>
            </a:r>
            <a:r>
              <a:rPr lang="en-US" dirty="0">
                <a:solidFill>
                  <a:srgbClr val="666666"/>
                </a:solidFill>
                <a:ea typeface="+mn-lt"/>
                <a:cs typeface="+mn-lt"/>
              </a:rPr>
              <a:t> column is set as the </a:t>
            </a:r>
            <a:r>
              <a:rPr lang="en-US" b="1" dirty="0">
                <a:solidFill>
                  <a:srgbClr val="666666"/>
                </a:solidFill>
                <a:ea typeface="+mn-lt"/>
                <a:cs typeface="+mn-lt"/>
              </a:rPr>
              <a:t>primary key</a:t>
            </a:r>
            <a:r>
              <a:rPr lang="en-US" dirty="0">
                <a:solidFill>
                  <a:srgbClr val="666666"/>
                </a:solidFill>
                <a:ea typeface="+mn-lt"/>
                <a:cs typeface="+mn-lt"/>
              </a:rPr>
              <a:t> with </a:t>
            </a:r>
            <a:r>
              <a:rPr lang="en-US" b="1" dirty="0">
                <a:solidFill>
                  <a:srgbClr val="666666"/>
                </a:solidFill>
                <a:ea typeface="+mn-lt"/>
                <a:cs typeface="+mn-lt"/>
              </a:rPr>
              <a:t>AUTO_INCREMENT</a:t>
            </a:r>
            <a:r>
              <a:rPr lang="en-US" dirty="0">
                <a:solidFill>
                  <a:srgbClr val="666666"/>
                </a:solidFill>
                <a:ea typeface="+mn-lt"/>
                <a:cs typeface="+mn-lt"/>
              </a:rPr>
              <a:t>, meaning it will automatically assign a unique ID to each customer. This table serves as the basic structure for storing customer information before adding any indexes or constraints.</a:t>
            </a:r>
            <a:endParaRPr lang="en-US">
              <a:ea typeface="Calibri"/>
              <a:cs typeface="Calibri"/>
            </a:endParaRPr>
          </a:p>
          <a:p>
            <a:pPr algn="just"/>
            <a:endParaRPr lang="en-US" sz="1200" dirty="0">
              <a:solidFill>
                <a:srgbClr val="666666"/>
              </a:solidFill>
              <a:ea typeface="Calibri"/>
              <a:cs typeface="Calibri"/>
            </a:endParaRPr>
          </a:p>
        </p:txBody>
      </p:sp>
    </p:spTree>
    <p:extLst>
      <p:ext uri="{BB962C8B-B14F-4D97-AF65-F5344CB8AC3E}">
        <p14:creationId xmlns:p14="http://schemas.microsoft.com/office/powerpoint/2010/main" val="70058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5BB05-86EC-C9DA-D7A6-CB4F6DFD5D58}"/>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1287CED8-7DE2-A55D-4D1D-F95A3F687A30}"/>
              </a:ext>
            </a:extLst>
          </p:cNvPr>
          <p:cNvSpPr>
            <a:spLocks noGrp="1"/>
          </p:cNvSpPr>
          <p:nvPr>
            <p:ph type="title"/>
          </p:nvPr>
        </p:nvSpPr>
        <p:spPr>
          <a:xfrm>
            <a:off x="831850" y="1047751"/>
            <a:ext cx="10515600" cy="1500187"/>
          </a:xfrm>
        </p:spPr>
        <p:txBody>
          <a:bodyPr/>
          <a:lstStyle/>
          <a:p>
            <a:r>
              <a:rPr lang="en-US" dirty="0"/>
              <a:t>4. INSERT 10 RECORDS</a:t>
            </a:r>
          </a:p>
        </p:txBody>
      </p:sp>
      <p:pic>
        <p:nvPicPr>
          <p:cNvPr id="3" name="Picture 2">
            <a:extLst>
              <a:ext uri="{FF2B5EF4-FFF2-40B4-BE49-F238E27FC236}">
                <a16:creationId xmlns:a16="http://schemas.microsoft.com/office/drawing/2014/main" id="{043F68DD-0850-FCCA-4CF6-137F556854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10" name="TextBox 9">
            <a:extLst>
              <a:ext uri="{FF2B5EF4-FFF2-40B4-BE49-F238E27FC236}">
                <a16:creationId xmlns:a16="http://schemas.microsoft.com/office/drawing/2014/main" id="{E8F87565-ADD8-B035-3464-2B5034FDFF9C}"/>
              </a:ext>
            </a:extLst>
          </p:cNvPr>
          <p:cNvSpPr txBox="1"/>
          <p:nvPr/>
        </p:nvSpPr>
        <p:spPr>
          <a:xfrm>
            <a:off x="6099891" y="2397357"/>
            <a:ext cx="5141405" cy="2062103"/>
          </a:xfrm>
          <a:prstGeom prst="rect">
            <a:avLst/>
          </a:prstGeom>
          <a:noFill/>
        </p:spPr>
        <p:txBody>
          <a:bodyPr wrap="square" lIns="0" tIns="45720" rIns="0" bIns="45720" rtlCol="0" anchor="t">
            <a:spAutoFit/>
          </a:bodyPr>
          <a:lstStyle/>
          <a:p>
            <a:pPr algn="just"/>
            <a:r>
              <a:rPr lang="en-US" sz="1600" dirty="0">
                <a:solidFill>
                  <a:srgbClr val="666666"/>
                </a:solidFill>
                <a:ea typeface="+mn-lt"/>
                <a:cs typeface="+mn-lt"/>
              </a:rPr>
              <a:t>In this step, I inserted 10 records into the </a:t>
            </a:r>
            <a:r>
              <a:rPr lang="en-US" sz="1600" b="1" dirty="0">
                <a:solidFill>
                  <a:srgbClr val="666666"/>
                </a:solidFill>
                <a:ea typeface="+mn-lt"/>
                <a:cs typeface="+mn-lt"/>
              </a:rPr>
              <a:t>customer</a:t>
            </a:r>
            <a:r>
              <a:rPr lang="en-US" sz="1600" dirty="0">
                <a:solidFill>
                  <a:srgbClr val="666666"/>
                </a:solidFill>
                <a:ea typeface="+mn-lt"/>
                <a:cs typeface="+mn-lt"/>
              </a:rPr>
              <a:t> table using the </a:t>
            </a:r>
            <a:r>
              <a:rPr lang="en-US" sz="1600" dirty="0">
                <a:solidFill>
                  <a:srgbClr val="666666"/>
                </a:solidFill>
                <a:latin typeface="Consolas"/>
              </a:rPr>
              <a:t>INSERT INTO</a:t>
            </a:r>
            <a:r>
              <a:rPr lang="en-US" sz="1600" dirty="0">
                <a:solidFill>
                  <a:srgbClr val="666666"/>
                </a:solidFill>
                <a:ea typeface="+mn-lt"/>
                <a:cs typeface="+mn-lt"/>
              </a:rPr>
              <a:t> SQL statement. Each record contains an email and phone number for different customers. This process helps to populate the database with sample data that can be used for testing and further operations such as retrieving, updating, or deleting records</a:t>
            </a:r>
            <a:r>
              <a:rPr lang="en-US" sz="1600" b="0" i="0" dirty="0">
                <a:solidFill>
                  <a:srgbClr val="666666"/>
                </a:solidFill>
                <a:effectLst/>
                <a:ea typeface="+mn-lt"/>
                <a:cs typeface="+mn-lt"/>
              </a:rPr>
              <a:t>.</a:t>
            </a:r>
            <a:r>
              <a:rPr lang="en-US" sz="1600" dirty="0">
                <a:solidFill>
                  <a:srgbClr val="666666"/>
                </a:solidFill>
                <a:ea typeface="+mn-lt"/>
                <a:cs typeface="+mn-lt"/>
              </a:rPr>
              <a:t> The query executed successfully, showing that 10 </a:t>
            </a:r>
            <a:r>
              <a:rPr lang="en-US" sz="1600">
                <a:solidFill>
                  <a:srgbClr val="666666"/>
                </a:solidFill>
                <a:ea typeface="+mn-lt"/>
                <a:cs typeface="+mn-lt"/>
              </a:rPr>
              <a:t>rows were added with no duplicates or warnings.</a:t>
            </a:r>
            <a:endParaRPr lang="en-US" sz="1600">
              <a:solidFill>
                <a:srgbClr val="666666"/>
              </a:solidFill>
              <a:ea typeface="Calibri"/>
              <a:cs typeface="Calibri"/>
            </a:endParaRPr>
          </a:p>
        </p:txBody>
      </p:sp>
      <p:pic>
        <p:nvPicPr>
          <p:cNvPr id="2" name="Picture 1">
            <a:extLst>
              <a:ext uri="{FF2B5EF4-FFF2-40B4-BE49-F238E27FC236}">
                <a16:creationId xmlns:a16="http://schemas.microsoft.com/office/drawing/2014/main" id="{01324B41-2F13-C6DA-0D91-9FEFB980C92E}"/>
              </a:ext>
            </a:extLst>
          </p:cNvPr>
          <p:cNvPicPr>
            <a:picLocks noChangeAspect="1"/>
          </p:cNvPicPr>
          <p:nvPr/>
        </p:nvPicPr>
        <p:blipFill>
          <a:blip r:embed="rId3"/>
          <a:stretch>
            <a:fillRect/>
          </a:stretch>
        </p:blipFill>
        <p:spPr>
          <a:xfrm>
            <a:off x="1298472" y="1757362"/>
            <a:ext cx="4305300" cy="3343275"/>
          </a:xfrm>
          <a:prstGeom prst="rect">
            <a:avLst/>
          </a:prstGeom>
        </p:spPr>
      </p:pic>
      <p:pic>
        <p:nvPicPr>
          <p:cNvPr id="6" name="Picture 5">
            <a:extLst>
              <a:ext uri="{FF2B5EF4-FFF2-40B4-BE49-F238E27FC236}">
                <a16:creationId xmlns:a16="http://schemas.microsoft.com/office/drawing/2014/main" id="{BF950D24-FE78-B751-ED0F-BC8042E9F52D}"/>
              </a:ext>
            </a:extLst>
          </p:cNvPr>
          <p:cNvPicPr>
            <a:picLocks noChangeAspect="1"/>
          </p:cNvPicPr>
          <p:nvPr/>
        </p:nvPicPr>
        <p:blipFill>
          <a:blip r:embed="rId4"/>
          <a:stretch>
            <a:fillRect/>
          </a:stretch>
        </p:blipFill>
        <p:spPr>
          <a:xfrm>
            <a:off x="1057316" y="5216292"/>
            <a:ext cx="8627458" cy="240873"/>
          </a:xfrm>
          <a:prstGeom prst="rect">
            <a:avLst/>
          </a:prstGeom>
        </p:spPr>
      </p:pic>
    </p:spTree>
    <p:extLst>
      <p:ext uri="{BB962C8B-B14F-4D97-AF65-F5344CB8AC3E}">
        <p14:creationId xmlns:p14="http://schemas.microsoft.com/office/powerpoint/2010/main" val="262010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6D4C-71FF-6F62-9A6A-D8C14B726461}"/>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A3225EED-8089-1D89-4313-3B50E277677A}"/>
              </a:ext>
            </a:extLst>
          </p:cNvPr>
          <p:cNvSpPr>
            <a:spLocks noGrp="1"/>
          </p:cNvSpPr>
          <p:nvPr>
            <p:ph type="title"/>
          </p:nvPr>
        </p:nvSpPr>
        <p:spPr>
          <a:xfrm>
            <a:off x="831850" y="1047751"/>
            <a:ext cx="10515600" cy="1500187"/>
          </a:xfrm>
        </p:spPr>
        <p:txBody>
          <a:bodyPr/>
          <a:lstStyle/>
          <a:p>
            <a:r>
              <a:rPr lang="en-US" dirty="0"/>
              <a:t>5. ADD A UNIQUE INDEX</a:t>
            </a:r>
          </a:p>
        </p:txBody>
      </p:sp>
      <p:pic>
        <p:nvPicPr>
          <p:cNvPr id="3" name="Picture 2">
            <a:extLst>
              <a:ext uri="{FF2B5EF4-FFF2-40B4-BE49-F238E27FC236}">
                <a16:creationId xmlns:a16="http://schemas.microsoft.com/office/drawing/2014/main" id="{E3227AFC-E437-05F1-8B01-42B80F4C2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10" name="TextBox 9">
            <a:extLst>
              <a:ext uri="{FF2B5EF4-FFF2-40B4-BE49-F238E27FC236}">
                <a16:creationId xmlns:a16="http://schemas.microsoft.com/office/drawing/2014/main" id="{BD64DFA1-43E1-F7DA-F3D8-338653677D54}"/>
              </a:ext>
            </a:extLst>
          </p:cNvPr>
          <p:cNvSpPr txBox="1"/>
          <p:nvPr/>
        </p:nvSpPr>
        <p:spPr>
          <a:xfrm>
            <a:off x="6527793" y="1281375"/>
            <a:ext cx="4819020" cy="1384995"/>
          </a:xfrm>
          <a:prstGeom prst="rect">
            <a:avLst/>
          </a:prstGeom>
          <a:noFill/>
        </p:spPr>
        <p:txBody>
          <a:bodyPr wrap="square" lIns="0" tIns="45720" rIns="0" bIns="45720" rtlCol="0" anchor="t">
            <a:spAutoFit/>
          </a:bodyPr>
          <a:lstStyle/>
          <a:p>
            <a:pPr algn="just"/>
            <a:r>
              <a:rPr lang="en-US" sz="1200" dirty="0">
                <a:solidFill>
                  <a:srgbClr val="666666"/>
                </a:solidFill>
                <a:ea typeface="+mn-lt"/>
                <a:cs typeface="+mn-lt"/>
              </a:rPr>
              <a:t>In this step, I tried imposing some data integrity on the customer table, by creating a UNIQUE index on the email column. This was done to ensure nobody is using the same email twice, otherwise in future there will be copies. But unfortunately the above query didn't work and it returns with Error Code 1062 as the table already has duplicate email address, in this case 'woo04@gmail.com' is found multiple times. You need to find and auto-correct / delete the duplicates, before being able to add this unique index.</a:t>
            </a:r>
            <a:endParaRPr lang="en-US" dirty="0">
              <a:ea typeface="+mn-lt"/>
              <a:cs typeface="+mn-lt"/>
            </a:endParaRPr>
          </a:p>
        </p:txBody>
      </p:sp>
      <p:pic>
        <p:nvPicPr>
          <p:cNvPr id="4" name="Picture 3">
            <a:extLst>
              <a:ext uri="{FF2B5EF4-FFF2-40B4-BE49-F238E27FC236}">
                <a16:creationId xmlns:a16="http://schemas.microsoft.com/office/drawing/2014/main" id="{AB59B309-EEBD-0233-839D-07D9E4A63B65}"/>
              </a:ext>
            </a:extLst>
          </p:cNvPr>
          <p:cNvPicPr>
            <a:picLocks noChangeAspect="1"/>
          </p:cNvPicPr>
          <p:nvPr/>
        </p:nvPicPr>
        <p:blipFill>
          <a:blip r:embed="rId3"/>
          <a:stretch>
            <a:fillRect/>
          </a:stretch>
        </p:blipFill>
        <p:spPr>
          <a:xfrm>
            <a:off x="1102139" y="1988392"/>
            <a:ext cx="4699265" cy="673173"/>
          </a:xfrm>
          <a:prstGeom prst="rect">
            <a:avLst/>
          </a:prstGeom>
        </p:spPr>
      </p:pic>
      <p:pic>
        <p:nvPicPr>
          <p:cNvPr id="5" name="Picture 4">
            <a:extLst>
              <a:ext uri="{FF2B5EF4-FFF2-40B4-BE49-F238E27FC236}">
                <a16:creationId xmlns:a16="http://schemas.microsoft.com/office/drawing/2014/main" id="{EDF60815-CCEC-8447-99FB-C4A35BCD100D}"/>
              </a:ext>
            </a:extLst>
          </p:cNvPr>
          <p:cNvPicPr>
            <a:picLocks noChangeAspect="1"/>
          </p:cNvPicPr>
          <p:nvPr/>
        </p:nvPicPr>
        <p:blipFill>
          <a:blip r:embed="rId4"/>
          <a:stretch>
            <a:fillRect/>
          </a:stretch>
        </p:blipFill>
        <p:spPr>
          <a:xfrm>
            <a:off x="966918" y="2827044"/>
            <a:ext cx="8943128" cy="311117"/>
          </a:xfrm>
          <a:prstGeom prst="rect">
            <a:avLst/>
          </a:prstGeom>
        </p:spPr>
      </p:pic>
      <p:cxnSp>
        <p:nvCxnSpPr>
          <p:cNvPr id="9" name="Straight Connector 8">
            <a:extLst>
              <a:ext uri="{FF2B5EF4-FFF2-40B4-BE49-F238E27FC236}">
                <a16:creationId xmlns:a16="http://schemas.microsoft.com/office/drawing/2014/main" id="{98E938ED-BF54-95EB-71CA-ABF88BB8B4AC}"/>
              </a:ext>
            </a:extLst>
          </p:cNvPr>
          <p:cNvCxnSpPr/>
          <p:nvPr/>
        </p:nvCxnSpPr>
        <p:spPr>
          <a:xfrm>
            <a:off x="303366" y="3303639"/>
            <a:ext cx="11572568" cy="0"/>
          </a:xfrm>
          <a:prstGeom prst="line">
            <a:avLst/>
          </a:prstGeom>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1C804FB2-A591-9F16-0895-F8254D10F37F}"/>
              </a:ext>
            </a:extLst>
          </p:cNvPr>
          <p:cNvPicPr>
            <a:picLocks noChangeAspect="1"/>
          </p:cNvPicPr>
          <p:nvPr/>
        </p:nvPicPr>
        <p:blipFill>
          <a:blip r:embed="rId5"/>
          <a:stretch>
            <a:fillRect/>
          </a:stretch>
        </p:blipFill>
        <p:spPr>
          <a:xfrm>
            <a:off x="1102138" y="3526175"/>
            <a:ext cx="4699266" cy="1566422"/>
          </a:xfrm>
          <a:prstGeom prst="rect">
            <a:avLst/>
          </a:prstGeom>
        </p:spPr>
      </p:pic>
      <p:pic>
        <p:nvPicPr>
          <p:cNvPr id="12" name="Picture 11">
            <a:extLst>
              <a:ext uri="{FF2B5EF4-FFF2-40B4-BE49-F238E27FC236}">
                <a16:creationId xmlns:a16="http://schemas.microsoft.com/office/drawing/2014/main" id="{87BD6644-06C1-69D7-46C5-E81564DD0E15}"/>
              </a:ext>
            </a:extLst>
          </p:cNvPr>
          <p:cNvPicPr>
            <a:picLocks noChangeAspect="1"/>
          </p:cNvPicPr>
          <p:nvPr/>
        </p:nvPicPr>
        <p:blipFill>
          <a:blip r:embed="rId6"/>
          <a:stretch>
            <a:fillRect/>
          </a:stretch>
        </p:blipFill>
        <p:spPr>
          <a:xfrm>
            <a:off x="966918" y="5200624"/>
            <a:ext cx="6004153" cy="642810"/>
          </a:xfrm>
          <a:prstGeom prst="rect">
            <a:avLst/>
          </a:prstGeom>
        </p:spPr>
      </p:pic>
      <p:sp>
        <p:nvSpPr>
          <p:cNvPr id="13" name="TextBox 12">
            <a:extLst>
              <a:ext uri="{FF2B5EF4-FFF2-40B4-BE49-F238E27FC236}">
                <a16:creationId xmlns:a16="http://schemas.microsoft.com/office/drawing/2014/main" id="{FC3B7223-2045-0B98-7E91-67D47742C286}"/>
              </a:ext>
            </a:extLst>
          </p:cNvPr>
          <p:cNvSpPr txBox="1"/>
          <p:nvPr/>
        </p:nvSpPr>
        <p:spPr>
          <a:xfrm>
            <a:off x="6790608" y="3664670"/>
            <a:ext cx="4296253" cy="1384995"/>
          </a:xfrm>
          <a:prstGeom prst="rect">
            <a:avLst/>
          </a:prstGeom>
          <a:noFill/>
        </p:spPr>
        <p:txBody>
          <a:bodyPr wrap="square" lIns="0" tIns="45720" rIns="0" bIns="45720" rtlCol="0" anchor="t">
            <a:spAutoFit/>
          </a:bodyPr>
          <a:lstStyle/>
          <a:p>
            <a:pPr algn="just"/>
            <a:r>
              <a:rPr lang="en-US" sz="1200" dirty="0">
                <a:solidFill>
                  <a:srgbClr val="666666"/>
                </a:solidFill>
                <a:ea typeface="+mn-lt"/>
                <a:cs typeface="+mn-lt"/>
              </a:rPr>
              <a:t>In this step, I first </a:t>
            </a:r>
            <a:r>
              <a:rPr lang="en-US" sz="1200" b="1" dirty="0">
                <a:solidFill>
                  <a:srgbClr val="666666"/>
                </a:solidFill>
                <a:ea typeface="+mn-lt"/>
                <a:cs typeface="+mn-lt"/>
              </a:rPr>
              <a:t>deleted</a:t>
            </a:r>
            <a:r>
              <a:rPr lang="en-US" sz="1200" dirty="0">
                <a:solidFill>
                  <a:srgbClr val="666666"/>
                </a:solidFill>
                <a:ea typeface="+mn-lt"/>
                <a:cs typeface="+mn-lt"/>
              </a:rPr>
              <a:t> the record with </a:t>
            </a:r>
            <a:r>
              <a:rPr lang="en-US" sz="1200" dirty="0" err="1">
                <a:solidFill>
                  <a:srgbClr val="666666"/>
                </a:solidFill>
                <a:latin typeface="Consolas"/>
                <a:ea typeface="Calibri"/>
                <a:cs typeface="Calibri"/>
              </a:rPr>
              <a:t>cust_id</a:t>
            </a:r>
            <a:r>
              <a:rPr lang="en-US" sz="1200" dirty="0">
                <a:solidFill>
                  <a:srgbClr val="666666"/>
                </a:solidFill>
                <a:latin typeface="Consolas"/>
                <a:ea typeface="Calibri"/>
                <a:cs typeface="Calibri"/>
              </a:rPr>
              <a:t> = 10</a:t>
            </a:r>
            <a:r>
              <a:rPr lang="en-US" sz="1200" dirty="0">
                <a:solidFill>
                  <a:srgbClr val="666666"/>
                </a:solidFill>
                <a:ea typeface="+mn-lt"/>
                <a:cs typeface="+mn-lt"/>
              </a:rPr>
              <a:t> from the </a:t>
            </a:r>
            <a:r>
              <a:rPr lang="en-US" sz="1200" dirty="0">
                <a:solidFill>
                  <a:srgbClr val="666666"/>
                </a:solidFill>
                <a:latin typeface="Consolas"/>
                <a:ea typeface="Calibri"/>
                <a:cs typeface="Calibri"/>
              </a:rPr>
              <a:t>customer</a:t>
            </a:r>
            <a:r>
              <a:rPr lang="en-US" sz="1200" dirty="0">
                <a:solidFill>
                  <a:srgbClr val="666666"/>
                </a:solidFill>
                <a:ea typeface="+mn-lt"/>
                <a:cs typeface="+mn-lt"/>
              </a:rPr>
              <a:t> table. This deletion likely </a:t>
            </a:r>
            <a:r>
              <a:rPr lang="en-US" sz="1200" b="1" dirty="0">
                <a:solidFill>
                  <a:srgbClr val="666666"/>
                </a:solidFill>
                <a:ea typeface="+mn-lt"/>
                <a:cs typeface="+mn-lt"/>
              </a:rPr>
              <a:t>removed a duplicate email entry</a:t>
            </a:r>
            <a:r>
              <a:rPr lang="en-US" sz="1200" dirty="0">
                <a:solidFill>
                  <a:srgbClr val="666666"/>
                </a:solidFill>
                <a:ea typeface="+mn-lt"/>
                <a:cs typeface="+mn-lt"/>
              </a:rPr>
              <a:t> that was causing the previous operation to fail. Following the deletion, I successfully executed the </a:t>
            </a:r>
            <a:r>
              <a:rPr lang="en-US" sz="1200" b="1" dirty="0">
                <a:solidFill>
                  <a:srgbClr val="666666"/>
                </a:solidFill>
                <a:latin typeface="Consolas"/>
                <a:ea typeface="Calibri"/>
                <a:cs typeface="Calibri"/>
              </a:rPr>
              <a:t>ALTER TABLE</a:t>
            </a:r>
            <a:r>
              <a:rPr lang="en-US" sz="1200" dirty="0">
                <a:solidFill>
                  <a:srgbClr val="666666"/>
                </a:solidFill>
                <a:ea typeface="+mn-lt"/>
                <a:cs typeface="+mn-lt"/>
              </a:rPr>
              <a:t> statement to </a:t>
            </a:r>
            <a:r>
              <a:rPr lang="en-US" sz="1200" b="1" dirty="0">
                <a:solidFill>
                  <a:srgbClr val="666666"/>
                </a:solidFill>
                <a:ea typeface="+mn-lt"/>
                <a:cs typeface="+mn-lt"/>
              </a:rPr>
              <a:t>add a UNIQUE index</a:t>
            </a:r>
            <a:r>
              <a:rPr lang="en-US" sz="1200" dirty="0">
                <a:solidFill>
                  <a:srgbClr val="666666"/>
                </a:solidFill>
                <a:ea typeface="+mn-lt"/>
                <a:cs typeface="+mn-lt"/>
              </a:rPr>
              <a:t> (</a:t>
            </a:r>
            <a:r>
              <a:rPr lang="en-US" sz="1200" dirty="0" err="1">
                <a:solidFill>
                  <a:srgbClr val="666666"/>
                </a:solidFill>
                <a:latin typeface="Consolas"/>
                <a:ea typeface="Calibri"/>
                <a:cs typeface="Calibri"/>
              </a:rPr>
              <a:t>idx_customer</a:t>
            </a:r>
            <a:r>
              <a:rPr lang="en-US" sz="1200" dirty="0">
                <a:solidFill>
                  <a:srgbClr val="666666"/>
                </a:solidFill>
                <a:ea typeface="+mn-lt"/>
                <a:cs typeface="+mn-lt"/>
              </a:rPr>
              <a:t>) to the </a:t>
            </a:r>
            <a:r>
              <a:rPr lang="en-US" sz="1200" b="1" dirty="0">
                <a:solidFill>
                  <a:srgbClr val="666666"/>
                </a:solidFill>
                <a:latin typeface="Consolas"/>
                <a:ea typeface="Calibri"/>
                <a:cs typeface="Calibri"/>
              </a:rPr>
              <a:t>email</a:t>
            </a:r>
            <a:r>
              <a:rPr lang="en-US" sz="1200" dirty="0">
                <a:solidFill>
                  <a:srgbClr val="666666"/>
                </a:solidFill>
                <a:ea typeface="+mn-lt"/>
                <a:cs typeface="+mn-lt"/>
              </a:rPr>
              <a:t> column. This ensures all future entries into the </a:t>
            </a:r>
            <a:r>
              <a:rPr lang="en-US" sz="1200" dirty="0">
                <a:solidFill>
                  <a:srgbClr val="666666"/>
                </a:solidFill>
                <a:latin typeface="Consolas"/>
                <a:ea typeface="Calibri"/>
                <a:cs typeface="Calibri"/>
              </a:rPr>
              <a:t>customer</a:t>
            </a:r>
            <a:r>
              <a:rPr lang="en-US" sz="1200" dirty="0">
                <a:solidFill>
                  <a:srgbClr val="666666"/>
                </a:solidFill>
                <a:ea typeface="+mn-lt"/>
                <a:cs typeface="+mn-lt"/>
              </a:rPr>
              <a:t> table will have a unique email address, enforcing </a:t>
            </a:r>
            <a:r>
              <a:rPr lang="en-US" sz="1200" b="1" dirty="0">
                <a:solidFill>
                  <a:srgbClr val="666666"/>
                </a:solidFill>
                <a:ea typeface="+mn-lt"/>
                <a:cs typeface="+mn-lt"/>
              </a:rPr>
              <a:t>data integrity</a:t>
            </a:r>
            <a:r>
              <a:rPr lang="en-US" sz="1200" dirty="0">
                <a:solidFill>
                  <a:srgbClr val="666666"/>
                </a:solidFill>
                <a:ea typeface="+mn-lt"/>
                <a:cs typeface="+mn-lt"/>
              </a:rPr>
              <a:t>.</a:t>
            </a:r>
            <a:endParaRPr lang="en-US" dirty="0"/>
          </a:p>
        </p:txBody>
      </p:sp>
    </p:spTree>
    <p:extLst>
      <p:ext uri="{BB962C8B-B14F-4D97-AF65-F5344CB8AC3E}">
        <p14:creationId xmlns:p14="http://schemas.microsoft.com/office/powerpoint/2010/main" val="3353574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682E0-14B6-A374-45A6-EA27F4CE3E1B}"/>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FE57C342-B5AE-3654-28AF-50B2782FD22D}"/>
              </a:ext>
            </a:extLst>
          </p:cNvPr>
          <p:cNvSpPr>
            <a:spLocks noGrp="1"/>
          </p:cNvSpPr>
          <p:nvPr>
            <p:ph type="title"/>
          </p:nvPr>
        </p:nvSpPr>
        <p:spPr>
          <a:xfrm>
            <a:off x="831850" y="1047751"/>
            <a:ext cx="10515600" cy="1500187"/>
          </a:xfrm>
        </p:spPr>
        <p:txBody>
          <a:bodyPr/>
          <a:lstStyle/>
          <a:p>
            <a:r>
              <a:rPr lang="en-US" dirty="0"/>
              <a:t>6. INSERT DUPLICATE EMAIL AGAIN</a:t>
            </a:r>
          </a:p>
        </p:txBody>
      </p:sp>
      <p:pic>
        <p:nvPicPr>
          <p:cNvPr id="3" name="Picture 2">
            <a:extLst>
              <a:ext uri="{FF2B5EF4-FFF2-40B4-BE49-F238E27FC236}">
                <a16:creationId xmlns:a16="http://schemas.microsoft.com/office/drawing/2014/main" id="{5A7E5937-F4F9-8F88-78D5-3017C6E4D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2" name="Picture 1">
            <a:extLst>
              <a:ext uri="{FF2B5EF4-FFF2-40B4-BE49-F238E27FC236}">
                <a16:creationId xmlns:a16="http://schemas.microsoft.com/office/drawing/2014/main" id="{6565EE93-0A31-860A-9906-DD46B9E71915}"/>
              </a:ext>
            </a:extLst>
          </p:cNvPr>
          <p:cNvPicPr>
            <a:picLocks noChangeAspect="1"/>
          </p:cNvPicPr>
          <p:nvPr/>
        </p:nvPicPr>
        <p:blipFill>
          <a:blip r:embed="rId3"/>
          <a:stretch>
            <a:fillRect/>
          </a:stretch>
        </p:blipFill>
        <p:spPr>
          <a:xfrm>
            <a:off x="1163293" y="2118237"/>
            <a:ext cx="4733311" cy="1310763"/>
          </a:xfrm>
          <a:prstGeom prst="rect">
            <a:avLst/>
          </a:prstGeom>
        </p:spPr>
      </p:pic>
      <p:pic>
        <p:nvPicPr>
          <p:cNvPr id="6" name="Picture 5">
            <a:extLst>
              <a:ext uri="{FF2B5EF4-FFF2-40B4-BE49-F238E27FC236}">
                <a16:creationId xmlns:a16="http://schemas.microsoft.com/office/drawing/2014/main" id="{5C20BCEE-9D11-7DCE-09F1-FE59AEBAB10C}"/>
              </a:ext>
            </a:extLst>
          </p:cNvPr>
          <p:cNvPicPr>
            <a:picLocks noChangeAspect="1"/>
          </p:cNvPicPr>
          <p:nvPr/>
        </p:nvPicPr>
        <p:blipFill>
          <a:blip r:embed="rId4"/>
          <a:stretch>
            <a:fillRect/>
          </a:stretch>
        </p:blipFill>
        <p:spPr>
          <a:xfrm>
            <a:off x="1017985" y="3840829"/>
            <a:ext cx="8293991" cy="229725"/>
          </a:xfrm>
          <a:prstGeom prst="rect">
            <a:avLst/>
          </a:prstGeom>
        </p:spPr>
      </p:pic>
      <p:sp>
        <p:nvSpPr>
          <p:cNvPr id="7" name="TextBox 6">
            <a:extLst>
              <a:ext uri="{FF2B5EF4-FFF2-40B4-BE49-F238E27FC236}">
                <a16:creationId xmlns:a16="http://schemas.microsoft.com/office/drawing/2014/main" id="{3DAB3DCA-C414-0E0B-6DA1-6ED97CF5F730}"/>
              </a:ext>
            </a:extLst>
          </p:cNvPr>
          <p:cNvSpPr txBox="1"/>
          <p:nvPr/>
        </p:nvSpPr>
        <p:spPr>
          <a:xfrm>
            <a:off x="1017985" y="4499486"/>
            <a:ext cx="6598633" cy="1015663"/>
          </a:xfrm>
          <a:prstGeom prst="rect">
            <a:avLst/>
          </a:prstGeom>
          <a:noFill/>
        </p:spPr>
        <p:txBody>
          <a:bodyPr wrap="square" lIns="0" tIns="45720" rIns="0" bIns="45720" rtlCol="0" anchor="t">
            <a:spAutoFit/>
          </a:bodyPr>
          <a:lstStyle/>
          <a:p>
            <a:pPr algn="just"/>
            <a:r>
              <a:rPr lang="en-US" sz="1200" dirty="0">
                <a:solidFill>
                  <a:srgbClr val="666666"/>
                </a:solidFill>
                <a:ea typeface="+mn-lt"/>
                <a:cs typeface="+mn-lt"/>
              </a:rPr>
              <a:t>This step was a </a:t>
            </a:r>
            <a:r>
              <a:rPr lang="en-US" sz="1200" b="1" dirty="0">
                <a:solidFill>
                  <a:srgbClr val="666666"/>
                </a:solidFill>
                <a:ea typeface="+mn-lt"/>
                <a:cs typeface="+mn-lt"/>
              </a:rPr>
              <a:t>test</a:t>
            </a:r>
            <a:r>
              <a:rPr lang="en-US" sz="1200" dirty="0">
                <a:solidFill>
                  <a:srgbClr val="666666"/>
                </a:solidFill>
                <a:ea typeface="+mn-lt"/>
                <a:cs typeface="+mn-lt"/>
              </a:rPr>
              <a:t> designed to show that the </a:t>
            </a:r>
            <a:r>
              <a:rPr lang="en-US" sz="1200" b="1" dirty="0">
                <a:solidFill>
                  <a:srgbClr val="666666"/>
                </a:solidFill>
                <a:ea typeface="+mn-lt"/>
                <a:cs typeface="+mn-lt"/>
              </a:rPr>
              <a:t>UNIQUE index</a:t>
            </a:r>
            <a:r>
              <a:rPr lang="en-US" sz="1200" dirty="0">
                <a:solidFill>
                  <a:srgbClr val="666666"/>
                </a:solidFill>
                <a:ea typeface="+mn-lt"/>
                <a:cs typeface="+mn-lt"/>
              </a:rPr>
              <a:t> added to the </a:t>
            </a:r>
            <a:r>
              <a:rPr lang="en-US" sz="1200" dirty="0">
                <a:solidFill>
                  <a:srgbClr val="666666"/>
                </a:solidFill>
                <a:latin typeface="Consolas"/>
                <a:ea typeface="Calibri"/>
                <a:cs typeface="Calibri"/>
              </a:rPr>
              <a:t>email</a:t>
            </a:r>
            <a:r>
              <a:rPr lang="en-US" sz="1200" dirty="0">
                <a:solidFill>
                  <a:srgbClr val="666666"/>
                </a:solidFill>
                <a:ea typeface="+mn-lt"/>
                <a:cs typeface="+mn-lt"/>
              </a:rPr>
              <a:t> column in the preceding steps is now </a:t>
            </a:r>
            <a:r>
              <a:rPr lang="en-US" sz="1200" b="1" dirty="0">
                <a:solidFill>
                  <a:srgbClr val="666666"/>
                </a:solidFill>
                <a:ea typeface="+mn-lt"/>
                <a:cs typeface="+mn-lt"/>
              </a:rPr>
              <a:t>working as intended</a:t>
            </a:r>
            <a:r>
              <a:rPr lang="en-US" sz="1200" dirty="0">
                <a:solidFill>
                  <a:srgbClr val="666666"/>
                </a:solidFill>
                <a:ea typeface="+mn-lt"/>
                <a:cs typeface="+mn-lt"/>
              </a:rPr>
              <a:t>. When I attempted to insert the email </a:t>
            </a:r>
            <a:r>
              <a:rPr lang="en-US" sz="1200" dirty="0">
                <a:solidFill>
                  <a:srgbClr val="666666"/>
                </a:solidFill>
                <a:latin typeface="Consolas"/>
                <a:ea typeface="Calibri"/>
                <a:cs typeface="Calibri"/>
              </a:rPr>
              <a:t>'woo04@gmail.com'</a:t>
            </a:r>
            <a:r>
              <a:rPr lang="en-US" sz="1200" dirty="0">
                <a:solidFill>
                  <a:srgbClr val="666666"/>
                </a:solidFill>
                <a:ea typeface="+mn-lt"/>
                <a:cs typeface="+mn-lt"/>
              </a:rPr>
              <a:t> (a value already present in the table), the database system immediately </a:t>
            </a:r>
            <a:r>
              <a:rPr lang="en-US" sz="1200" b="1" dirty="0">
                <a:solidFill>
                  <a:srgbClr val="666666"/>
                </a:solidFill>
                <a:ea typeface="+mn-lt"/>
                <a:cs typeface="+mn-lt"/>
              </a:rPr>
              <a:t>prevented the insertion</a:t>
            </a:r>
            <a:r>
              <a:rPr lang="en-US" sz="1200" dirty="0">
                <a:solidFill>
                  <a:srgbClr val="666666"/>
                </a:solidFill>
                <a:ea typeface="+mn-lt"/>
                <a:cs typeface="+mn-lt"/>
              </a:rPr>
              <a:t> and returned </a:t>
            </a:r>
            <a:r>
              <a:rPr lang="en-US" sz="1200" b="1" dirty="0">
                <a:solidFill>
                  <a:srgbClr val="666666"/>
                </a:solidFill>
                <a:ea typeface="+mn-lt"/>
                <a:cs typeface="+mn-lt"/>
              </a:rPr>
              <a:t>Error Code 1062</a:t>
            </a:r>
            <a:r>
              <a:rPr lang="en-US" sz="1200" dirty="0">
                <a:solidFill>
                  <a:srgbClr val="666666"/>
                </a:solidFill>
                <a:ea typeface="+mn-lt"/>
                <a:cs typeface="+mn-lt"/>
              </a:rPr>
              <a:t> (Duplicate entry). This confirms that the </a:t>
            </a:r>
            <a:r>
              <a:rPr lang="en-US" sz="1200" b="1" dirty="0">
                <a:solidFill>
                  <a:srgbClr val="666666"/>
                </a:solidFill>
                <a:ea typeface="+mn-lt"/>
                <a:cs typeface="+mn-lt"/>
              </a:rPr>
              <a:t>data integrity</a:t>
            </a:r>
            <a:r>
              <a:rPr lang="en-US" sz="1200" dirty="0">
                <a:solidFill>
                  <a:srgbClr val="666666"/>
                </a:solidFill>
                <a:ea typeface="+mn-lt"/>
                <a:cs typeface="+mn-lt"/>
              </a:rPr>
              <a:t> rule requiring unique customer emails is successfully enforced by the database.</a:t>
            </a:r>
            <a:endParaRPr lang="en-US" dirty="0"/>
          </a:p>
        </p:txBody>
      </p:sp>
    </p:spTree>
    <p:extLst>
      <p:ext uri="{BB962C8B-B14F-4D97-AF65-F5344CB8AC3E}">
        <p14:creationId xmlns:p14="http://schemas.microsoft.com/office/powerpoint/2010/main" val="368844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C5C78-AEDC-E44B-D58F-EFFF3F10E918}"/>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A1B3D0C1-8844-C8B6-BFE0-3FA269AC4DA2}"/>
              </a:ext>
            </a:extLst>
          </p:cNvPr>
          <p:cNvSpPr>
            <a:spLocks noGrp="1"/>
          </p:cNvSpPr>
          <p:nvPr>
            <p:ph type="title"/>
          </p:nvPr>
        </p:nvSpPr>
        <p:spPr>
          <a:xfrm>
            <a:off x="831850" y="1047751"/>
            <a:ext cx="10515600" cy="1500187"/>
          </a:xfrm>
        </p:spPr>
        <p:txBody>
          <a:bodyPr/>
          <a:lstStyle/>
          <a:p>
            <a:r>
              <a:rPr lang="en-US" dirty="0"/>
              <a:t>7. USE ‘SHOW INDEX FROM customer’ </a:t>
            </a:r>
          </a:p>
        </p:txBody>
      </p:sp>
      <p:pic>
        <p:nvPicPr>
          <p:cNvPr id="3" name="Picture 2">
            <a:extLst>
              <a:ext uri="{FF2B5EF4-FFF2-40B4-BE49-F238E27FC236}">
                <a16:creationId xmlns:a16="http://schemas.microsoft.com/office/drawing/2014/main" id="{2EDF3D25-D215-A346-35EB-988C357B6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7" name="TextBox 6">
            <a:extLst>
              <a:ext uri="{FF2B5EF4-FFF2-40B4-BE49-F238E27FC236}">
                <a16:creationId xmlns:a16="http://schemas.microsoft.com/office/drawing/2014/main" id="{0B31589D-246F-F9BA-7689-70EFEB60ADFC}"/>
              </a:ext>
            </a:extLst>
          </p:cNvPr>
          <p:cNvSpPr txBox="1"/>
          <p:nvPr/>
        </p:nvSpPr>
        <p:spPr>
          <a:xfrm>
            <a:off x="1215223" y="4402001"/>
            <a:ext cx="9646633" cy="1754326"/>
          </a:xfrm>
          <a:prstGeom prst="rect">
            <a:avLst/>
          </a:prstGeom>
          <a:noFill/>
        </p:spPr>
        <p:txBody>
          <a:bodyPr wrap="square" lIns="0" tIns="45720" rIns="0" bIns="45720" rtlCol="0" anchor="t">
            <a:spAutoFit/>
          </a:bodyPr>
          <a:lstStyle/>
          <a:p>
            <a:r>
              <a:rPr lang="en-US" sz="1200" dirty="0">
                <a:solidFill>
                  <a:srgbClr val="666666"/>
                </a:solidFill>
                <a:ea typeface="+mn-lt"/>
                <a:cs typeface="+mn-lt"/>
              </a:rPr>
              <a:t>To resolve the duplicate email issue, I first executed a </a:t>
            </a:r>
            <a:r>
              <a:rPr lang="en-US" sz="1200" b="1" dirty="0">
                <a:solidFill>
                  <a:srgbClr val="666666"/>
                </a:solidFill>
                <a:latin typeface="Consolas"/>
                <a:ea typeface="Calibri"/>
                <a:cs typeface="Calibri"/>
              </a:rPr>
              <a:t>DELETE</a:t>
            </a:r>
            <a:r>
              <a:rPr lang="en-US" sz="1200" dirty="0">
                <a:solidFill>
                  <a:srgbClr val="666666"/>
                </a:solidFill>
                <a:ea typeface="+mn-lt"/>
                <a:cs typeface="+mn-lt"/>
              </a:rPr>
              <a:t> statement to remove the problematic record (</a:t>
            </a:r>
            <a:r>
              <a:rPr lang="en-US" sz="1200" dirty="0" err="1">
                <a:solidFill>
                  <a:srgbClr val="666666"/>
                </a:solidFill>
                <a:latin typeface="Consolas"/>
                <a:ea typeface="Calibri"/>
                <a:cs typeface="Calibri"/>
              </a:rPr>
              <a:t>cust_id</a:t>
            </a:r>
            <a:r>
              <a:rPr lang="en-US" sz="1200" dirty="0">
                <a:solidFill>
                  <a:srgbClr val="666666"/>
                </a:solidFill>
                <a:latin typeface="Consolas"/>
                <a:ea typeface="Calibri"/>
                <a:cs typeface="Calibri"/>
              </a:rPr>
              <a:t> = 10</a:t>
            </a:r>
            <a:r>
              <a:rPr lang="en-US" sz="1200" dirty="0">
                <a:solidFill>
                  <a:srgbClr val="666666"/>
                </a:solidFill>
                <a:ea typeface="+mn-lt"/>
                <a:cs typeface="+mn-lt"/>
              </a:rPr>
              <a:t>). This cleanup allowed the subsequent </a:t>
            </a:r>
            <a:r>
              <a:rPr lang="en-US" sz="1200" b="1" dirty="0">
                <a:solidFill>
                  <a:srgbClr val="666666"/>
                </a:solidFill>
                <a:latin typeface="Consolas"/>
                <a:ea typeface="Calibri"/>
                <a:cs typeface="Calibri"/>
              </a:rPr>
              <a:t>ALTER TABLE</a:t>
            </a:r>
            <a:r>
              <a:rPr lang="en-US" sz="1200" dirty="0">
                <a:solidFill>
                  <a:srgbClr val="666666"/>
                </a:solidFill>
                <a:ea typeface="+mn-lt"/>
                <a:cs typeface="+mn-lt"/>
              </a:rPr>
              <a:t> command to successfully add the </a:t>
            </a:r>
            <a:r>
              <a:rPr lang="en-US" sz="1200" b="1" dirty="0">
                <a:solidFill>
                  <a:srgbClr val="666666"/>
                </a:solidFill>
                <a:ea typeface="+mn-lt"/>
                <a:cs typeface="+mn-lt"/>
              </a:rPr>
              <a:t>UNIQUE index</a:t>
            </a:r>
            <a:r>
              <a:rPr lang="en-US" sz="1200" dirty="0">
                <a:solidFill>
                  <a:srgbClr val="666666"/>
                </a:solidFill>
                <a:ea typeface="+mn-lt"/>
                <a:cs typeface="+mn-lt"/>
              </a:rPr>
              <a:t> (</a:t>
            </a:r>
            <a:r>
              <a:rPr lang="en-US" sz="1200" dirty="0" err="1">
                <a:solidFill>
                  <a:srgbClr val="666666"/>
                </a:solidFill>
                <a:latin typeface="Consolas"/>
                <a:ea typeface="Calibri"/>
                <a:cs typeface="Calibri"/>
              </a:rPr>
              <a:t>idx_customer</a:t>
            </a:r>
            <a:r>
              <a:rPr lang="en-US" sz="1200" dirty="0">
                <a:solidFill>
                  <a:srgbClr val="666666"/>
                </a:solidFill>
                <a:ea typeface="+mn-lt"/>
                <a:cs typeface="+mn-lt"/>
              </a:rPr>
              <a:t>) to the </a:t>
            </a:r>
            <a:r>
              <a:rPr lang="en-US" sz="1200" dirty="0">
                <a:solidFill>
                  <a:srgbClr val="666666"/>
                </a:solidFill>
                <a:latin typeface="Consolas"/>
                <a:ea typeface="Calibri"/>
                <a:cs typeface="Calibri"/>
              </a:rPr>
              <a:t>email</a:t>
            </a:r>
            <a:r>
              <a:rPr lang="en-US" sz="1200" dirty="0">
                <a:solidFill>
                  <a:srgbClr val="666666"/>
                </a:solidFill>
                <a:ea typeface="+mn-lt"/>
                <a:cs typeface="+mn-lt"/>
              </a:rPr>
              <a:t> column, enforcing a rule that all future emails must be distinct.</a:t>
            </a:r>
            <a:endParaRPr lang="en-US" dirty="0">
              <a:ea typeface="Calibri" panose="020F0502020204030204"/>
              <a:cs typeface="Calibri" panose="020F0502020204030204"/>
            </a:endParaRPr>
          </a:p>
          <a:p>
            <a:r>
              <a:rPr lang="en-US" sz="1200" dirty="0">
                <a:solidFill>
                  <a:srgbClr val="666666"/>
                </a:solidFill>
                <a:ea typeface="+mn-lt"/>
                <a:cs typeface="+mn-lt"/>
              </a:rPr>
              <a:t>To test this new constraint, I attempted to </a:t>
            </a:r>
            <a:r>
              <a:rPr lang="en-US" sz="1200" b="1" dirty="0">
                <a:solidFill>
                  <a:srgbClr val="666666"/>
                </a:solidFill>
                <a:latin typeface="Consolas"/>
                <a:ea typeface="Calibri"/>
                <a:cs typeface="Calibri"/>
              </a:rPr>
              <a:t>INSERT</a:t>
            </a:r>
            <a:r>
              <a:rPr lang="en-US" sz="1200" dirty="0">
                <a:solidFill>
                  <a:srgbClr val="666666"/>
                </a:solidFill>
                <a:ea typeface="+mn-lt"/>
                <a:cs typeface="+mn-lt"/>
              </a:rPr>
              <a:t> a record with a known duplicate email (</a:t>
            </a:r>
            <a:r>
              <a:rPr lang="en-US" sz="1200" dirty="0">
                <a:solidFill>
                  <a:srgbClr val="666666"/>
                </a:solidFill>
                <a:latin typeface="Consolas"/>
                <a:ea typeface="Calibri"/>
                <a:cs typeface="Calibri"/>
              </a:rPr>
              <a:t>'</a:t>
            </a:r>
            <a:r>
              <a:rPr lang="en-US" sz="1200" dirty="0">
                <a:solidFill>
                  <a:srgbClr val="666666"/>
                </a:solidFill>
                <a:latin typeface="Consolas"/>
                <a:ea typeface="Calibri"/>
                <a:cs typeface="Calibri"/>
                <a:hlinkClick r:id="rId3"/>
              </a:rPr>
              <a:t>woo04@gmail.com</a:t>
            </a:r>
            <a:r>
              <a:rPr lang="en-US" sz="1200" dirty="0">
                <a:solidFill>
                  <a:srgbClr val="666666"/>
                </a:solidFill>
                <a:latin typeface="Consolas"/>
                <a:ea typeface="Calibri"/>
                <a:cs typeface="Calibri"/>
              </a:rPr>
              <a:t>'</a:t>
            </a:r>
            <a:r>
              <a:rPr lang="en-US" sz="1200" dirty="0">
                <a:solidFill>
                  <a:srgbClr val="666666"/>
                </a:solidFill>
                <a:ea typeface="+mn-lt"/>
                <a:cs typeface="+mn-lt"/>
              </a:rPr>
              <a:t>). As intended, the database </a:t>
            </a:r>
            <a:r>
              <a:rPr lang="en-US" sz="1200" b="1" dirty="0">
                <a:solidFill>
                  <a:srgbClr val="666666"/>
                </a:solidFill>
                <a:ea typeface="+mn-lt"/>
                <a:cs typeface="+mn-lt"/>
              </a:rPr>
              <a:t>blocked the operation</a:t>
            </a:r>
            <a:r>
              <a:rPr lang="en-US" sz="1200" dirty="0">
                <a:solidFill>
                  <a:srgbClr val="666666"/>
                </a:solidFill>
                <a:ea typeface="+mn-lt"/>
                <a:cs typeface="+mn-lt"/>
              </a:rPr>
              <a:t> and returned </a:t>
            </a:r>
            <a:r>
              <a:rPr lang="en-US" sz="1200" b="1" dirty="0">
                <a:solidFill>
                  <a:srgbClr val="666666"/>
                </a:solidFill>
                <a:ea typeface="+mn-lt"/>
                <a:cs typeface="+mn-lt"/>
              </a:rPr>
              <a:t>Error Code 1062</a:t>
            </a:r>
            <a:r>
              <a:rPr lang="en-US" sz="1200" dirty="0">
                <a:solidFill>
                  <a:srgbClr val="666666"/>
                </a:solidFill>
                <a:ea typeface="+mn-lt"/>
                <a:cs typeface="+mn-lt"/>
              </a:rPr>
              <a:t>, confirming the constraint was active.</a:t>
            </a:r>
            <a:endParaRPr lang="en-US" dirty="0">
              <a:ea typeface="Calibri" panose="020F0502020204030204"/>
              <a:cs typeface="Calibri" panose="020F0502020204030204"/>
            </a:endParaRPr>
          </a:p>
          <a:p>
            <a:r>
              <a:rPr lang="en-US" sz="1200" dirty="0">
                <a:solidFill>
                  <a:srgbClr val="666666"/>
                </a:solidFill>
                <a:ea typeface="+mn-lt"/>
                <a:cs typeface="+mn-lt"/>
              </a:rPr>
              <a:t>Finally, the </a:t>
            </a:r>
            <a:r>
              <a:rPr lang="en-US" sz="1200" b="1" dirty="0">
                <a:solidFill>
                  <a:srgbClr val="666666"/>
                </a:solidFill>
                <a:latin typeface="Consolas"/>
                <a:ea typeface="Calibri"/>
                <a:cs typeface="Calibri"/>
              </a:rPr>
              <a:t>SHOW INDEX FROM customer;</a:t>
            </a:r>
            <a:r>
              <a:rPr lang="en-US" sz="1200" dirty="0">
                <a:solidFill>
                  <a:srgbClr val="666666"/>
                </a:solidFill>
                <a:ea typeface="+mn-lt"/>
                <a:cs typeface="+mn-lt"/>
              </a:rPr>
              <a:t> command was used to verify the table structure. The output confirmed the existence of both the </a:t>
            </a:r>
            <a:r>
              <a:rPr lang="en-US" sz="1200" b="1" dirty="0">
                <a:solidFill>
                  <a:srgbClr val="666666"/>
                </a:solidFill>
                <a:latin typeface="Consolas"/>
                <a:ea typeface="Calibri"/>
                <a:cs typeface="Calibri"/>
              </a:rPr>
              <a:t>PRIMARY</a:t>
            </a:r>
            <a:r>
              <a:rPr lang="en-US" sz="1200" dirty="0">
                <a:solidFill>
                  <a:srgbClr val="666666"/>
                </a:solidFill>
                <a:ea typeface="+mn-lt"/>
                <a:cs typeface="+mn-lt"/>
              </a:rPr>
              <a:t> key and the new </a:t>
            </a:r>
            <a:r>
              <a:rPr lang="en-US" sz="1200" b="1" dirty="0" err="1">
                <a:solidFill>
                  <a:srgbClr val="666666"/>
                </a:solidFill>
                <a:latin typeface="Consolas"/>
                <a:ea typeface="Calibri"/>
                <a:cs typeface="Calibri"/>
              </a:rPr>
              <a:t>idx_customer</a:t>
            </a:r>
            <a:r>
              <a:rPr lang="en-US" sz="1200" dirty="0">
                <a:solidFill>
                  <a:srgbClr val="666666"/>
                </a:solidFill>
                <a:ea typeface="+mn-lt"/>
                <a:cs typeface="+mn-lt"/>
              </a:rPr>
              <a:t> (on the </a:t>
            </a:r>
            <a:r>
              <a:rPr lang="en-US" sz="1200" dirty="0">
                <a:solidFill>
                  <a:srgbClr val="666666"/>
                </a:solidFill>
                <a:latin typeface="Consolas"/>
                <a:ea typeface="Calibri"/>
                <a:cs typeface="Calibri"/>
              </a:rPr>
              <a:t>email</a:t>
            </a:r>
            <a:r>
              <a:rPr lang="en-US" sz="1200" dirty="0">
                <a:solidFill>
                  <a:srgbClr val="666666"/>
                </a:solidFill>
                <a:ea typeface="+mn-lt"/>
                <a:cs typeface="+mn-lt"/>
              </a:rPr>
              <a:t> column), both reporting a </a:t>
            </a:r>
            <a:r>
              <a:rPr lang="en-US" sz="1200" b="1" dirty="0" err="1">
                <a:solidFill>
                  <a:srgbClr val="666666"/>
                </a:solidFill>
                <a:latin typeface="Consolas"/>
                <a:ea typeface="Calibri"/>
                <a:cs typeface="Calibri"/>
              </a:rPr>
              <a:t>non_unique</a:t>
            </a:r>
            <a:r>
              <a:rPr lang="en-US" sz="1200" dirty="0">
                <a:solidFill>
                  <a:srgbClr val="666666"/>
                </a:solidFill>
                <a:ea typeface="+mn-lt"/>
                <a:cs typeface="+mn-lt"/>
              </a:rPr>
              <a:t> value of </a:t>
            </a:r>
            <a:r>
              <a:rPr lang="en-US" sz="1200" b="1" dirty="0">
                <a:solidFill>
                  <a:srgbClr val="666666"/>
                </a:solidFill>
                <a:ea typeface="+mn-lt"/>
                <a:cs typeface="+mn-lt"/>
              </a:rPr>
              <a:t>0</a:t>
            </a:r>
            <a:r>
              <a:rPr lang="en-US" sz="1200" dirty="0">
                <a:solidFill>
                  <a:srgbClr val="666666"/>
                </a:solidFill>
                <a:ea typeface="+mn-lt"/>
                <a:cs typeface="+mn-lt"/>
              </a:rPr>
              <a:t>. This final step confirmed that data integrity is now actively secured by the database.</a:t>
            </a:r>
            <a:endParaRPr lang="en-US" dirty="0">
              <a:ea typeface="Calibri" panose="020F0502020204030204"/>
              <a:cs typeface="Calibri" panose="020F0502020204030204"/>
            </a:endParaRPr>
          </a:p>
          <a:p>
            <a:pPr algn="ctr"/>
            <a:endParaRPr lang="en-US" sz="1200" dirty="0">
              <a:solidFill>
                <a:srgbClr val="666666"/>
              </a:solidFill>
              <a:ea typeface="Calibri"/>
              <a:cs typeface="Calibri"/>
            </a:endParaRPr>
          </a:p>
        </p:txBody>
      </p:sp>
      <p:pic>
        <p:nvPicPr>
          <p:cNvPr id="4" name="Picture 3">
            <a:extLst>
              <a:ext uri="{FF2B5EF4-FFF2-40B4-BE49-F238E27FC236}">
                <a16:creationId xmlns:a16="http://schemas.microsoft.com/office/drawing/2014/main" id="{1B35D56C-49A3-E0AC-DF46-8F3312358761}"/>
              </a:ext>
            </a:extLst>
          </p:cNvPr>
          <p:cNvPicPr>
            <a:picLocks noChangeAspect="1"/>
          </p:cNvPicPr>
          <p:nvPr/>
        </p:nvPicPr>
        <p:blipFill>
          <a:blip r:embed="rId4"/>
          <a:stretch>
            <a:fillRect/>
          </a:stretch>
        </p:blipFill>
        <p:spPr>
          <a:xfrm>
            <a:off x="1215223" y="2024063"/>
            <a:ext cx="4273138" cy="699472"/>
          </a:xfrm>
          <a:prstGeom prst="rect">
            <a:avLst/>
          </a:prstGeom>
        </p:spPr>
      </p:pic>
      <p:pic>
        <p:nvPicPr>
          <p:cNvPr id="5" name="Picture 4">
            <a:extLst>
              <a:ext uri="{FF2B5EF4-FFF2-40B4-BE49-F238E27FC236}">
                <a16:creationId xmlns:a16="http://schemas.microsoft.com/office/drawing/2014/main" id="{13A4D968-B335-E4C1-8A34-347CF07F22E0}"/>
              </a:ext>
            </a:extLst>
          </p:cNvPr>
          <p:cNvPicPr>
            <a:picLocks noChangeAspect="1"/>
          </p:cNvPicPr>
          <p:nvPr/>
        </p:nvPicPr>
        <p:blipFill>
          <a:blip r:embed="rId5"/>
          <a:stretch>
            <a:fillRect/>
          </a:stretch>
        </p:blipFill>
        <p:spPr>
          <a:xfrm>
            <a:off x="1333772" y="2928382"/>
            <a:ext cx="9165994" cy="1102844"/>
          </a:xfrm>
          <a:prstGeom prst="rect">
            <a:avLst/>
          </a:prstGeom>
        </p:spPr>
      </p:pic>
    </p:spTree>
    <p:extLst>
      <p:ext uri="{BB962C8B-B14F-4D97-AF65-F5344CB8AC3E}">
        <p14:creationId xmlns:p14="http://schemas.microsoft.com/office/powerpoint/2010/main" val="68394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7635-A225-A1B4-583D-F7DCC5D70A6E}"/>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B4E29451-BA4A-325E-9BB2-B28B9AA0F656}"/>
              </a:ext>
            </a:extLst>
          </p:cNvPr>
          <p:cNvSpPr>
            <a:spLocks noGrp="1"/>
          </p:cNvSpPr>
          <p:nvPr>
            <p:ph type="title"/>
          </p:nvPr>
        </p:nvSpPr>
        <p:spPr>
          <a:xfrm>
            <a:off x="831850" y="1047751"/>
            <a:ext cx="10515600" cy="1500187"/>
          </a:xfrm>
        </p:spPr>
        <p:txBody>
          <a:bodyPr/>
          <a:lstStyle/>
          <a:p>
            <a:r>
              <a:rPr lang="en-US" dirty="0"/>
              <a:t>8. HOW A UNIQUE INDEX IMPROVES LOOKUP PERFROMANCE?</a:t>
            </a:r>
          </a:p>
        </p:txBody>
      </p:sp>
      <p:pic>
        <p:nvPicPr>
          <p:cNvPr id="3" name="Picture 2">
            <a:extLst>
              <a:ext uri="{FF2B5EF4-FFF2-40B4-BE49-F238E27FC236}">
                <a16:creationId xmlns:a16="http://schemas.microsoft.com/office/drawing/2014/main" id="{F4850D56-FCFC-4BEA-7C1D-D45C47C29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2" name="TextBox 1">
            <a:extLst>
              <a:ext uri="{FF2B5EF4-FFF2-40B4-BE49-F238E27FC236}">
                <a16:creationId xmlns:a16="http://schemas.microsoft.com/office/drawing/2014/main" id="{9BFFF346-4962-C5BA-12FB-75492FBB1340}"/>
              </a:ext>
            </a:extLst>
          </p:cNvPr>
          <p:cNvSpPr txBox="1"/>
          <p:nvPr/>
        </p:nvSpPr>
        <p:spPr>
          <a:xfrm>
            <a:off x="1406375" y="2561231"/>
            <a:ext cx="9526408" cy="2800767"/>
          </a:xfrm>
          <a:prstGeom prst="rect">
            <a:avLst/>
          </a:prstGeom>
          <a:noFill/>
        </p:spPr>
        <p:txBody>
          <a:bodyPr wrap="square" lIns="0" tIns="45720" rIns="0" bIns="45720" rtlCol="0" anchor="t">
            <a:spAutoFit/>
          </a:bodyPr>
          <a:lstStyle/>
          <a:p>
            <a:pPr algn="just"/>
            <a:r>
              <a:rPr lang="en-US" sz="1600" dirty="0">
                <a:solidFill>
                  <a:srgbClr val="666666"/>
                </a:solidFill>
                <a:ea typeface="+mn-lt"/>
                <a:cs typeface="+mn-lt"/>
              </a:rPr>
              <a:t>A unique index dramatically improves lookup performance by leveraging a highly efficient data structure, typically a </a:t>
            </a:r>
            <a:r>
              <a:rPr lang="en-US" sz="1600" b="1" dirty="0">
                <a:solidFill>
                  <a:srgbClr val="666666"/>
                </a:solidFill>
                <a:ea typeface="+mn-lt"/>
                <a:cs typeface="+mn-lt"/>
              </a:rPr>
              <a:t>B-Tree (Balanced Tree)</a:t>
            </a:r>
            <a:r>
              <a:rPr lang="en-US" sz="1600" dirty="0">
                <a:solidFill>
                  <a:srgbClr val="666666"/>
                </a:solidFill>
                <a:ea typeface="+mn-lt"/>
                <a:cs typeface="+mn-lt"/>
              </a:rPr>
              <a:t>. Instead of requiring the database to perform a slow </a:t>
            </a:r>
            <a:r>
              <a:rPr lang="en-US" sz="1600" b="1" dirty="0">
                <a:solidFill>
                  <a:srgbClr val="666666"/>
                </a:solidFill>
                <a:ea typeface="+mn-lt"/>
                <a:cs typeface="+mn-lt"/>
              </a:rPr>
              <a:t>full table scan</a:t>
            </a:r>
            <a:r>
              <a:rPr lang="en-US" sz="1600" dirty="0">
                <a:solidFill>
                  <a:srgbClr val="666666"/>
                </a:solidFill>
                <a:ea typeface="+mn-lt"/>
                <a:cs typeface="+mn-lt"/>
              </a:rPr>
              <a:t> (reading every single row) to find a record, the B-Tree organizes the indexed column's data (like email addresses) in a sorted, hierarchical structure.</a:t>
            </a:r>
            <a:endParaRPr lang="en-US" dirty="0"/>
          </a:p>
          <a:p>
            <a:pPr algn="just"/>
            <a:r>
              <a:rPr lang="en-US" sz="1600" dirty="0">
                <a:solidFill>
                  <a:srgbClr val="666666"/>
                </a:solidFill>
                <a:ea typeface="+mn-lt"/>
                <a:cs typeface="+mn-lt"/>
              </a:rPr>
              <a:t>When a search is performed, the database quickly </a:t>
            </a:r>
            <a:r>
              <a:rPr lang="en-US" sz="1600" b="1" dirty="0">
                <a:solidFill>
                  <a:srgbClr val="666666"/>
                </a:solidFill>
                <a:ea typeface="+mn-lt"/>
                <a:cs typeface="+mn-lt"/>
              </a:rPr>
              <a:t>traverses the B-Tree</a:t>
            </a:r>
            <a:r>
              <a:rPr lang="en-US" sz="1600" dirty="0">
                <a:solidFill>
                  <a:srgbClr val="666666"/>
                </a:solidFill>
                <a:ea typeface="+mn-lt"/>
                <a:cs typeface="+mn-lt"/>
              </a:rPr>
              <a:t> from the root down to the leaf nodes. This </a:t>
            </a:r>
            <a:r>
              <a:rPr lang="en-US" sz="1600" b="1" dirty="0">
                <a:solidFill>
                  <a:srgbClr val="666666"/>
                </a:solidFill>
                <a:ea typeface="+mn-lt"/>
                <a:cs typeface="+mn-lt"/>
              </a:rPr>
              <a:t>logarithmic time complexity O(log n)</a:t>
            </a:r>
            <a:r>
              <a:rPr lang="en-US" sz="1600" dirty="0">
                <a:solidFill>
                  <a:srgbClr val="666666"/>
                </a:solidFill>
                <a:ea typeface="+mn-lt"/>
                <a:cs typeface="+mn-lt"/>
              </a:rPr>
              <a:t> ensures that the time required for a lookup remains minimal, even as the table grows to millions of records. Furthermore, the index's </a:t>
            </a:r>
            <a:r>
              <a:rPr lang="en-US" sz="1600" b="1" dirty="0">
                <a:solidFill>
                  <a:srgbClr val="666666"/>
                </a:solidFill>
                <a:ea typeface="+mn-lt"/>
                <a:cs typeface="+mn-lt"/>
              </a:rPr>
              <a:t>unique constraint</a:t>
            </a:r>
            <a:r>
              <a:rPr lang="en-US" sz="1600" dirty="0">
                <a:solidFill>
                  <a:srgbClr val="666666"/>
                </a:solidFill>
                <a:ea typeface="+mn-lt"/>
                <a:cs typeface="+mn-lt"/>
              </a:rPr>
              <a:t> is key: once the database finds the single matching entry (e.g., a specific email), it immediately </a:t>
            </a:r>
            <a:r>
              <a:rPr lang="en-US" sz="1600" b="1" dirty="0">
                <a:solidFill>
                  <a:srgbClr val="666666"/>
                </a:solidFill>
                <a:ea typeface="+mn-lt"/>
                <a:cs typeface="+mn-lt"/>
              </a:rPr>
              <a:t>stops searching</a:t>
            </a:r>
            <a:r>
              <a:rPr lang="en-US" sz="1600" dirty="0">
                <a:solidFill>
                  <a:srgbClr val="666666"/>
                </a:solidFill>
                <a:ea typeface="+mn-lt"/>
                <a:cs typeface="+mn-lt"/>
              </a:rPr>
              <a:t>, retrieves the pointer to the full row's data, and fetches the complete record. This combination of a highly organized structure and a guaranteed stopping condition makes indexed lookups significantly faster than unindexed lookups.</a:t>
            </a:r>
            <a:endParaRPr lang="en-US" dirty="0"/>
          </a:p>
          <a:p>
            <a:pPr algn="just"/>
            <a:endParaRPr lang="en-US" sz="1600" dirty="0">
              <a:solidFill>
                <a:srgbClr val="666666"/>
              </a:solidFill>
              <a:ea typeface="+mn-lt"/>
              <a:cs typeface="+mn-lt"/>
            </a:endParaRPr>
          </a:p>
        </p:txBody>
      </p:sp>
    </p:spTree>
    <p:extLst>
      <p:ext uri="{BB962C8B-B14F-4D97-AF65-F5344CB8AC3E}">
        <p14:creationId xmlns:p14="http://schemas.microsoft.com/office/powerpoint/2010/main" val="3633921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95066-EC78-24B7-0819-94474FEE71E4}"/>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3EEE6613-0842-1BDA-25DA-6BFD1C15E96B}"/>
              </a:ext>
            </a:extLst>
          </p:cNvPr>
          <p:cNvSpPr>
            <a:spLocks noGrp="1"/>
          </p:cNvSpPr>
          <p:nvPr>
            <p:ph type="title"/>
          </p:nvPr>
        </p:nvSpPr>
        <p:spPr>
          <a:xfrm>
            <a:off x="131873" y="445239"/>
            <a:ext cx="8380228" cy="560978"/>
          </a:xfrm>
        </p:spPr>
        <p:txBody>
          <a:bodyPr>
            <a:normAutofit fontScale="90000"/>
          </a:bodyPr>
          <a:lstStyle/>
          <a:p>
            <a:r>
              <a:rPr lang="en-US" dirty="0"/>
              <a:t>9. COMPARE QUERY PERFORMANCE</a:t>
            </a:r>
          </a:p>
        </p:txBody>
      </p:sp>
      <p:pic>
        <p:nvPicPr>
          <p:cNvPr id="3" name="Picture 2">
            <a:extLst>
              <a:ext uri="{FF2B5EF4-FFF2-40B4-BE49-F238E27FC236}">
                <a16:creationId xmlns:a16="http://schemas.microsoft.com/office/drawing/2014/main" id="{DA23F619-F323-99E1-677C-C0050E65C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4" name="Picture 3">
            <a:extLst>
              <a:ext uri="{FF2B5EF4-FFF2-40B4-BE49-F238E27FC236}">
                <a16:creationId xmlns:a16="http://schemas.microsoft.com/office/drawing/2014/main" id="{C1B90FE4-3B6D-2785-DCE5-44CB6D0CC8C7}"/>
              </a:ext>
            </a:extLst>
          </p:cNvPr>
          <p:cNvPicPr>
            <a:picLocks noChangeAspect="1"/>
          </p:cNvPicPr>
          <p:nvPr/>
        </p:nvPicPr>
        <p:blipFill>
          <a:blip r:embed="rId3"/>
          <a:stretch>
            <a:fillRect/>
          </a:stretch>
        </p:blipFill>
        <p:spPr>
          <a:xfrm>
            <a:off x="182129" y="1295044"/>
            <a:ext cx="5731510" cy="1368425"/>
          </a:xfrm>
          <a:prstGeom prst="rect">
            <a:avLst/>
          </a:prstGeom>
        </p:spPr>
      </p:pic>
      <p:pic>
        <p:nvPicPr>
          <p:cNvPr id="5" name="Picture 4">
            <a:extLst>
              <a:ext uri="{FF2B5EF4-FFF2-40B4-BE49-F238E27FC236}">
                <a16:creationId xmlns:a16="http://schemas.microsoft.com/office/drawing/2014/main" id="{3E2FE5AB-25B5-6F6F-31C3-14C410D9C7CA}"/>
              </a:ext>
            </a:extLst>
          </p:cNvPr>
          <p:cNvPicPr>
            <a:picLocks noChangeAspect="1"/>
          </p:cNvPicPr>
          <p:nvPr/>
        </p:nvPicPr>
        <p:blipFill>
          <a:blip r:embed="rId4"/>
          <a:stretch>
            <a:fillRect/>
          </a:stretch>
        </p:blipFill>
        <p:spPr>
          <a:xfrm>
            <a:off x="6322665" y="1359179"/>
            <a:ext cx="5731510" cy="1304290"/>
          </a:xfrm>
          <a:prstGeom prst="rect">
            <a:avLst/>
          </a:prstGeom>
        </p:spPr>
      </p:pic>
      <p:sp>
        <p:nvSpPr>
          <p:cNvPr id="9" name="TextBox 8">
            <a:extLst>
              <a:ext uri="{FF2B5EF4-FFF2-40B4-BE49-F238E27FC236}">
                <a16:creationId xmlns:a16="http://schemas.microsoft.com/office/drawing/2014/main" id="{88D3AB17-9471-F17F-1D4E-A332257286B7}"/>
              </a:ext>
            </a:extLst>
          </p:cNvPr>
          <p:cNvSpPr txBox="1"/>
          <p:nvPr/>
        </p:nvSpPr>
        <p:spPr>
          <a:xfrm>
            <a:off x="1490698" y="1011403"/>
            <a:ext cx="1557474" cy="282918"/>
          </a:xfrm>
          <a:prstGeom prst="rect">
            <a:avLst/>
          </a:prstGeom>
          <a:noFill/>
        </p:spPr>
        <p:txBody>
          <a:bodyPr wrap="square" lIns="0" rIns="0" rtlCol="0">
            <a:spAutoFit/>
          </a:bodyPr>
          <a:lstStyle/>
          <a:p>
            <a:pPr algn="ctr"/>
            <a:r>
              <a:rPr lang="en-US" sz="1200" b="1" i="0" dirty="0">
                <a:solidFill>
                  <a:srgbClr val="666666"/>
                </a:solidFill>
                <a:effectLst/>
              </a:rPr>
              <a:t>WITH INDEX</a:t>
            </a:r>
            <a:endParaRPr lang="en-US" sz="1200" b="1" dirty="0">
              <a:ea typeface="Roboto Condensed Light" panose="02000000000000000000" pitchFamily="2" charset="0"/>
              <a:cs typeface="Roboto Condensed Light" panose="02000000000000000000" pitchFamily="2" charset="0"/>
            </a:endParaRPr>
          </a:p>
        </p:txBody>
      </p:sp>
      <p:sp>
        <p:nvSpPr>
          <p:cNvPr id="10" name="TextBox 9">
            <a:extLst>
              <a:ext uri="{FF2B5EF4-FFF2-40B4-BE49-F238E27FC236}">
                <a16:creationId xmlns:a16="http://schemas.microsoft.com/office/drawing/2014/main" id="{2B290480-6314-40F0-8158-B4D2A1D30D3C}"/>
              </a:ext>
            </a:extLst>
          </p:cNvPr>
          <p:cNvSpPr txBox="1"/>
          <p:nvPr/>
        </p:nvSpPr>
        <p:spPr>
          <a:xfrm>
            <a:off x="8514737" y="1011403"/>
            <a:ext cx="1557474" cy="282918"/>
          </a:xfrm>
          <a:prstGeom prst="rect">
            <a:avLst/>
          </a:prstGeom>
          <a:noFill/>
        </p:spPr>
        <p:txBody>
          <a:bodyPr wrap="square" lIns="0" rIns="0" rtlCol="0">
            <a:spAutoFit/>
          </a:bodyPr>
          <a:lstStyle/>
          <a:p>
            <a:pPr algn="ctr"/>
            <a:r>
              <a:rPr lang="en-US" sz="1200" b="1" i="0" dirty="0">
                <a:solidFill>
                  <a:srgbClr val="666666"/>
                </a:solidFill>
                <a:effectLst/>
              </a:rPr>
              <a:t>WITHOUT INDEX</a:t>
            </a:r>
            <a:endParaRPr lang="en-US" sz="1200" b="1" dirty="0">
              <a:ea typeface="Roboto Condensed Light" panose="02000000000000000000" pitchFamily="2" charset="0"/>
              <a:cs typeface="Roboto Condensed Light" panose="02000000000000000000" pitchFamily="2" charset="0"/>
            </a:endParaRPr>
          </a:p>
        </p:txBody>
      </p:sp>
      <p:graphicFrame>
        <p:nvGraphicFramePr>
          <p:cNvPr id="13" name="Table 12">
            <a:extLst>
              <a:ext uri="{FF2B5EF4-FFF2-40B4-BE49-F238E27FC236}">
                <a16:creationId xmlns:a16="http://schemas.microsoft.com/office/drawing/2014/main" id="{174636C2-161D-B8F6-2C34-7CAEA65F687C}"/>
              </a:ext>
            </a:extLst>
          </p:cNvPr>
          <p:cNvGraphicFramePr>
            <a:graphicFrameLocks noGrp="1"/>
          </p:cNvGraphicFramePr>
          <p:nvPr>
            <p:extLst>
              <p:ext uri="{D42A27DB-BD31-4B8C-83A1-F6EECF244321}">
                <p14:modId xmlns:p14="http://schemas.microsoft.com/office/powerpoint/2010/main" val="977355656"/>
              </p:ext>
            </p:extLst>
          </p:nvPr>
        </p:nvGraphicFramePr>
        <p:xfrm>
          <a:off x="194930" y="2915093"/>
          <a:ext cx="11612662" cy="2865120"/>
        </p:xfrm>
        <a:graphic>
          <a:graphicData uri="http://schemas.openxmlformats.org/drawingml/2006/table">
            <a:tbl>
              <a:tblPr bandRow="1">
                <a:tableStyleId>{5C22544A-7EE6-4342-B048-85BDC9FD1C3A}</a:tableStyleId>
              </a:tblPr>
              <a:tblGrid>
                <a:gridCol w="3745894">
                  <a:extLst>
                    <a:ext uri="{9D8B030D-6E8A-4147-A177-3AD203B41FA5}">
                      <a16:colId xmlns:a16="http://schemas.microsoft.com/office/drawing/2014/main" val="233436554"/>
                    </a:ext>
                  </a:extLst>
                </a:gridCol>
                <a:gridCol w="3933384">
                  <a:extLst>
                    <a:ext uri="{9D8B030D-6E8A-4147-A177-3AD203B41FA5}">
                      <a16:colId xmlns:a16="http://schemas.microsoft.com/office/drawing/2014/main" val="3506667323"/>
                    </a:ext>
                  </a:extLst>
                </a:gridCol>
                <a:gridCol w="3933384">
                  <a:extLst>
                    <a:ext uri="{9D8B030D-6E8A-4147-A177-3AD203B41FA5}">
                      <a16:colId xmlns:a16="http://schemas.microsoft.com/office/drawing/2014/main" val="3667515758"/>
                    </a:ext>
                  </a:extLst>
                </a:gridCol>
              </a:tblGrid>
              <a:tr h="0">
                <a:tc>
                  <a:txBody>
                    <a:bodyPr/>
                    <a:lstStyle/>
                    <a:p>
                      <a:pPr rtl="0">
                        <a:buNone/>
                      </a:pPr>
                      <a:r>
                        <a:rPr lang="en-US" sz="1200" b="1" dirty="0">
                          <a:solidFill>
                            <a:srgbClr val="1B1C1D"/>
                          </a:solidFill>
                          <a:effectLst/>
                          <a:latin typeface="Google Sans Text"/>
                        </a:rPr>
                        <a:t>Feature</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Execution WITH Index (customer table)</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Execution WITHOUT Index (</a:t>
                      </a:r>
                      <a:r>
                        <a:rPr lang="en-US" sz="1200" b="1" err="1">
                          <a:solidFill>
                            <a:srgbClr val="1B1C1D"/>
                          </a:solidFill>
                          <a:effectLst/>
                          <a:latin typeface="Google Sans Text"/>
                        </a:rPr>
                        <a:t>customer_no_index</a:t>
                      </a:r>
                      <a:r>
                        <a:rPr lang="en-US" sz="1200" b="1" dirty="0">
                          <a:solidFill>
                            <a:srgbClr val="1B1C1D"/>
                          </a:solidFill>
                          <a:effectLst/>
                          <a:latin typeface="Google Sans Text"/>
                        </a:rPr>
                        <a:t> table)</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1753486995"/>
                  </a:ext>
                </a:extLst>
              </a:tr>
              <a:tr h="0">
                <a:tc>
                  <a:txBody>
                    <a:bodyPr/>
                    <a:lstStyle/>
                    <a:p>
                      <a:pPr rtl="0">
                        <a:buNone/>
                      </a:pPr>
                      <a:r>
                        <a:rPr lang="en-US" sz="1200" b="1" dirty="0">
                          <a:solidFill>
                            <a:srgbClr val="444746"/>
                          </a:solidFill>
                          <a:effectLst/>
                          <a:latin typeface="Google Sans Text"/>
                        </a:rPr>
                        <a:t>EXPLAIN</a:t>
                      </a:r>
                      <a:r>
                        <a:rPr lang="en-US" sz="1200" b="1" dirty="0">
                          <a:solidFill>
                            <a:srgbClr val="1B1C1D"/>
                          </a:solidFill>
                          <a:effectLst/>
                          <a:latin typeface="Google Sans Text"/>
                        </a:rPr>
                        <a:t> Type</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444746"/>
                          </a:solidFill>
                          <a:effectLst/>
                          <a:latin typeface="Google Sans Text"/>
                        </a:rPr>
                        <a:t>const</a:t>
                      </a:r>
                      <a:r>
                        <a:rPr lang="en-US" sz="1200" dirty="0">
                          <a:solidFill>
                            <a:srgbClr val="1B1C1D"/>
                          </a:solidFill>
                          <a:effectLst/>
                          <a:latin typeface="Google Sans Text"/>
                        </a:rPr>
                        <a:t> (Constant)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444746"/>
                          </a:solidFill>
                          <a:effectLst/>
                          <a:latin typeface="Google Sans Text"/>
                        </a:rPr>
                        <a:t>ALL</a:t>
                      </a:r>
                      <a:r>
                        <a:rPr lang="en-US" sz="1200" dirty="0">
                          <a:solidFill>
                            <a:srgbClr val="1B1C1D"/>
                          </a:solidFill>
                          <a:effectLst/>
                          <a:latin typeface="Google Sans Text"/>
                        </a:rPr>
                        <a:t> (Full Table Scan)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795702396"/>
                  </a:ext>
                </a:extLst>
              </a:tr>
              <a:tr h="0">
                <a:tc>
                  <a:txBody>
                    <a:bodyPr/>
                    <a:lstStyle/>
                    <a:p>
                      <a:pPr rtl="0">
                        <a:buNone/>
                      </a:pPr>
                      <a:r>
                        <a:rPr lang="en-US" sz="1200" b="1" dirty="0">
                          <a:solidFill>
                            <a:srgbClr val="1B1C1D"/>
                          </a:solidFill>
                          <a:effectLst/>
                          <a:latin typeface="Google Sans Text"/>
                        </a:rPr>
                        <a:t>Key Used</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err="1">
                          <a:solidFill>
                            <a:srgbClr val="444746"/>
                          </a:solidFill>
                          <a:effectLst/>
                          <a:latin typeface="Google Sans Text"/>
                        </a:rPr>
                        <a:t>idx_customer</a:t>
                      </a:r>
                      <a:r>
                        <a:rPr lang="en-US" sz="1200" dirty="0">
                          <a:solidFill>
                            <a:srgbClr val="1B1C1D"/>
                          </a:solidFill>
                          <a:effectLst/>
                          <a:latin typeface="Google Sans Text"/>
                        </a:rPr>
                        <a:t> (The Unique Index)</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dirty="0">
                          <a:solidFill>
                            <a:srgbClr val="444746"/>
                          </a:solidFill>
                          <a:effectLst/>
                          <a:latin typeface="Google Sans Text"/>
                        </a:rPr>
                        <a:t>NULL</a:t>
                      </a:r>
                      <a:r>
                        <a:rPr lang="en-US" sz="1200" dirty="0">
                          <a:solidFill>
                            <a:srgbClr val="1B1C1D"/>
                          </a:solidFill>
                          <a:effectLst/>
                          <a:latin typeface="Google Sans Text"/>
                        </a:rPr>
                        <a:t> (No index used)</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2875758206"/>
                  </a:ext>
                </a:extLst>
              </a:tr>
              <a:tr h="0">
                <a:tc>
                  <a:txBody>
                    <a:bodyPr/>
                    <a:lstStyle/>
                    <a:p>
                      <a:pPr rtl="0">
                        <a:buNone/>
                      </a:pPr>
                      <a:r>
                        <a:rPr lang="en-US" sz="1200" b="1" err="1">
                          <a:solidFill>
                            <a:srgbClr val="444746"/>
                          </a:solidFill>
                          <a:effectLst/>
                          <a:latin typeface="Google Sans Text"/>
                        </a:rPr>
                        <a:t>possible_keys</a:t>
                      </a:r>
                      <a:endParaRPr lang="en-US" sz="1200" err="1">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err="1">
                          <a:solidFill>
                            <a:srgbClr val="444746"/>
                          </a:solidFill>
                          <a:effectLst/>
                          <a:latin typeface="Google Sans Text"/>
                        </a:rPr>
                        <a:t>idx_customer</a:t>
                      </a:r>
                      <a:endParaRPr lang="en-US" sz="1200" err="1">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dirty="0">
                          <a:solidFill>
                            <a:srgbClr val="444746"/>
                          </a:solidFill>
                          <a:effectLst/>
                          <a:latin typeface="Google Sans Text"/>
                        </a:rPr>
                        <a:t>NULL</a:t>
                      </a:r>
                      <a:r>
                        <a:rPr lang="en-US" sz="1200" dirty="0">
                          <a:solidFill>
                            <a:srgbClr val="1B1C1D"/>
                          </a:solidFill>
                          <a:effectLst/>
                          <a:latin typeface="Google Sans Text"/>
                        </a:rPr>
                        <a:t> (No index available)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218445682"/>
                  </a:ext>
                </a:extLst>
              </a:tr>
              <a:tr h="0">
                <a:tc>
                  <a:txBody>
                    <a:bodyPr/>
                    <a:lstStyle/>
                    <a:p>
                      <a:pPr rtl="0">
                        <a:buNone/>
                      </a:pPr>
                      <a:r>
                        <a:rPr lang="en-US" sz="1200" b="1" dirty="0">
                          <a:solidFill>
                            <a:srgbClr val="1B1C1D"/>
                          </a:solidFill>
                          <a:effectLst/>
                          <a:latin typeface="Google Sans Text"/>
                        </a:rPr>
                        <a:t>Rows Examined</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1</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9</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2243215921"/>
                  </a:ext>
                </a:extLst>
              </a:tr>
              <a:tr h="0">
                <a:tc>
                  <a:txBody>
                    <a:bodyPr/>
                    <a:lstStyle/>
                    <a:p>
                      <a:pPr rtl="0">
                        <a:buNone/>
                      </a:pPr>
                      <a:r>
                        <a:rPr lang="en-US" sz="1200" b="1" dirty="0">
                          <a:solidFill>
                            <a:srgbClr val="444746"/>
                          </a:solidFill>
                          <a:effectLst/>
                          <a:latin typeface="Google Sans Text"/>
                        </a:rPr>
                        <a:t>Extra</a:t>
                      </a:r>
                      <a:r>
                        <a:rPr lang="en-US" sz="1200" b="1" dirty="0">
                          <a:solidFill>
                            <a:srgbClr val="1B1C1D"/>
                          </a:solidFill>
                          <a:effectLst/>
                          <a:latin typeface="Google Sans Text"/>
                        </a:rPr>
                        <a:t> Information</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dirty="0">
                          <a:solidFill>
                            <a:srgbClr val="444746"/>
                          </a:solidFill>
                          <a:effectLst/>
                          <a:latin typeface="Google Sans Text"/>
                        </a:rPr>
                        <a:t>NULL</a:t>
                      </a:r>
                      <a:r>
                        <a:rPr lang="en-US" sz="1200" dirty="0">
                          <a:solidFill>
                            <a:srgbClr val="1B1C1D"/>
                          </a:solidFill>
                          <a:effectLst/>
                          <a:latin typeface="Google Sans Text"/>
                        </a:rPr>
                        <a:t> (Clean, direct lookup)</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dirty="0">
                          <a:solidFill>
                            <a:srgbClr val="444746"/>
                          </a:solidFill>
                          <a:effectLst/>
                          <a:latin typeface="Google Sans Text"/>
                        </a:rPr>
                        <a:t>Using where</a:t>
                      </a:r>
                      <a:r>
                        <a:rPr lang="en-US" sz="1200" dirty="0">
                          <a:solidFill>
                            <a:srgbClr val="1B1C1D"/>
                          </a:solidFill>
                          <a:effectLst/>
                          <a:latin typeface="Google Sans Text"/>
                        </a:rPr>
                        <a:t> (Had to check the WHERE condition on every row read)</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618951616"/>
                  </a:ext>
                </a:extLst>
              </a:tr>
              <a:tr h="0">
                <a:tc>
                  <a:txBody>
                    <a:bodyPr/>
                    <a:lstStyle/>
                    <a:p>
                      <a:pPr rtl="0">
                        <a:buNone/>
                      </a:pPr>
                      <a:r>
                        <a:rPr lang="en-US" sz="1200" b="1" dirty="0">
                          <a:solidFill>
                            <a:srgbClr val="1B1C1D"/>
                          </a:solidFill>
                          <a:effectLst/>
                          <a:latin typeface="Google Sans Text"/>
                        </a:rPr>
                        <a:t>Performance</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Extremely Fast</a:t>
                      </a:r>
                      <a:r>
                        <a:rPr lang="en-US" sz="1200" dirty="0">
                          <a:solidFill>
                            <a:srgbClr val="1B1C1D"/>
                          </a:solidFill>
                          <a:effectLst/>
                          <a:latin typeface="Google Sans Text"/>
                        </a:rPr>
                        <a:t> (Direct lookup via B-Tree)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Slow</a:t>
                      </a:r>
                      <a:r>
                        <a:rPr lang="en-US" sz="1200" dirty="0">
                          <a:solidFill>
                            <a:srgbClr val="1B1C1D"/>
                          </a:solidFill>
                          <a:effectLst/>
                          <a:latin typeface="Google Sans Text"/>
                        </a:rPr>
                        <a:t> (Sequential check of every row)</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918821430"/>
                  </a:ext>
                </a:extLst>
              </a:tr>
              <a:tr h="0">
                <a:tc>
                  <a:txBody>
                    <a:bodyPr/>
                    <a:lstStyle/>
                    <a:p>
                      <a:pPr rtl="0">
                        <a:buNone/>
                      </a:pPr>
                      <a:r>
                        <a:rPr lang="en-US" sz="1200" b="1" dirty="0">
                          <a:solidFill>
                            <a:srgbClr val="1B1C1D"/>
                          </a:solidFill>
                          <a:effectLst/>
                          <a:latin typeface="Google Sans Text"/>
                        </a:rPr>
                        <a:t>Scalability</a:t>
                      </a:r>
                      <a:endParaRPr lang="en-US" sz="1200"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Excellent</a:t>
                      </a:r>
                      <a:r>
                        <a:rPr lang="en-US" sz="1200" dirty="0">
                          <a:solidFill>
                            <a:srgbClr val="1B1C1D"/>
                          </a:solidFill>
                          <a:effectLst/>
                          <a:latin typeface="Google Sans Text"/>
                        </a:rPr>
                        <a:t> (O(log n)) – Time barely increases with table size.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tc>
                  <a:txBody>
                    <a:bodyPr/>
                    <a:lstStyle/>
                    <a:p>
                      <a:pPr rtl="0">
                        <a:buNone/>
                      </a:pPr>
                      <a:r>
                        <a:rPr lang="en-US" sz="1200" b="1" dirty="0">
                          <a:solidFill>
                            <a:srgbClr val="1B1C1D"/>
                          </a:solidFill>
                          <a:effectLst/>
                          <a:latin typeface="Google Sans Text"/>
                        </a:rPr>
                        <a:t>Poor</a:t>
                      </a:r>
                      <a:r>
                        <a:rPr lang="en-US" sz="1200" dirty="0">
                          <a:solidFill>
                            <a:srgbClr val="1B1C1D"/>
                          </a:solidFill>
                          <a:effectLst/>
                          <a:latin typeface="Google Sans Text"/>
                        </a:rPr>
                        <a:t> (O(n)) – Time increases linearly with table size.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2626244460"/>
                  </a:ext>
                </a:extLst>
              </a:tr>
            </a:tbl>
          </a:graphicData>
        </a:graphic>
      </p:graphicFrame>
    </p:spTree>
    <p:extLst>
      <p:ext uri="{BB962C8B-B14F-4D97-AF65-F5344CB8AC3E}">
        <p14:creationId xmlns:p14="http://schemas.microsoft.com/office/powerpoint/2010/main" val="242383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3E15C23-C01E-33BA-2322-FDDAFEC095EF}"/>
              </a:ext>
            </a:extLst>
          </p:cNvPr>
          <p:cNvSpPr>
            <a:spLocks noGrp="1"/>
          </p:cNvSpPr>
          <p:nvPr>
            <p:ph type="title"/>
          </p:nvPr>
        </p:nvSpPr>
        <p:spPr>
          <a:xfrm>
            <a:off x="4634971" y="110902"/>
            <a:ext cx="6367257" cy="1289310"/>
          </a:xfrm>
        </p:spPr>
        <p:txBody>
          <a:bodyPr anchor="t"/>
          <a:lstStyle/>
          <a:p>
            <a:r>
              <a:rPr lang="en-US" dirty="0"/>
              <a:t>10. REFLECT: WHEN IS A UNIQUE INDEX NOT APPROPRIATE FOR A COLUMN?</a:t>
            </a:r>
          </a:p>
        </p:txBody>
      </p:sp>
      <p:pic>
        <p:nvPicPr>
          <p:cNvPr id="2" name="Picture 1">
            <a:extLst>
              <a:ext uri="{FF2B5EF4-FFF2-40B4-BE49-F238E27FC236}">
                <a16:creationId xmlns:a16="http://schemas.microsoft.com/office/drawing/2014/main" id="{94CEB01F-0B0D-313F-7196-7E06D006F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4" name="TextBox 3">
            <a:extLst>
              <a:ext uri="{FF2B5EF4-FFF2-40B4-BE49-F238E27FC236}">
                <a16:creationId xmlns:a16="http://schemas.microsoft.com/office/drawing/2014/main" id="{9E6B6F6A-B867-4B60-EE2B-230C097E81EE}"/>
              </a:ext>
            </a:extLst>
          </p:cNvPr>
          <p:cNvSpPr txBox="1"/>
          <p:nvPr/>
        </p:nvSpPr>
        <p:spPr>
          <a:xfrm>
            <a:off x="4758070" y="1080977"/>
            <a:ext cx="7203558"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t>1. Expected Duplicate Data</a:t>
            </a:r>
            <a:endParaRPr lang="en-US" sz="1400" b="1" dirty="0">
              <a:ea typeface="Calibri"/>
              <a:cs typeface="Calibri"/>
            </a:endParaRPr>
          </a:p>
          <a:p>
            <a:endParaRPr lang="en-US" sz="1200" dirty="0">
              <a:ea typeface="Calibri"/>
              <a:cs typeface="Calibri"/>
            </a:endParaRPr>
          </a:p>
          <a:p>
            <a:r>
              <a:rPr lang="en-US" sz="1200" dirty="0"/>
              <a:t>If the column is designed to store values that are naturally repeated, a unique index will cause insert and update operations to fail (Error 1062).</a:t>
            </a:r>
            <a:endParaRPr lang="en-US" sz="1200" dirty="0">
              <a:ea typeface="Calibri"/>
              <a:cs typeface="Calibri"/>
            </a:endParaRPr>
          </a:p>
          <a:p>
            <a:r>
              <a:rPr lang="en-US" sz="1200" b="1" dirty="0"/>
              <a:t>Examples</a:t>
            </a:r>
            <a:r>
              <a:rPr lang="en-US" sz="1200" dirty="0"/>
              <a:t>:</a:t>
            </a:r>
            <a:endParaRPr lang="en-US" sz="1200" dirty="0">
              <a:ea typeface="Calibri"/>
              <a:cs typeface="Calibri"/>
            </a:endParaRPr>
          </a:p>
          <a:p>
            <a:pPr marL="228600" lvl="1" indent="-228600">
              <a:buFont typeface=""/>
              <a:buChar char="•"/>
            </a:pPr>
            <a:r>
              <a:rPr lang="en-US" sz="1200" b="1" dirty="0" err="1"/>
              <a:t>first_name</a:t>
            </a:r>
            <a:r>
              <a:rPr lang="en-US" sz="1200" dirty="0"/>
              <a:t> or </a:t>
            </a:r>
            <a:r>
              <a:rPr lang="en-US" sz="1200" b="1" dirty="0" err="1"/>
              <a:t>last_name</a:t>
            </a:r>
            <a:r>
              <a:rPr lang="en-US" sz="1200" dirty="0"/>
              <a:t>: Many customers will share the same first or last name.</a:t>
            </a:r>
            <a:endParaRPr lang="en-US" sz="1200" dirty="0">
              <a:ea typeface="Calibri"/>
              <a:cs typeface="Calibri"/>
            </a:endParaRPr>
          </a:p>
          <a:p>
            <a:pPr marL="228600" lvl="1" indent="-228600">
              <a:buFont typeface=""/>
              <a:buChar char="•"/>
            </a:pPr>
            <a:r>
              <a:rPr lang="en-US" sz="1200" b="1" dirty="0"/>
              <a:t>status</a:t>
            </a:r>
            <a:r>
              <a:rPr lang="en-US" sz="1200" dirty="0"/>
              <a:t> (e.g., 'Active', 'Inactive', 'Pending'): There are only a few possible values that repeat across all rows.</a:t>
            </a:r>
            <a:endParaRPr lang="en-US" sz="1200" dirty="0">
              <a:ea typeface="Calibri"/>
              <a:cs typeface="Calibri"/>
            </a:endParaRPr>
          </a:p>
          <a:p>
            <a:pPr marL="228600" lvl="1" indent="-228600">
              <a:buFont typeface=""/>
              <a:buChar char="•"/>
            </a:pPr>
            <a:r>
              <a:rPr lang="en-US" sz="1200" b="1" dirty="0"/>
              <a:t>city</a:t>
            </a:r>
            <a:r>
              <a:rPr lang="en-US" sz="1200" dirty="0"/>
              <a:t> or </a:t>
            </a:r>
            <a:r>
              <a:rPr lang="en-US" sz="1200" b="1" dirty="0" err="1"/>
              <a:t>zip_code</a:t>
            </a:r>
            <a:r>
              <a:rPr lang="en-US" sz="1200" dirty="0"/>
              <a:t>: Many different customers live in the same location.</a:t>
            </a:r>
            <a:endParaRPr lang="en-US" sz="1200" dirty="0">
              <a:ea typeface="Calibri"/>
              <a:cs typeface="Calibri"/>
            </a:endParaRPr>
          </a:p>
          <a:p>
            <a:pPr marL="228600" lvl="1" indent="-228600">
              <a:buFont typeface=""/>
              <a:buChar char="•"/>
            </a:pPr>
            <a:r>
              <a:rPr lang="en-US" sz="1200" b="1" dirty="0" err="1"/>
              <a:t>order_date</a:t>
            </a:r>
            <a:r>
              <a:rPr lang="en-US" sz="1200" dirty="0"/>
              <a:t>: Multiple orders can be placed on the same day.</a:t>
            </a:r>
            <a:endParaRPr lang="en-US" sz="1200" dirty="0">
              <a:ea typeface="Calibri"/>
              <a:cs typeface="Calibri"/>
            </a:endParaRPr>
          </a:p>
          <a:p>
            <a:endParaRPr lang="en-US" sz="1200" dirty="0">
              <a:ea typeface="Calibri"/>
              <a:cs typeface="Calibri"/>
            </a:endParaRPr>
          </a:p>
          <a:p>
            <a:r>
              <a:rPr lang="en-US" sz="1400" b="1" dirty="0"/>
              <a:t>2. High Write/Update Load (Performance Overhead)</a:t>
            </a:r>
            <a:endParaRPr lang="en-US" sz="1400" b="1" dirty="0">
              <a:ea typeface="Calibri"/>
              <a:cs typeface="Calibri"/>
            </a:endParaRPr>
          </a:p>
          <a:p>
            <a:endParaRPr lang="en-US" sz="1200" dirty="0">
              <a:ea typeface="Calibri"/>
              <a:cs typeface="Calibri"/>
            </a:endParaRPr>
          </a:p>
          <a:p>
            <a:r>
              <a:rPr lang="en-US" sz="1200" dirty="0"/>
              <a:t>While indexes speed up </a:t>
            </a:r>
            <a:r>
              <a:rPr lang="en-US" sz="1200" b="1" dirty="0"/>
              <a:t>reads</a:t>
            </a:r>
            <a:r>
              <a:rPr lang="en-US" sz="1200" dirty="0"/>
              <a:t> (SELECT), they </a:t>
            </a:r>
            <a:r>
              <a:rPr lang="en-US" sz="1200" b="1" dirty="0"/>
              <a:t>slow down writes</a:t>
            </a:r>
            <a:r>
              <a:rPr lang="en-US" sz="1200" dirty="0"/>
              <a:t> (INSERT, UPDATE, DELETE).</a:t>
            </a:r>
            <a:endParaRPr lang="en-US" sz="1200" dirty="0">
              <a:ea typeface="Calibri"/>
              <a:cs typeface="Calibri"/>
            </a:endParaRPr>
          </a:p>
          <a:p>
            <a:pPr marL="228600" indent="-228600">
              <a:buAutoNum type="arabicParenR"/>
            </a:pPr>
            <a:r>
              <a:rPr lang="en-US" sz="1200" dirty="0"/>
              <a:t>Every time a row is inserted or updated, the database must perform extra work to:</a:t>
            </a:r>
          </a:p>
          <a:p>
            <a:pPr marL="228600" indent="-228600">
              <a:buAutoNum type="arabicParenR"/>
            </a:pPr>
            <a:r>
              <a:rPr lang="en-US" sz="1200" b="1" dirty="0"/>
              <a:t>Check for Uniqueness</a:t>
            </a:r>
            <a:r>
              <a:rPr lang="en-US" sz="1200" dirty="0"/>
              <a:t>: Read the index to ensure the new value does not already exist.</a:t>
            </a:r>
          </a:p>
          <a:p>
            <a:pPr marL="228600" indent="-228600">
              <a:buAutoNum type="arabicParenR"/>
            </a:pPr>
            <a:r>
              <a:rPr lang="en-US" sz="1200" b="1" dirty="0"/>
              <a:t>Maintain the Index</a:t>
            </a:r>
            <a:r>
              <a:rPr lang="en-US" sz="1200" dirty="0"/>
              <a:t>: Update the B-Tree structure to include the new value (or remove/update the old value).</a:t>
            </a:r>
          </a:p>
          <a:p>
            <a:pPr marL="228600" indent="-228600">
              <a:buAutoNum type="arabicParenR"/>
            </a:pPr>
            <a:r>
              <a:rPr lang="en-US" sz="1200" dirty="0"/>
              <a:t>If a table has a very high volume of insertions or updates, the cumulative time spent maintaining many indexes (especially unique ones) can slow down the overall application more than the indexing speeds up reads.</a:t>
            </a:r>
            <a:endParaRPr lang="en-US" sz="1200" dirty="0">
              <a:ea typeface="Calibri"/>
              <a:cs typeface="Calibri"/>
            </a:endParaRPr>
          </a:p>
          <a:p>
            <a:endParaRPr lang="en-US" sz="1200" dirty="0">
              <a:ea typeface="Calibri"/>
              <a:cs typeface="Calibri"/>
            </a:endParaRPr>
          </a:p>
          <a:p>
            <a:r>
              <a:rPr lang="en-US" sz="1400" b="1" dirty="0"/>
              <a:t>3. Extremely Low Cardinality</a:t>
            </a:r>
            <a:endParaRPr lang="en-US" sz="1400" b="1" dirty="0">
              <a:ea typeface="Calibri"/>
              <a:cs typeface="Calibri"/>
            </a:endParaRPr>
          </a:p>
          <a:p>
            <a:endParaRPr lang="en-US" sz="1200" dirty="0">
              <a:ea typeface="Calibri"/>
              <a:cs typeface="Calibri"/>
            </a:endParaRPr>
          </a:p>
          <a:p>
            <a:r>
              <a:rPr lang="en-US" sz="1200" b="1" dirty="0"/>
              <a:t>Cardinality</a:t>
            </a:r>
            <a:r>
              <a:rPr lang="en-US" sz="1200" dirty="0"/>
              <a:t> refers to the number of unique values in a column. If a column has very few unique values relative to the total number of rows (low cardinality), an index is generally not helpful for performance.</a:t>
            </a:r>
            <a:endParaRPr lang="en-US" sz="1200" dirty="0">
              <a:ea typeface="Calibri"/>
              <a:cs typeface="Calibri"/>
            </a:endParaRPr>
          </a:p>
          <a:p>
            <a:pPr marL="228600" indent="-228600">
              <a:buAutoNum type="arabicParenR"/>
            </a:pPr>
            <a:r>
              <a:rPr lang="en-US" sz="1200" b="1" dirty="0"/>
              <a:t>Example</a:t>
            </a:r>
            <a:r>
              <a:rPr lang="en-US" sz="1200" dirty="0"/>
              <a:t>: A </a:t>
            </a:r>
            <a:r>
              <a:rPr lang="en-US" sz="1200" dirty="0" err="1"/>
              <a:t>boolean</a:t>
            </a:r>
            <a:r>
              <a:rPr lang="en-US" sz="1200" dirty="0"/>
              <a:t> </a:t>
            </a:r>
            <a:r>
              <a:rPr lang="en-US" sz="1200" dirty="0" err="1"/>
              <a:t>is_active</a:t>
            </a:r>
            <a:r>
              <a:rPr lang="en-US" sz="1200" dirty="0"/>
              <a:t> column (only two possible values: True or False). If you search for all 'True' rows, the database might find it faster to perform a </a:t>
            </a:r>
            <a:r>
              <a:rPr lang="en-US" sz="1200" b="1" dirty="0"/>
              <a:t>full table scan</a:t>
            </a:r>
            <a:r>
              <a:rPr lang="en-US" sz="1200" dirty="0"/>
              <a:t> than to traverse the index, as the index would point to almost half the table's rows anyway.</a:t>
            </a:r>
            <a:endParaRPr lang="en-US" sz="1200" dirty="0">
              <a:ea typeface="Calibri"/>
              <a:cs typeface="Calibri"/>
            </a:endParaRPr>
          </a:p>
          <a:p>
            <a:pPr algn="ctr"/>
            <a:endParaRPr lang="en-US" sz="1200" dirty="0">
              <a:ea typeface="Calibri"/>
              <a:cs typeface="Calibri"/>
            </a:endParaRPr>
          </a:p>
        </p:txBody>
      </p:sp>
    </p:spTree>
    <p:extLst>
      <p:ext uri="{BB962C8B-B14F-4D97-AF65-F5344CB8AC3E}">
        <p14:creationId xmlns:p14="http://schemas.microsoft.com/office/powerpoint/2010/main" val="1587843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4820F6-6C26-1EBF-5C42-FA03DE41E161}"/>
              </a:ext>
            </a:extLst>
          </p:cNvPr>
          <p:cNvSpPr txBox="1"/>
          <p:nvPr/>
        </p:nvSpPr>
        <p:spPr bwMode="auto">
          <a:xfrm>
            <a:off x="3647115" y="2649752"/>
            <a:ext cx="4706938" cy="1015663"/>
          </a:xfrm>
          <a:prstGeom prst="rect">
            <a:avLst/>
          </a:prstGeom>
          <a:noFill/>
        </p:spPr>
        <p:txBody>
          <a:bodyPr anchor="ctr">
            <a:spAutoFit/>
          </a:bodyPr>
          <a:lstStyle/>
          <a:p>
            <a:pPr algn="ctr" eaLnBrk="1" fontAlgn="auto" hangingPunct="1">
              <a:spcBef>
                <a:spcPts val="0"/>
              </a:spcBef>
              <a:spcAft>
                <a:spcPts val="0"/>
              </a:spcAft>
              <a:defRPr/>
            </a:pPr>
            <a:r>
              <a:rPr lang="en-US" sz="6000" b="1" dirty="0">
                <a:solidFill>
                  <a:schemeClr val="bg1"/>
                </a:solidFill>
                <a:cs typeface="Arial" panose="020B0604020202020204" pitchFamily="34" charset="0"/>
              </a:rPr>
              <a:t>THANK YOU</a:t>
            </a:r>
          </a:p>
        </p:txBody>
      </p:sp>
      <p:sp>
        <p:nvSpPr>
          <p:cNvPr id="16" name="TextBox 15">
            <a:extLst>
              <a:ext uri="{FF2B5EF4-FFF2-40B4-BE49-F238E27FC236}">
                <a16:creationId xmlns:a16="http://schemas.microsoft.com/office/drawing/2014/main" id="{ADC1C89C-415D-8541-332A-2F542D81F044}"/>
              </a:ext>
            </a:extLst>
          </p:cNvPr>
          <p:cNvSpPr txBox="1"/>
          <p:nvPr/>
        </p:nvSpPr>
        <p:spPr>
          <a:xfrm>
            <a:off x="4434467" y="4076956"/>
            <a:ext cx="1661533" cy="276999"/>
          </a:xfrm>
          <a:prstGeom prst="rect">
            <a:avLst/>
          </a:prstGeom>
          <a:noFill/>
        </p:spPr>
        <p:txBody>
          <a:bodyPr wrap="square" rtlCol="0">
            <a:spAutoFit/>
          </a:bodyPr>
          <a:lstStyle/>
          <a:p>
            <a:r>
              <a:rPr lang="en-MY" sz="1200" dirty="0">
                <a:solidFill>
                  <a:schemeClr val="bg1"/>
                </a:solidFill>
              </a:rPr>
              <a:t>univteknologimalaysia</a:t>
            </a:r>
          </a:p>
        </p:txBody>
      </p:sp>
      <p:grpSp>
        <p:nvGrpSpPr>
          <p:cNvPr id="17" name="Group 16">
            <a:extLst>
              <a:ext uri="{FF2B5EF4-FFF2-40B4-BE49-F238E27FC236}">
                <a16:creationId xmlns:a16="http://schemas.microsoft.com/office/drawing/2014/main" id="{7136870D-2DAD-C7DB-DE9D-5E9D14D472AB}"/>
              </a:ext>
            </a:extLst>
          </p:cNvPr>
          <p:cNvGrpSpPr/>
          <p:nvPr/>
        </p:nvGrpSpPr>
        <p:grpSpPr>
          <a:xfrm>
            <a:off x="3366240" y="4067101"/>
            <a:ext cx="280228" cy="281958"/>
            <a:chOff x="2163763" y="-1266825"/>
            <a:chExt cx="1028700" cy="1035050"/>
          </a:xfrm>
          <a:solidFill>
            <a:schemeClr val="bg1">
              <a:lumMod val="95000"/>
            </a:schemeClr>
          </a:solidFill>
        </p:grpSpPr>
        <p:sp>
          <p:nvSpPr>
            <p:cNvPr id="18" name="Freeform 5">
              <a:extLst>
                <a:ext uri="{FF2B5EF4-FFF2-40B4-BE49-F238E27FC236}">
                  <a16:creationId xmlns:a16="http://schemas.microsoft.com/office/drawing/2014/main" id="{9CA6BC94-EC3A-003F-BBFA-332A294D5FB2}"/>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ED93D63C-4E6A-702C-8FFD-729BB391A998}"/>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309B19F7-B624-3ABA-C567-5166FD20AAE7}"/>
              </a:ext>
            </a:extLst>
          </p:cNvPr>
          <p:cNvGrpSpPr/>
          <p:nvPr/>
        </p:nvGrpSpPr>
        <p:grpSpPr>
          <a:xfrm>
            <a:off x="7531144" y="4077067"/>
            <a:ext cx="279796" cy="281958"/>
            <a:chOff x="3470276" y="-1266825"/>
            <a:chExt cx="1027113" cy="1035050"/>
          </a:xfrm>
          <a:solidFill>
            <a:schemeClr val="bg1">
              <a:lumMod val="95000"/>
            </a:schemeClr>
          </a:solidFill>
        </p:grpSpPr>
        <p:sp>
          <p:nvSpPr>
            <p:cNvPr id="21" name="Freeform 6">
              <a:extLst>
                <a:ext uri="{FF2B5EF4-FFF2-40B4-BE49-F238E27FC236}">
                  <a16:creationId xmlns:a16="http://schemas.microsoft.com/office/drawing/2014/main" id="{1D2869D3-FA80-AF09-B200-6780D06BD571}"/>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D2E0A07B-CE26-AFAB-9272-1F467B6A0A9B}"/>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a:extLst>
              <a:ext uri="{FF2B5EF4-FFF2-40B4-BE49-F238E27FC236}">
                <a16:creationId xmlns:a16="http://schemas.microsoft.com/office/drawing/2014/main" id="{601DB2CC-6680-AB58-44EA-DF265753FC9C}"/>
              </a:ext>
            </a:extLst>
          </p:cNvPr>
          <p:cNvSpPr txBox="1"/>
          <p:nvPr/>
        </p:nvSpPr>
        <p:spPr>
          <a:xfrm>
            <a:off x="6711844" y="4072060"/>
            <a:ext cx="3029941" cy="276999"/>
          </a:xfrm>
          <a:prstGeom prst="rect">
            <a:avLst/>
          </a:prstGeom>
          <a:noFill/>
        </p:spPr>
        <p:txBody>
          <a:bodyPr wrap="square" rtlCol="0">
            <a:spAutoFit/>
          </a:bodyPr>
          <a:lstStyle/>
          <a:p>
            <a:r>
              <a:rPr lang="en-MY" sz="1200" dirty="0">
                <a:solidFill>
                  <a:schemeClr val="bg1"/>
                </a:solidFill>
              </a:rPr>
              <a:t>utm.my</a:t>
            </a:r>
          </a:p>
        </p:txBody>
      </p:sp>
      <p:sp>
        <p:nvSpPr>
          <p:cNvPr id="25" name="Shape 2865">
            <a:extLst>
              <a:ext uri="{FF2B5EF4-FFF2-40B4-BE49-F238E27FC236}">
                <a16:creationId xmlns:a16="http://schemas.microsoft.com/office/drawing/2014/main" id="{123F8921-49CA-90DB-32D1-C5AA4C985D01}"/>
              </a:ext>
            </a:extLst>
          </p:cNvPr>
          <p:cNvSpPr/>
          <p:nvPr/>
        </p:nvSpPr>
        <p:spPr>
          <a:xfrm>
            <a:off x="372046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861">
            <a:extLst>
              <a:ext uri="{FF2B5EF4-FFF2-40B4-BE49-F238E27FC236}">
                <a16:creationId xmlns:a16="http://schemas.microsoft.com/office/drawing/2014/main" id="{1380BA52-67A1-3ED5-42D9-2A461EBA05A8}"/>
              </a:ext>
            </a:extLst>
          </p:cNvPr>
          <p:cNvSpPr/>
          <p:nvPr/>
        </p:nvSpPr>
        <p:spPr>
          <a:xfrm>
            <a:off x="407219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pic>
        <p:nvPicPr>
          <p:cNvPr id="30" name="Graphic 29">
            <a:extLst>
              <a:ext uri="{FF2B5EF4-FFF2-40B4-BE49-F238E27FC236}">
                <a16:creationId xmlns:a16="http://schemas.microsoft.com/office/drawing/2014/main" id="{970F175F-7AF7-89EA-112A-720572DAAB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3684" y="4070864"/>
            <a:ext cx="289182" cy="289182"/>
          </a:xfrm>
          <a:prstGeom prst="rect">
            <a:avLst/>
          </a:prstGeom>
        </p:spPr>
      </p:pic>
      <p:sp>
        <p:nvSpPr>
          <p:cNvPr id="31" name="TextBox 30">
            <a:extLst>
              <a:ext uri="{FF2B5EF4-FFF2-40B4-BE49-F238E27FC236}">
                <a16:creationId xmlns:a16="http://schemas.microsoft.com/office/drawing/2014/main" id="{8BBE6196-BF2A-FEBF-C038-9FC0BED4A868}"/>
              </a:ext>
            </a:extLst>
          </p:cNvPr>
          <p:cNvSpPr txBox="1"/>
          <p:nvPr/>
        </p:nvSpPr>
        <p:spPr>
          <a:xfrm>
            <a:off x="7819166" y="4069364"/>
            <a:ext cx="1861503" cy="276999"/>
          </a:xfrm>
          <a:prstGeom prst="rect">
            <a:avLst/>
          </a:prstGeom>
          <a:noFill/>
        </p:spPr>
        <p:txBody>
          <a:bodyPr wrap="square" rtlCol="0">
            <a:spAutoFit/>
          </a:bodyPr>
          <a:lstStyle/>
          <a:p>
            <a:r>
              <a:rPr lang="en-MY" sz="1200" dirty="0" err="1">
                <a:solidFill>
                  <a:schemeClr val="bg1"/>
                </a:solidFill>
              </a:rPr>
              <a:t>utmofficial</a:t>
            </a:r>
            <a:endParaRPr lang="en-MY" sz="1200" dirty="0">
              <a:solidFill>
                <a:schemeClr val="bg1"/>
              </a:solidFill>
            </a:endParaRPr>
          </a:p>
        </p:txBody>
      </p:sp>
      <p:pic>
        <p:nvPicPr>
          <p:cNvPr id="33" name="Graphic 32">
            <a:extLst>
              <a:ext uri="{FF2B5EF4-FFF2-40B4-BE49-F238E27FC236}">
                <a16:creationId xmlns:a16="http://schemas.microsoft.com/office/drawing/2014/main" id="{B08DA86B-1F79-234F-1249-1C05AE9EA6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9397" y="4076956"/>
            <a:ext cx="289182" cy="289182"/>
          </a:xfrm>
          <a:prstGeom prst="rect">
            <a:avLst/>
          </a:prstGeom>
        </p:spPr>
      </p:pic>
    </p:spTree>
    <p:extLst>
      <p:ext uri="{BB962C8B-B14F-4D97-AF65-F5344CB8AC3E}">
        <p14:creationId xmlns:p14="http://schemas.microsoft.com/office/powerpoint/2010/main" val="1470522129"/>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7451</TotalTime>
  <Words>1677</Words>
  <Application>Microsoft Office PowerPoint</Application>
  <PresentationFormat>Widescreen</PresentationFormat>
  <Paragraphs>137</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Google Sans Text</vt:lpstr>
      <vt:lpstr>Montserrat Semi</vt:lpstr>
      <vt:lpstr>Aptos</vt:lpstr>
      <vt:lpstr>Arial</vt:lpstr>
      <vt:lpstr>Calibri</vt:lpstr>
      <vt:lpstr>Consolas</vt:lpstr>
      <vt:lpstr>Roboto Condensed Light</vt:lpstr>
      <vt:lpstr>Source Sans Pro Light</vt:lpstr>
      <vt:lpstr>Office Theme</vt:lpstr>
      <vt:lpstr>PowerPoint Presentation</vt:lpstr>
      <vt:lpstr>1. WHAT IS A UNIQUE INDEX? </vt:lpstr>
      <vt:lpstr>2. HOW IT DIFFERS FROM PRIMARY KEY</vt:lpstr>
      <vt:lpstr>3. ADVANTAGES &amp; DISADVANTAGES</vt:lpstr>
      <vt:lpstr>4. CREATE A TABLE</vt:lpstr>
      <vt:lpstr>4. INSERT 10 RECORDS</vt:lpstr>
      <vt:lpstr>5. ADD A UNIQUE INDEX</vt:lpstr>
      <vt:lpstr>6. INSERT DUPLICATE EMAIL AGAIN</vt:lpstr>
      <vt:lpstr>7. USE ‘SHOW INDEX FROM customer’ </vt:lpstr>
      <vt:lpstr>8. HOW A UNIQUE INDEX IMPROVES LOOKUP PERFROMANCE?</vt:lpstr>
      <vt:lpstr>9. COMPARE QUERY PERFORMANCE</vt:lpstr>
      <vt:lpstr>10. REFLECT: WHEN IS A UNIQUE INDEX NOT APPROPRIATE FOR A COLUMN?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Cheng Shuan Woo</cp:lastModifiedBy>
  <cp:revision>206</cp:revision>
  <dcterms:created xsi:type="dcterms:W3CDTF">2023-12-31T03:09:43Z</dcterms:created>
  <dcterms:modified xsi:type="dcterms:W3CDTF">2025-11-11T09:13:38Z</dcterms:modified>
</cp:coreProperties>
</file>