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0" r:id="rId2"/>
  </p:sldMasterIdLst>
  <p:notesMasterIdLst>
    <p:notesMasterId r:id="rId4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Lst>
  <p:sldSz cx="9144000" cy="6858000" type="screen4x3"/>
  <p:notesSz cx="6858000" cy="9144000"/>
  <p:embeddedFontLst>
    <p:embeddedFont>
      <p:font typeface="Garamond" panose="02020404030301010803" pitchFamily="18" charset="0"/>
      <p:regular r:id="rId46"/>
      <p:bold r:id="rId47"/>
      <p:italic r:id="rId48"/>
      <p:boldItalic r:id="rId49"/>
    </p:embeddedFont>
    <p:embeddedFont>
      <p:font typeface="Libre Baskerville" panose="02000000000000000000" pitchFamily="2" charset="0"/>
      <p:regular r:id="rId50"/>
      <p:bold r:id="rId51"/>
      <p:italic r:id="rId52"/>
    </p:embeddedFont>
    <p:embeddedFont>
      <p:font typeface="Open Sans" panose="020B0606030504020204" pitchFamily="34" charset="0"/>
      <p:regular r:id="rId53"/>
      <p:bold r:id="rId54"/>
      <p:italic r:id="rId55"/>
      <p:boldItalic r:id="rId56"/>
    </p:embeddedFont>
    <p:embeddedFont>
      <p:font typeface="Roboto" panose="02000000000000000000" pitchFamily="2" charset="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5" roundtripDataSignature="AMtx7mjX6aUzlN59ozPxUcSHlP31mqCWM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8980CB2-7BF0-43EA-B497-3EFA4ACC9518}">
  <a:tblStyle styleId="{38980CB2-7BF0-43EA-B497-3EFA4ACC9518}"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b="off" i="off"/>
      <a:tcStyle>
        <a:tcBdr/>
        <a:fill>
          <a:solidFill>
            <a:srgbClr val="CFD7E7"/>
          </a:solidFill>
        </a:fill>
      </a:tcStyle>
    </a:band1H>
    <a:band2H>
      <a:tcTxStyle b="off" i="off"/>
      <a:tcStyle>
        <a:tcBdr/>
      </a:tcStyle>
    </a:band2H>
    <a:band1V>
      <a:tcTxStyle b="off" i="off"/>
      <a:tcStyle>
        <a:tcBdr/>
        <a:fill>
          <a:solidFill>
            <a:srgbClr val="CFD7E7"/>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49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openxmlformats.org/officeDocument/2006/relationships/font" Target="fonts/font13.fntdata"/><Relationship Id="rId66"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7.fntdata"/><Relationship Id="rId60" Type="http://schemas.openxmlformats.org/officeDocument/2006/relationships/font" Target="fonts/font15.fntdata"/><Relationship Id="rId65"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3.fntdata"/><Relationship Id="rId56" Type="http://schemas.openxmlformats.org/officeDocument/2006/relationships/font" Target="fonts/font11.fntdata"/><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font" Target="fonts/font6.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1.fntdata"/><Relationship Id="rId59" Type="http://schemas.openxmlformats.org/officeDocument/2006/relationships/font" Target="fonts/font14.fntdata"/><Relationship Id="rId6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slideplayer.com/slide/9410231/"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en.wikipedia.org/wiki/State_space_search"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visualgo.net/en/dfsbfs?slide=1"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171450" lvl="0" indent="-171450" algn="l" rtl="0">
              <a:lnSpc>
                <a:spcPct val="100000"/>
              </a:lnSpc>
              <a:spcBef>
                <a:spcPts val="0"/>
              </a:spcBef>
              <a:spcAft>
                <a:spcPts val="0"/>
              </a:spcAft>
              <a:buClr>
                <a:schemeClr val="dk1"/>
              </a:buClr>
              <a:buSzPts val="1200"/>
              <a:buFont typeface="Arial"/>
              <a:buChar char="•"/>
            </a:pPr>
            <a:r>
              <a:rPr lang="en-US" u="sng">
                <a:solidFill>
                  <a:schemeClr val="hlink"/>
                </a:solidFill>
                <a:hlinkClick r:id="rId3"/>
              </a:rPr>
              <a:t>https://slideplayer.com/slide/9410231/</a:t>
            </a:r>
            <a:endParaRPr/>
          </a:p>
          <a:p>
            <a:pPr marL="171450" lvl="0" indent="-171450" algn="l" rtl="0">
              <a:lnSpc>
                <a:spcPct val="100000"/>
              </a:lnSpc>
              <a:spcBef>
                <a:spcPts val="0"/>
              </a:spcBef>
              <a:spcAft>
                <a:spcPts val="0"/>
              </a:spcAft>
              <a:buClr>
                <a:schemeClr val="dk1"/>
              </a:buClr>
              <a:buSzPts val="1200"/>
              <a:buFont typeface="Arial"/>
              <a:buChar char="•"/>
            </a:pPr>
            <a:r>
              <a:rPr lang="en-US" u="sng">
                <a:solidFill>
                  <a:schemeClr val="hlink"/>
                </a:solidFill>
                <a:hlinkClick r:id="rId4"/>
              </a:rPr>
              <a:t>https://en.wikipedia.org/wiki/State_space_search</a:t>
            </a:r>
            <a:endParaRPr/>
          </a:p>
        </p:txBody>
      </p:sp>
      <p:sp>
        <p:nvSpPr>
          <p:cNvPr id="138" name="Google Shape;138;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200"/>
              <a:buFont typeface="Calibri"/>
              <a:buNone/>
            </a:pPr>
            <a:r>
              <a:rPr lang="en-US"/>
              <a:t>Belum siap lagi</a:t>
            </a:r>
            <a:endParaRPr/>
          </a:p>
          <a:p>
            <a:pPr marL="0" lvl="0" indent="0" algn="l" rtl="0">
              <a:lnSpc>
                <a:spcPct val="100000"/>
              </a:lnSpc>
              <a:spcBef>
                <a:spcPts val="0"/>
              </a:spcBef>
              <a:spcAft>
                <a:spcPts val="0"/>
              </a:spcAft>
              <a:buSzPts val="1400"/>
              <a:buNone/>
            </a:pPr>
            <a:endParaRPr/>
          </a:p>
        </p:txBody>
      </p:sp>
      <p:sp>
        <p:nvSpPr>
          <p:cNvPr id="148" name="Google Shape;148;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Exercise,</a:t>
            </a:r>
            <a:endParaRPr/>
          </a:p>
          <a:p>
            <a:pPr marL="0" lvl="0" indent="0" algn="l" rtl="0">
              <a:lnSpc>
                <a:spcPct val="100000"/>
              </a:lnSpc>
              <a:spcBef>
                <a:spcPts val="0"/>
              </a:spcBef>
              <a:spcAft>
                <a:spcPts val="0"/>
              </a:spcAft>
              <a:buSzPts val="1400"/>
              <a:buNone/>
            </a:pPr>
            <a:r>
              <a:rPr lang="en-US"/>
              <a:t>Relate with predicate</a:t>
            </a:r>
            <a:endParaRPr/>
          </a:p>
          <a:p>
            <a:pPr marL="0" marR="0" lvl="0" indent="0" algn="l" rtl="0">
              <a:lnSpc>
                <a:spcPct val="100000"/>
              </a:lnSpc>
              <a:spcBef>
                <a:spcPts val="0"/>
              </a:spcBef>
              <a:spcAft>
                <a:spcPts val="0"/>
              </a:spcAft>
              <a:buClr>
                <a:schemeClr val="dk1"/>
              </a:buClr>
              <a:buSzPts val="1200"/>
              <a:buFont typeface="Calibri"/>
              <a:buNone/>
            </a:pPr>
            <a:r>
              <a:rPr lang="en-US"/>
              <a:t>1. </a:t>
            </a:r>
            <a:r>
              <a:rPr lang="en-US" sz="1200">
                <a:solidFill>
                  <a:srgbClr val="0070C0"/>
                </a:solidFill>
                <a:latin typeface="Arial"/>
                <a:ea typeface="Arial"/>
                <a:cs typeface="Arial"/>
                <a:sym typeface="Arial"/>
              </a:rPr>
              <a:t>Give a predicate to indicate the relation direction between nodes RB and I ?</a:t>
            </a:r>
            <a:endParaRPr/>
          </a:p>
          <a:p>
            <a:pPr marL="0" marR="0" lvl="0" indent="0" algn="l" rtl="0">
              <a:lnSpc>
                <a:spcPct val="100000"/>
              </a:lnSpc>
              <a:spcBef>
                <a:spcPts val="0"/>
              </a:spcBef>
              <a:spcAft>
                <a:spcPts val="0"/>
              </a:spcAft>
              <a:buClr>
                <a:srgbClr val="0070C0"/>
              </a:buClr>
              <a:buSzPts val="1200"/>
              <a:buFont typeface="Arial"/>
              <a:buNone/>
            </a:pPr>
            <a:r>
              <a:rPr lang="en-US" sz="1200">
                <a:solidFill>
                  <a:srgbClr val="0070C0"/>
                </a:solidFill>
                <a:latin typeface="Arial"/>
                <a:ea typeface="Arial"/>
                <a:cs typeface="Arial"/>
                <a:sym typeface="Arial"/>
              </a:rPr>
              <a:t>connect(X,Y,Z</a:t>
            </a:r>
            <a:r>
              <a:rPr lang="en-US"/>
              <a:t>)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2.</a:t>
            </a:r>
            <a:endParaRPr/>
          </a:p>
        </p:txBody>
      </p:sp>
      <p:sp>
        <p:nvSpPr>
          <p:cNvPr id="197" name="Google Shape;197;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Exercise,</a:t>
            </a:r>
            <a:endParaRPr/>
          </a:p>
          <a:p>
            <a:pPr marL="0" lvl="0" indent="0" algn="l" rtl="0">
              <a:lnSpc>
                <a:spcPct val="100000"/>
              </a:lnSpc>
              <a:spcBef>
                <a:spcPts val="0"/>
              </a:spcBef>
              <a:spcAft>
                <a:spcPts val="0"/>
              </a:spcAft>
              <a:buSzPts val="1400"/>
              <a:buNone/>
            </a:pPr>
            <a:r>
              <a:rPr lang="en-US"/>
              <a:t>Relate with predicate</a:t>
            </a:r>
            <a:endParaRPr/>
          </a:p>
          <a:p>
            <a:pPr marL="0" marR="0" lvl="0" indent="0" algn="l" rtl="0">
              <a:lnSpc>
                <a:spcPct val="100000"/>
              </a:lnSpc>
              <a:spcBef>
                <a:spcPts val="0"/>
              </a:spcBef>
              <a:spcAft>
                <a:spcPts val="0"/>
              </a:spcAft>
              <a:buClr>
                <a:schemeClr val="dk1"/>
              </a:buClr>
              <a:buSzPts val="1200"/>
              <a:buFont typeface="Calibri"/>
              <a:buNone/>
            </a:pPr>
            <a:r>
              <a:rPr lang="en-US"/>
              <a:t>1. </a:t>
            </a:r>
            <a:r>
              <a:rPr lang="en-US" sz="1200">
                <a:solidFill>
                  <a:srgbClr val="0070C0"/>
                </a:solidFill>
                <a:latin typeface="Arial"/>
                <a:ea typeface="Arial"/>
                <a:cs typeface="Arial"/>
                <a:sym typeface="Arial"/>
              </a:rPr>
              <a:t>Give a predicate to indicate the relation direction between nodes RB and I ?</a:t>
            </a:r>
            <a:endParaRPr/>
          </a:p>
          <a:p>
            <a:pPr marL="0" marR="0" lvl="0" indent="0" algn="l" rtl="0">
              <a:lnSpc>
                <a:spcPct val="100000"/>
              </a:lnSpc>
              <a:spcBef>
                <a:spcPts val="0"/>
              </a:spcBef>
              <a:spcAft>
                <a:spcPts val="0"/>
              </a:spcAft>
              <a:buClr>
                <a:srgbClr val="0070C0"/>
              </a:buClr>
              <a:buSzPts val="1200"/>
              <a:buFont typeface="Arial"/>
              <a:buNone/>
            </a:pPr>
            <a:r>
              <a:rPr lang="en-US" sz="1200">
                <a:solidFill>
                  <a:srgbClr val="0070C0"/>
                </a:solidFill>
                <a:latin typeface="Arial"/>
                <a:ea typeface="Arial"/>
                <a:cs typeface="Arial"/>
                <a:sym typeface="Arial"/>
              </a:rPr>
              <a:t>connect(X,Y,Z</a:t>
            </a:r>
            <a:r>
              <a:rPr lang="en-US"/>
              <a:t>)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2.</a:t>
            </a:r>
            <a:endParaRPr/>
          </a:p>
        </p:txBody>
      </p:sp>
      <p:sp>
        <p:nvSpPr>
          <p:cNvPr id="208" name="Google Shape;208;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Exercise,</a:t>
            </a:r>
            <a:endParaRPr/>
          </a:p>
          <a:p>
            <a:pPr marL="0" lvl="0" indent="0" algn="l" rtl="0">
              <a:lnSpc>
                <a:spcPct val="100000"/>
              </a:lnSpc>
              <a:spcBef>
                <a:spcPts val="0"/>
              </a:spcBef>
              <a:spcAft>
                <a:spcPts val="0"/>
              </a:spcAft>
              <a:buSzPts val="1400"/>
              <a:buNone/>
            </a:pPr>
            <a:r>
              <a:rPr lang="en-US"/>
              <a:t>Relate with predicate</a:t>
            </a:r>
            <a:endParaRPr/>
          </a:p>
          <a:p>
            <a:pPr marL="0" marR="0" lvl="0" indent="0" algn="l" rtl="0">
              <a:lnSpc>
                <a:spcPct val="100000"/>
              </a:lnSpc>
              <a:spcBef>
                <a:spcPts val="0"/>
              </a:spcBef>
              <a:spcAft>
                <a:spcPts val="0"/>
              </a:spcAft>
              <a:buClr>
                <a:schemeClr val="dk1"/>
              </a:buClr>
              <a:buSzPts val="1200"/>
              <a:buFont typeface="Calibri"/>
              <a:buNone/>
            </a:pPr>
            <a:r>
              <a:rPr lang="en-US"/>
              <a:t>1. </a:t>
            </a:r>
            <a:r>
              <a:rPr lang="en-US" sz="1200">
                <a:solidFill>
                  <a:srgbClr val="0070C0"/>
                </a:solidFill>
                <a:latin typeface="Arial"/>
                <a:ea typeface="Arial"/>
                <a:cs typeface="Arial"/>
                <a:sym typeface="Arial"/>
              </a:rPr>
              <a:t>Give a predicate to indicate the relation direction between nodes RB and I ?</a:t>
            </a:r>
            <a:endParaRPr/>
          </a:p>
          <a:p>
            <a:pPr marL="0" marR="0" lvl="0" indent="0" algn="l" rtl="0">
              <a:lnSpc>
                <a:spcPct val="100000"/>
              </a:lnSpc>
              <a:spcBef>
                <a:spcPts val="0"/>
              </a:spcBef>
              <a:spcAft>
                <a:spcPts val="0"/>
              </a:spcAft>
              <a:buClr>
                <a:srgbClr val="0070C0"/>
              </a:buClr>
              <a:buSzPts val="1200"/>
              <a:buFont typeface="Arial"/>
              <a:buNone/>
            </a:pPr>
            <a:r>
              <a:rPr lang="en-US" sz="1200">
                <a:solidFill>
                  <a:srgbClr val="0070C0"/>
                </a:solidFill>
                <a:latin typeface="Arial"/>
                <a:ea typeface="Arial"/>
                <a:cs typeface="Arial"/>
                <a:sym typeface="Arial"/>
              </a:rPr>
              <a:t>connect(X,Y,Z</a:t>
            </a:r>
            <a:r>
              <a:rPr lang="en-US"/>
              <a:t>)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2.</a:t>
            </a:r>
            <a:endParaRPr/>
          </a:p>
        </p:txBody>
      </p:sp>
      <p:sp>
        <p:nvSpPr>
          <p:cNvPr id="226" name="Google Shape;226;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 name="Google Shape;23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Belum siap lagi</a:t>
            </a:r>
            <a:endParaRPr/>
          </a:p>
        </p:txBody>
      </p:sp>
      <p:sp>
        <p:nvSpPr>
          <p:cNvPr id="285" name="Google Shape;285;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a:latin typeface="Calibri"/>
                <a:ea typeface="Calibri"/>
                <a:cs typeface="Calibri"/>
                <a:sym typeface="Calibri"/>
              </a:rPr>
              <a:t>Answer:</a:t>
            </a:r>
            <a:endParaRPr/>
          </a:p>
          <a:p>
            <a:pPr marL="0" marR="0" lvl="0" indent="0" algn="l" rtl="0">
              <a:lnSpc>
                <a:spcPct val="100000"/>
              </a:lnSpc>
              <a:spcBef>
                <a:spcPts val="0"/>
              </a:spcBef>
              <a:spcAft>
                <a:spcPts val="0"/>
              </a:spcAft>
              <a:buClr>
                <a:schemeClr val="dk1"/>
              </a:buClr>
              <a:buSzPts val="1200"/>
              <a:buFont typeface="Calibri"/>
              <a:buNone/>
            </a:pPr>
            <a:endParaRPr>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a:latin typeface="Calibri"/>
                <a:ea typeface="Calibri"/>
                <a:cs typeface="Calibri"/>
                <a:sym typeface="Calibri"/>
              </a:rPr>
              <a:t>EULER noted WALK WAS IMPOSSIBLE UNLESS A GRAPH HAS EXACTLY ZERO OR TWO NODES OF ODD DEGREES</a:t>
            </a:r>
            <a:endParaRPr/>
          </a:p>
          <a:p>
            <a:pPr marL="0" lvl="0" indent="0" algn="l" rtl="0">
              <a:lnSpc>
                <a:spcPct val="100000"/>
              </a:lnSpc>
              <a:spcBef>
                <a:spcPts val="0"/>
              </a:spcBef>
              <a:spcAft>
                <a:spcPts val="0"/>
              </a:spcAft>
              <a:buSzPts val="1400"/>
              <a:buNone/>
            </a:pPr>
            <a:endParaRPr/>
          </a:p>
        </p:txBody>
      </p:sp>
      <p:sp>
        <p:nvSpPr>
          <p:cNvPr id="292" name="Google Shape;292;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0" name="Google Shape;320;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9" name="Google Shape;329;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9" name="Google Shape;339;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6" name="Google Shape;38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7" name="Google Shape;397;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u="sng">
                <a:solidFill>
                  <a:schemeClr val="hlink"/>
                </a:solidFill>
                <a:hlinkClick r:id="rId3"/>
              </a:rPr>
              <a:t>https://visualgo.net/en/dfsbfs?slide=1</a:t>
            </a:r>
            <a:endParaRPr/>
          </a:p>
        </p:txBody>
      </p:sp>
      <p:sp>
        <p:nvSpPr>
          <p:cNvPr id="398" name="Google Shape;398;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9" name="Google Shape;419;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6" name="Google Shape;426;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8" name="Google Shape;438;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5" name="Google Shape;445;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7" name="Google Shape;457;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458" name="Google Shape;458;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 name="Google Shape;464;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465" name="Google Shape;465;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5" name="Google Shape;525;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526" name="Google Shape;526;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2" name="Google Shape;532;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1" name="Google Shape;541;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0" name="Google Shape;550;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9" name="Google Shape;559;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9" name="Google Shape;569;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9" name="Google Shape;589;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9" name="Google Shape;599;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9" name="Google Shape;609;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4" name="Google Shape;684;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4" name="Google Shape;694;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4" name="Google Shape;704;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3" name="Google Shape;733;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4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4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3" name="Google Shape;23;p4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4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4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4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4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9" name="Google Shape;39;p4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4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4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5" name="Google Shape;45;p4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6" name="Google Shape;46;p4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4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4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2" name="Google Shape;52;p4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3" name="Google Shape;53;p4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4" name="Google Shape;54;p4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5" name="Google Shape;55;p4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4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5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5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5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5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5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5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6" name="Google Shape;66;p5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7" name="Google Shape;67;p5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5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5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5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52"/>
          <p:cNvSpPr>
            <a:spLocks noGrp="1"/>
          </p:cNvSpPr>
          <p:nvPr>
            <p:ph type="pic" idx="2"/>
          </p:nvPr>
        </p:nvSpPr>
        <p:spPr>
          <a:xfrm>
            <a:off x="1792288" y="612775"/>
            <a:ext cx="5486400" cy="4114800"/>
          </a:xfrm>
          <a:prstGeom prst="rect">
            <a:avLst/>
          </a:prstGeom>
          <a:noFill/>
          <a:ln>
            <a:noFill/>
          </a:ln>
        </p:spPr>
      </p:sp>
      <p:sp>
        <p:nvSpPr>
          <p:cNvPr id="73" name="Google Shape;73;p5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74" name="Google Shape;74;p5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5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5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5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53"/>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0" name="Google Shape;80;p5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5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5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54"/>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54"/>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6" name="Google Shape;86;p5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5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5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43"/>
          <p:cNvPicPr preferRelativeResize="0"/>
          <p:nvPr/>
        </p:nvPicPr>
        <p:blipFill rotWithShape="1">
          <a:blip r:embed="rId13">
            <a:alphaModFix/>
          </a:blip>
          <a:srcRect/>
          <a:stretch/>
        </p:blipFill>
        <p:spPr>
          <a:xfrm>
            <a:off x="-747" y="6487366"/>
            <a:ext cx="9131300" cy="357187"/>
          </a:xfrm>
          <a:prstGeom prst="rect">
            <a:avLst/>
          </a:prstGeom>
          <a:noFill/>
          <a:ln>
            <a:noFill/>
          </a:ln>
        </p:spPr>
      </p:pic>
      <p:sp>
        <p:nvSpPr>
          <p:cNvPr id="11" name="Google Shape;11;p43"/>
          <p:cNvSpPr/>
          <p:nvPr/>
        </p:nvSpPr>
        <p:spPr>
          <a:xfrm>
            <a:off x="0" y="0"/>
            <a:ext cx="9144000" cy="1417638"/>
          </a:xfrm>
          <a:prstGeom prst="rect">
            <a:avLst/>
          </a:prstGeom>
          <a:solidFill>
            <a:srgbClr val="FFE1A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 name="Google Shape;12;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13" name="Google Shape;13;p43" descr="header_UTM"/>
          <p:cNvPicPr preferRelativeResize="0"/>
          <p:nvPr/>
        </p:nvPicPr>
        <p:blipFill rotWithShape="1">
          <a:blip r:embed="rId14">
            <a:alphaModFix/>
          </a:blip>
          <a:srcRect/>
          <a:stretch/>
        </p:blipFill>
        <p:spPr>
          <a:xfrm>
            <a:off x="63500" y="106363"/>
            <a:ext cx="1195388" cy="395287"/>
          </a:xfrm>
          <a:prstGeom prst="rect">
            <a:avLst/>
          </a:prstGeom>
          <a:noFill/>
          <a:ln>
            <a:noFill/>
          </a:ln>
        </p:spPr>
      </p:pic>
      <p:pic>
        <p:nvPicPr>
          <p:cNvPr id="14" name="Google Shape;14;p43" descr="header_url"/>
          <p:cNvPicPr preferRelativeResize="0"/>
          <p:nvPr/>
        </p:nvPicPr>
        <p:blipFill rotWithShape="1">
          <a:blip r:embed="rId15">
            <a:alphaModFix/>
          </a:blip>
          <a:srcRect/>
          <a:stretch/>
        </p:blipFill>
        <p:spPr>
          <a:xfrm>
            <a:off x="0" y="1169894"/>
            <a:ext cx="2376488" cy="255588"/>
          </a:xfrm>
          <a:prstGeom prst="rect">
            <a:avLst/>
          </a:prstGeom>
          <a:noFill/>
          <a:ln>
            <a:noFill/>
          </a:ln>
        </p:spPr>
      </p:pic>
      <p:sp>
        <p:nvSpPr>
          <p:cNvPr id="15" name="Google Shape;15;p4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 name="Google Shape;16;p4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p4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4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9" name="Google Shape;19;p43" descr="A close up of a logo&#10;&#10;Description automatically generated"/>
          <p:cNvPicPr preferRelativeResize="0"/>
          <p:nvPr/>
        </p:nvPicPr>
        <p:blipFill rotWithShape="1">
          <a:blip r:embed="rId16">
            <a:alphaModFix/>
          </a:blip>
          <a:srcRect/>
          <a:stretch/>
        </p:blipFill>
        <p:spPr>
          <a:xfrm>
            <a:off x="7630160" y="6021985"/>
            <a:ext cx="1392237" cy="43338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9"/>
        <p:cNvGrpSpPr/>
        <p:nvPr/>
      </p:nvGrpSpPr>
      <p:grpSpPr>
        <a:xfrm>
          <a:off x="0" y="0"/>
          <a:ext cx="0" cy="0"/>
          <a:chOff x="0" y="0"/>
          <a:chExt cx="0" cy="0"/>
        </a:xfrm>
      </p:grpSpPr>
      <p:sp>
        <p:nvSpPr>
          <p:cNvPr id="90" name="Google Shape;90;p55"/>
          <p:cNvSpPr txBo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marR="0" lvl="0" indent="-342900" algn="ctr" rtl="0">
              <a:lnSpc>
                <a:spcPct val="100000"/>
              </a:lnSpc>
              <a:spcBef>
                <a:spcPts val="0"/>
              </a:spcBef>
              <a:spcAft>
                <a:spcPts val="0"/>
              </a:spcAft>
              <a:buClr>
                <a:schemeClr val="dk1"/>
              </a:buClr>
              <a:buSzPts val="5400"/>
              <a:buFont typeface="Arial"/>
              <a:buNone/>
            </a:pPr>
            <a:endParaRPr sz="5400" b="0" i="0" u="none" strike="noStrike" cap="none">
              <a:solidFill>
                <a:schemeClr val="dk1"/>
              </a:solidFill>
              <a:latin typeface="Calibri"/>
              <a:ea typeface="Calibri"/>
              <a:cs typeface="Calibri"/>
              <a:sym typeface="Calibri"/>
            </a:endParaRPr>
          </a:p>
          <a:p>
            <a:pPr marL="342900" marR="0" lvl="0" indent="-342900" algn="ctr" rtl="0">
              <a:lnSpc>
                <a:spcPct val="100000"/>
              </a:lnSpc>
              <a:spcBef>
                <a:spcPts val="1080"/>
              </a:spcBef>
              <a:spcAft>
                <a:spcPts val="0"/>
              </a:spcAft>
              <a:buClr>
                <a:schemeClr val="dk1"/>
              </a:buClr>
              <a:buSzPts val="5400"/>
              <a:buFont typeface="Arial"/>
              <a:buNone/>
            </a:pPr>
            <a:r>
              <a:rPr lang="en-US" sz="5400" b="1" i="0" u="none" strike="noStrike" cap="none">
                <a:solidFill>
                  <a:schemeClr val="dk1"/>
                </a:solidFill>
                <a:latin typeface="Calibri"/>
                <a:ea typeface="Calibri"/>
                <a:cs typeface="Calibri"/>
                <a:sym typeface="Calibri"/>
              </a:rPr>
              <a:t>Terima Kasih</a:t>
            </a:r>
            <a:endParaRPr sz="1400" b="0" i="0" u="none" strike="noStrike" cap="none">
              <a:solidFill>
                <a:srgbClr val="000000"/>
              </a:solidFill>
              <a:latin typeface="Arial"/>
              <a:ea typeface="Arial"/>
              <a:cs typeface="Arial"/>
              <a:sym typeface="Arial"/>
            </a:endParaRPr>
          </a:p>
          <a:p>
            <a:pPr marL="342900" marR="0" lvl="0" indent="-342900" algn="ctr" rtl="0">
              <a:lnSpc>
                <a:spcPct val="100000"/>
              </a:lnSpc>
              <a:spcBef>
                <a:spcPts val="560"/>
              </a:spcBef>
              <a:spcAft>
                <a:spcPts val="0"/>
              </a:spcAft>
              <a:buClr>
                <a:srgbClr val="C00000"/>
              </a:buClr>
              <a:buSzPts val="2800"/>
              <a:buFont typeface="Arial"/>
              <a:buNone/>
            </a:pPr>
            <a:r>
              <a:rPr lang="en-US" sz="2800" b="0" i="0" u="none" strike="noStrike" cap="none">
                <a:solidFill>
                  <a:srgbClr val="C00000"/>
                </a:solidFill>
                <a:latin typeface="Calibri"/>
                <a:ea typeface="Calibri"/>
                <a:cs typeface="Calibri"/>
                <a:sym typeface="Calibri"/>
              </a:rPr>
              <a:t>atas keprihatinan anda</a:t>
            </a:r>
            <a:endParaRPr sz="1400" b="0" i="0" u="none" strike="noStrike" cap="none">
              <a:solidFill>
                <a:srgbClr val="000000"/>
              </a:solidFill>
              <a:latin typeface="Arial"/>
              <a:ea typeface="Arial"/>
              <a:cs typeface="Arial"/>
              <a:sym typeface="Arial"/>
            </a:endParaRPr>
          </a:p>
          <a:p>
            <a:pPr marL="342900" marR="0" lvl="0" indent="-342900" algn="ctr" rtl="0">
              <a:lnSpc>
                <a:spcPct val="100000"/>
              </a:lnSpc>
              <a:spcBef>
                <a:spcPts val="560"/>
              </a:spcBef>
              <a:spcAft>
                <a:spcPts val="0"/>
              </a:spcAft>
              <a:buClr>
                <a:schemeClr val="dk1"/>
              </a:buClr>
              <a:buSzPts val="2800"/>
              <a:buFont typeface="Arial"/>
              <a:buNone/>
            </a:pPr>
            <a:endParaRPr sz="2800" b="0" i="0" u="none" strike="noStrike" cap="none">
              <a:solidFill>
                <a:srgbClr val="C00000"/>
              </a:solidFill>
              <a:latin typeface="Calibri"/>
              <a:ea typeface="Calibri"/>
              <a:cs typeface="Calibri"/>
              <a:sym typeface="Calibri"/>
            </a:endParaRPr>
          </a:p>
          <a:p>
            <a:pPr marL="342900" marR="0" lvl="0" indent="-342900" algn="ctr" rtl="0">
              <a:lnSpc>
                <a:spcPct val="100000"/>
              </a:lnSpc>
              <a:spcBef>
                <a:spcPts val="720"/>
              </a:spcBef>
              <a:spcAft>
                <a:spcPts val="0"/>
              </a:spcAft>
              <a:buClr>
                <a:srgbClr val="002060"/>
              </a:buClr>
              <a:buSzPts val="3600"/>
              <a:buFont typeface="Arial"/>
              <a:buNone/>
            </a:pPr>
            <a:r>
              <a:rPr lang="en-US" sz="3600" b="1" i="0" u="none" strike="noStrike" cap="none">
                <a:solidFill>
                  <a:srgbClr val="002060"/>
                </a:solidFill>
                <a:latin typeface="Libre Baskerville"/>
                <a:ea typeface="Libre Baskerville"/>
                <a:cs typeface="Libre Baskerville"/>
                <a:sym typeface="Libre Baskerville"/>
              </a:rPr>
              <a:t>“I Care, You Care, We Care”</a:t>
            </a:r>
            <a:endParaRPr sz="3600" b="1" i="0" u="none" strike="noStrike" cap="none">
              <a:solidFill>
                <a:srgbClr val="002060"/>
              </a:solidFill>
              <a:latin typeface="Libre Baskerville"/>
              <a:ea typeface="Libre Baskerville"/>
              <a:cs typeface="Libre Baskerville"/>
              <a:sym typeface="Libre Baskerville"/>
            </a:endParaRPr>
          </a:p>
        </p:txBody>
      </p:sp>
      <p:pic>
        <p:nvPicPr>
          <p:cNvPr id="91" name="Google Shape;91;p55"/>
          <p:cNvPicPr preferRelativeResize="0"/>
          <p:nvPr/>
        </p:nvPicPr>
        <p:blipFill rotWithShape="1">
          <a:blip r:embed="rId2">
            <a:alphaModFix/>
          </a:blip>
          <a:srcRect/>
          <a:stretch/>
        </p:blipFill>
        <p:spPr>
          <a:xfrm>
            <a:off x="-747" y="6487366"/>
            <a:ext cx="9131300" cy="357187"/>
          </a:xfrm>
          <a:prstGeom prst="rect">
            <a:avLst/>
          </a:prstGeom>
          <a:noFill/>
          <a:ln>
            <a:noFill/>
          </a:ln>
        </p:spPr>
      </p:pic>
      <p:sp>
        <p:nvSpPr>
          <p:cNvPr id="92" name="Google Shape;92;p55"/>
          <p:cNvSpPr txBox="1">
            <a:spLocks noGrp="1"/>
          </p:cNvSpPr>
          <p:nvPr>
            <p:ph type="dt" idx="10"/>
          </p:nvPr>
        </p:nvSpPr>
        <p:spPr>
          <a:xfrm>
            <a:off x="0" y="6600451"/>
            <a:ext cx="1547664"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3" name="Google Shape;93;p55"/>
          <p:cNvSpPr txBox="1">
            <a:spLocks noGrp="1"/>
          </p:cNvSpPr>
          <p:nvPr>
            <p:ph type="sldNum" idx="12"/>
          </p:nvPr>
        </p:nvSpPr>
        <p:spPr>
          <a:xfrm>
            <a:off x="8316416" y="6600451"/>
            <a:ext cx="457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94" name="Google Shape;94;p55"/>
          <p:cNvSpPr/>
          <p:nvPr/>
        </p:nvSpPr>
        <p:spPr>
          <a:xfrm>
            <a:off x="0" y="0"/>
            <a:ext cx="9144000" cy="1417638"/>
          </a:xfrm>
          <a:prstGeom prst="rect">
            <a:avLst/>
          </a:prstGeom>
          <a:solidFill>
            <a:srgbClr val="FFE1A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95" name="Google Shape;95;p55" descr="header_UTM"/>
          <p:cNvPicPr preferRelativeResize="0"/>
          <p:nvPr/>
        </p:nvPicPr>
        <p:blipFill rotWithShape="1">
          <a:blip r:embed="rId3">
            <a:alphaModFix/>
          </a:blip>
          <a:srcRect/>
          <a:stretch/>
        </p:blipFill>
        <p:spPr>
          <a:xfrm>
            <a:off x="63500" y="106363"/>
            <a:ext cx="1195388" cy="395287"/>
          </a:xfrm>
          <a:prstGeom prst="rect">
            <a:avLst/>
          </a:prstGeom>
          <a:noFill/>
          <a:ln>
            <a:noFill/>
          </a:ln>
        </p:spPr>
      </p:pic>
      <p:pic>
        <p:nvPicPr>
          <p:cNvPr id="96" name="Google Shape;96;p55" descr="header_url"/>
          <p:cNvPicPr preferRelativeResize="0"/>
          <p:nvPr/>
        </p:nvPicPr>
        <p:blipFill rotWithShape="1">
          <a:blip r:embed="rId4">
            <a:alphaModFix/>
          </a:blip>
          <a:srcRect/>
          <a:stretch/>
        </p:blipFill>
        <p:spPr>
          <a:xfrm>
            <a:off x="0" y="1009650"/>
            <a:ext cx="2376488" cy="388938"/>
          </a:xfrm>
          <a:prstGeom prst="rect">
            <a:avLst/>
          </a:prstGeom>
          <a:noFill/>
          <a:ln>
            <a:noFill/>
          </a:ln>
        </p:spPr>
      </p:pic>
      <p:pic>
        <p:nvPicPr>
          <p:cNvPr id="97" name="Google Shape;97;p55"/>
          <p:cNvPicPr preferRelativeResize="0"/>
          <p:nvPr/>
        </p:nvPicPr>
        <p:blipFill rotWithShape="1">
          <a:blip r:embed="rId5">
            <a:alphaModFix/>
          </a:blip>
          <a:srcRect/>
          <a:stretch/>
        </p:blipFill>
        <p:spPr>
          <a:xfrm>
            <a:off x="1873008" y="53788"/>
            <a:ext cx="580837" cy="438130"/>
          </a:xfrm>
          <a:prstGeom prst="rect">
            <a:avLst/>
          </a:prstGeom>
          <a:noFill/>
          <a:ln>
            <a:noFill/>
          </a:ln>
        </p:spPr>
      </p:pic>
      <p:pic>
        <p:nvPicPr>
          <p:cNvPr id="98" name="Google Shape;98;p55" descr="PNG_newlogo"/>
          <p:cNvPicPr preferRelativeResize="0"/>
          <p:nvPr/>
        </p:nvPicPr>
        <p:blipFill rotWithShape="1">
          <a:blip r:embed="rId6">
            <a:alphaModFix/>
          </a:blip>
          <a:srcRect/>
          <a:stretch/>
        </p:blipFill>
        <p:spPr>
          <a:xfrm>
            <a:off x="1354633" y="26894"/>
            <a:ext cx="504056" cy="477366"/>
          </a:xfrm>
          <a:prstGeom prst="rect">
            <a:avLst/>
          </a:prstGeom>
          <a:noFill/>
          <a:ln>
            <a:noFill/>
          </a:ln>
        </p:spPr>
      </p:pic>
      <p:sp>
        <p:nvSpPr>
          <p:cNvPr id="99" name="Google Shape;99;p55"/>
          <p:cNvSpPr txBox="1">
            <a:spLocks noGrp="1"/>
          </p:cNvSpPr>
          <p:nvPr>
            <p:ph type="ftr" idx="11"/>
          </p:nvPr>
        </p:nvSpPr>
        <p:spPr>
          <a:xfrm>
            <a:off x="2281520" y="6647328"/>
            <a:ext cx="4704928" cy="365125"/>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pBT-8gqhHzo"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
          <p:cNvSpPr txBox="1">
            <a:spLocks noGrp="1"/>
          </p:cNvSpPr>
          <p:nvPr>
            <p:ph type="ctrTitle"/>
          </p:nvPr>
        </p:nvSpPr>
        <p:spPr>
          <a:xfrm>
            <a:off x="0" y="2130425"/>
            <a:ext cx="9220200" cy="93662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C00000"/>
              </a:buClr>
              <a:buSzPts val="5400"/>
              <a:buFont typeface="Roboto"/>
              <a:buNone/>
            </a:pPr>
            <a:r>
              <a:rPr lang="en-US" sz="5400" b="1">
                <a:solidFill>
                  <a:srgbClr val="C00000"/>
                </a:solidFill>
                <a:latin typeface="Roboto"/>
                <a:ea typeface="Roboto"/>
                <a:cs typeface="Roboto"/>
                <a:sym typeface="Roboto"/>
              </a:rPr>
              <a:t>Search</a:t>
            </a:r>
            <a:r>
              <a:rPr lang="en-US" sz="5400" b="1">
                <a:latin typeface="Roboto"/>
                <a:ea typeface="Roboto"/>
                <a:cs typeface="Roboto"/>
                <a:sym typeface="Roboto"/>
              </a:rPr>
              <a:t> Algorithms</a:t>
            </a:r>
            <a:endParaRPr/>
          </a:p>
        </p:txBody>
      </p:sp>
      <p:sp>
        <p:nvSpPr>
          <p:cNvPr id="105" name="Google Shape;105;p1"/>
          <p:cNvSpPr txBox="1">
            <a:spLocks noGrp="1"/>
          </p:cNvSpPr>
          <p:nvPr>
            <p:ph type="subTitle" idx="1"/>
          </p:nvPr>
        </p:nvSpPr>
        <p:spPr>
          <a:xfrm>
            <a:off x="0" y="3886200"/>
            <a:ext cx="9144000" cy="1752600"/>
          </a:xfrm>
          <a:prstGeom prst="rect">
            <a:avLst/>
          </a:prstGeom>
          <a:solidFill>
            <a:srgbClr val="FFE1AD"/>
          </a:solid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0070C0"/>
              </a:buClr>
              <a:buSzPts val="4000"/>
              <a:buNone/>
            </a:pPr>
            <a:r>
              <a:rPr lang="en-US" sz="4000" b="1" dirty="0">
                <a:solidFill>
                  <a:srgbClr val="0070C0"/>
                </a:solidFill>
              </a:rPr>
              <a:t>Artificial Intelligence</a:t>
            </a:r>
            <a:endParaRPr dirty="0"/>
          </a:p>
          <a:p>
            <a:pPr marL="0" lvl="0" indent="0" algn="ctr" rtl="0">
              <a:lnSpc>
                <a:spcPct val="100000"/>
              </a:lnSpc>
              <a:spcBef>
                <a:spcPts val="220"/>
              </a:spcBef>
              <a:spcAft>
                <a:spcPts val="0"/>
              </a:spcAft>
              <a:buClr>
                <a:srgbClr val="888888"/>
              </a:buClr>
              <a:buSzPts val="1100"/>
              <a:buNone/>
            </a:pPr>
            <a:endParaRPr sz="1100" b="1" dirty="0">
              <a:solidFill>
                <a:srgbClr val="0070C0"/>
              </a:solidFill>
            </a:endParaRPr>
          </a:p>
          <a:p>
            <a:pPr marL="0" lvl="0" indent="0" algn="ctr" rtl="0">
              <a:lnSpc>
                <a:spcPct val="100000"/>
              </a:lnSpc>
              <a:spcBef>
                <a:spcPts val="0"/>
              </a:spcBef>
              <a:spcAft>
                <a:spcPts val="0"/>
              </a:spcAft>
              <a:buClr>
                <a:srgbClr val="888888"/>
              </a:buClr>
              <a:buSzPts val="2800"/>
              <a:buNone/>
            </a:pPr>
            <a:r>
              <a:rPr lang="en-US" sz="2800" i="1" dirty="0"/>
              <a:t>Faculty of Computing</a:t>
            </a:r>
            <a:endParaRPr dirty="0"/>
          </a:p>
          <a:p>
            <a:pPr marL="0" lvl="0" indent="0" algn="ctr" rtl="0">
              <a:lnSpc>
                <a:spcPct val="100000"/>
              </a:lnSpc>
              <a:spcBef>
                <a:spcPts val="0"/>
              </a:spcBef>
              <a:spcAft>
                <a:spcPts val="0"/>
              </a:spcAft>
              <a:buClr>
                <a:srgbClr val="888888"/>
              </a:buClr>
              <a:buSzPts val="2800"/>
              <a:buNone/>
            </a:pPr>
            <a:r>
              <a:rPr lang="en-US" sz="2800" i="1" dirty="0" err="1"/>
              <a:t>Universiti</a:t>
            </a:r>
            <a:r>
              <a:rPr lang="en-US" sz="2800" i="1" dirty="0"/>
              <a:t> </a:t>
            </a:r>
            <a:r>
              <a:rPr lang="en-US" sz="2800" i="1" dirty="0" err="1"/>
              <a:t>Teknologi</a:t>
            </a:r>
            <a:r>
              <a:rPr lang="en-US" sz="2800" i="1" dirty="0"/>
              <a:t> Malaysia</a:t>
            </a:r>
            <a:endParaRPr dirty="0"/>
          </a:p>
        </p:txBody>
      </p:sp>
      <p:pic>
        <p:nvPicPr>
          <p:cNvPr id="106" name="Google Shape;106;p1" descr="Image result for artificial intelligence icon"/>
          <p:cNvPicPr preferRelativeResize="0"/>
          <p:nvPr/>
        </p:nvPicPr>
        <p:blipFill rotWithShape="1">
          <a:blip r:embed="rId3">
            <a:alphaModFix/>
          </a:blip>
          <a:srcRect l="14092" r="15443" b="29337"/>
          <a:stretch/>
        </p:blipFill>
        <p:spPr>
          <a:xfrm>
            <a:off x="1" y="3429000"/>
            <a:ext cx="2071412" cy="25662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112" name="Google Shape;112;p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113" name="Google Shape;113;p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2</a:t>
            </a:fld>
            <a:endParaRPr/>
          </a:p>
        </p:txBody>
      </p:sp>
      <p:pic>
        <p:nvPicPr>
          <p:cNvPr id="114" name="Google Shape;114;p2" descr="Image result for artificial intelligence icon"/>
          <p:cNvPicPr preferRelativeResize="0"/>
          <p:nvPr/>
        </p:nvPicPr>
        <p:blipFill rotWithShape="1">
          <a:blip r:embed="rId3">
            <a:alphaModFix/>
          </a:blip>
          <a:srcRect l="14092" r="15443" b="29337"/>
          <a:stretch/>
        </p:blipFill>
        <p:spPr>
          <a:xfrm>
            <a:off x="64826" y="2259238"/>
            <a:ext cx="2071412" cy="2566251"/>
          </a:xfrm>
          <a:prstGeom prst="rect">
            <a:avLst/>
          </a:prstGeom>
          <a:noFill/>
          <a:ln>
            <a:noFill/>
          </a:ln>
        </p:spPr>
      </p:pic>
      <p:sp>
        <p:nvSpPr>
          <p:cNvPr id="115" name="Google Shape;115;p2"/>
          <p:cNvSpPr txBox="1"/>
          <p:nvPr/>
        </p:nvSpPr>
        <p:spPr>
          <a:xfrm>
            <a:off x="2136239" y="2602326"/>
            <a:ext cx="7007761" cy="936625"/>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C00000"/>
              </a:buClr>
              <a:buSzPts val="5400"/>
              <a:buFont typeface="Roboto"/>
              <a:buNone/>
            </a:pPr>
            <a:r>
              <a:rPr lang="en-US" sz="5400" b="1" i="0" u="none" strike="noStrike" cap="none">
                <a:solidFill>
                  <a:srgbClr val="C00000"/>
                </a:solidFill>
                <a:latin typeface="Roboto"/>
                <a:ea typeface="Roboto"/>
                <a:cs typeface="Roboto"/>
                <a:sym typeface="Roboto"/>
              </a:rPr>
              <a:t>Formulation</a:t>
            </a:r>
            <a:endParaRPr sz="1400" b="0" i="0" u="none" strike="noStrike" cap="none">
              <a:solidFill>
                <a:srgbClr val="000000"/>
              </a:solidFill>
              <a:latin typeface="Arial"/>
              <a:ea typeface="Arial"/>
              <a:cs typeface="Arial"/>
              <a:sym typeface="Arial"/>
            </a:endParaRPr>
          </a:p>
        </p:txBody>
      </p:sp>
      <p:sp>
        <p:nvSpPr>
          <p:cNvPr id="116" name="Google Shape;116;p2"/>
          <p:cNvSpPr/>
          <p:nvPr/>
        </p:nvSpPr>
        <p:spPr>
          <a:xfrm>
            <a:off x="2136238" y="3538951"/>
            <a:ext cx="6217023" cy="1569660"/>
          </a:xfrm>
          <a:prstGeom prst="rect">
            <a:avLst/>
          </a:prstGeom>
          <a:noFill/>
          <a:ln>
            <a:noFill/>
          </a:ln>
        </p:spPr>
        <p:txBody>
          <a:bodyPr spcFirstLastPara="1" wrap="square" lIns="91425" tIns="45700" rIns="91425" bIns="45700" anchor="t" anchorCtr="0">
            <a:spAutoFit/>
          </a:bodyPr>
          <a:lstStyle/>
          <a:p>
            <a:pPr marL="742950" marR="0" lvl="1"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State Space</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Problem Formulation</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Graph Theory</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State Space Mapping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800">
                <a:solidFill>
                  <a:srgbClr val="FFE1AD"/>
                </a:solidFill>
              </a:rPr>
              <a:t>2019</a:t>
            </a:r>
            <a:endParaRPr/>
          </a:p>
        </p:txBody>
      </p:sp>
      <p:sp>
        <p:nvSpPr>
          <p:cNvPr id="122" name="Google Shape;122;p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800">
                <a:solidFill>
                  <a:srgbClr val="FFE1AD"/>
                </a:solidFill>
              </a:rPr>
              <a:t>MECQ1203: Artificial Intelligence</a:t>
            </a:r>
            <a:endParaRPr/>
          </a:p>
        </p:txBody>
      </p:sp>
      <p:sp>
        <p:nvSpPr>
          <p:cNvPr id="123" name="Google Shape;123;p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rgbClr val="FFE1AD"/>
                </a:solidFill>
              </a:rPr>
              <a:t>3</a:t>
            </a:fld>
            <a:endParaRPr sz="900">
              <a:solidFill>
                <a:srgbClr val="FFE1AD"/>
              </a:solidFill>
            </a:endParaRPr>
          </a:p>
        </p:txBody>
      </p:sp>
      <p:sp>
        <p:nvSpPr>
          <p:cNvPr id="124" name="Google Shape;124;p3"/>
          <p:cNvSpPr/>
          <p:nvPr/>
        </p:nvSpPr>
        <p:spPr>
          <a:xfrm>
            <a:off x="304800" y="1828799"/>
            <a:ext cx="8229600" cy="5134721"/>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70C0"/>
              </a:buClr>
              <a:buSzPts val="2400"/>
              <a:buFont typeface="Arial"/>
              <a:buChar char="•"/>
            </a:pPr>
            <a:r>
              <a:rPr lang="en-US" sz="2400" b="0" i="0" u="none" strike="noStrike" cap="none">
                <a:solidFill>
                  <a:schemeClr val="dk1"/>
                </a:solidFill>
                <a:latin typeface="Calibri"/>
                <a:ea typeface="Calibri"/>
                <a:cs typeface="Calibri"/>
                <a:sym typeface="Calibri"/>
              </a:rPr>
              <a:t>In Artificial Intelligence, Search techniques are universal problem-solving methods.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80"/>
              </a:spcBef>
              <a:spcAft>
                <a:spcPts val="0"/>
              </a:spcAft>
              <a:buClr>
                <a:srgbClr val="0070C0"/>
              </a:buClr>
              <a:buSzPts val="2400"/>
              <a:buFont typeface="Arial"/>
              <a:buChar char="•"/>
            </a:pPr>
            <a:r>
              <a:rPr lang="en-US" sz="2400" b="1" i="0" u="none" strike="noStrike" cap="none">
                <a:solidFill>
                  <a:schemeClr val="dk1"/>
                </a:solidFill>
                <a:latin typeface="Calibri"/>
                <a:ea typeface="Calibri"/>
                <a:cs typeface="Calibri"/>
                <a:sym typeface="Calibri"/>
              </a:rPr>
              <a:t>Rational agents </a:t>
            </a:r>
            <a:r>
              <a:rPr lang="en-US" sz="2400" b="0" i="0" u="none" strike="noStrike" cap="none">
                <a:solidFill>
                  <a:schemeClr val="dk1"/>
                </a:solidFill>
                <a:latin typeface="Calibri"/>
                <a:ea typeface="Calibri"/>
                <a:cs typeface="Calibri"/>
                <a:sym typeface="Calibri"/>
              </a:rPr>
              <a:t>or </a:t>
            </a:r>
            <a:r>
              <a:rPr lang="en-US" sz="2400" b="1" i="0" u="none" strike="noStrike" cap="none">
                <a:solidFill>
                  <a:schemeClr val="dk1"/>
                </a:solidFill>
                <a:latin typeface="Calibri"/>
                <a:ea typeface="Calibri"/>
                <a:cs typeface="Calibri"/>
                <a:sym typeface="Calibri"/>
              </a:rPr>
              <a:t>Problem-solving agents </a:t>
            </a:r>
            <a:r>
              <a:rPr lang="en-US" sz="2400" b="0" i="0" u="none" strike="noStrike" cap="none">
                <a:solidFill>
                  <a:schemeClr val="dk1"/>
                </a:solidFill>
                <a:latin typeface="Calibri"/>
                <a:ea typeface="Calibri"/>
                <a:cs typeface="Calibri"/>
                <a:sym typeface="Calibri"/>
              </a:rPr>
              <a:t>in AI mostly used these search strategies or algorithms to solve a specific problem and provide the best result.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80"/>
              </a:spcBef>
              <a:spcAft>
                <a:spcPts val="0"/>
              </a:spcAft>
              <a:buClr>
                <a:srgbClr val="0070C0"/>
              </a:buClr>
              <a:buSzPts val="2400"/>
              <a:buFont typeface="Arial"/>
              <a:buChar char="•"/>
            </a:pPr>
            <a:r>
              <a:rPr lang="en-US" sz="2400" b="0" i="0" u="none" strike="noStrike" cap="none">
                <a:solidFill>
                  <a:schemeClr val="dk1"/>
                </a:solidFill>
                <a:latin typeface="Calibri"/>
                <a:ea typeface="Calibri"/>
                <a:cs typeface="Calibri"/>
                <a:sym typeface="Calibri"/>
              </a:rPr>
              <a:t>Problem-solving agents are the goal-based agents and use atomic representation. </a:t>
            </a:r>
            <a:endParaRPr sz="1400" b="0" i="0" u="none" strike="noStrike" cap="none">
              <a:solidFill>
                <a:srgbClr val="000000"/>
              </a:solidFill>
              <a:latin typeface="Arial"/>
              <a:ea typeface="Arial"/>
              <a:cs typeface="Arial"/>
              <a:sym typeface="Arial"/>
            </a:endParaRPr>
          </a:p>
        </p:txBody>
      </p:sp>
      <p:sp>
        <p:nvSpPr>
          <p:cNvPr id="125" name="Google Shape;125;p3"/>
          <p:cNvSpPr/>
          <p:nvPr/>
        </p:nvSpPr>
        <p:spPr>
          <a:xfrm>
            <a:off x="1066800" y="304800"/>
            <a:ext cx="8073273"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chemeClr val="dk1"/>
                </a:solidFill>
                <a:latin typeface="Roboto"/>
                <a:ea typeface="Roboto"/>
                <a:cs typeface="Roboto"/>
                <a:sym typeface="Roboto"/>
              </a:rPr>
              <a:t>Searching Algorithm in AI</a:t>
            </a:r>
            <a:endParaRPr sz="4000" b="1" i="0" u="none" strike="noStrike" cap="none">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800">
                <a:solidFill>
                  <a:srgbClr val="FFE1AD"/>
                </a:solidFill>
              </a:rPr>
              <a:t>2019</a:t>
            </a:r>
            <a:endParaRPr/>
          </a:p>
        </p:txBody>
      </p:sp>
      <p:sp>
        <p:nvSpPr>
          <p:cNvPr id="131" name="Google Shape;131;p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800">
                <a:solidFill>
                  <a:srgbClr val="FFE1AD"/>
                </a:solidFill>
              </a:rPr>
              <a:t>MECQ1203: Artificial Intelligence</a:t>
            </a:r>
            <a:endParaRPr/>
          </a:p>
        </p:txBody>
      </p:sp>
      <p:sp>
        <p:nvSpPr>
          <p:cNvPr id="132" name="Google Shape;132;p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rgbClr val="FFE1AD"/>
                </a:solidFill>
              </a:rPr>
              <a:t>4</a:t>
            </a:fld>
            <a:endParaRPr sz="900">
              <a:solidFill>
                <a:srgbClr val="FFE1AD"/>
              </a:solidFill>
            </a:endParaRPr>
          </a:p>
        </p:txBody>
      </p:sp>
      <p:sp>
        <p:nvSpPr>
          <p:cNvPr id="133" name="Google Shape;133;p4"/>
          <p:cNvSpPr/>
          <p:nvPr/>
        </p:nvSpPr>
        <p:spPr>
          <a:xfrm>
            <a:off x="450477" y="1723200"/>
            <a:ext cx="8229600" cy="5134800"/>
          </a:xfrm>
          <a:prstGeom prst="rect">
            <a:avLst/>
          </a:prstGeom>
          <a:noFill/>
          <a:ln>
            <a:noFill/>
          </a:ln>
        </p:spPr>
        <p:txBody>
          <a:bodyPr spcFirstLastPara="1" wrap="square" lIns="91425" tIns="45700" rIns="91425" bIns="45700" anchor="t" anchorCtr="0">
            <a:noAutofit/>
          </a:bodyPr>
          <a:lstStyle/>
          <a:p>
            <a:pPr marL="742950" marR="0" lvl="1" indent="-285750" algn="l" rtl="0">
              <a:lnSpc>
                <a:spcPct val="100000"/>
              </a:lnSpc>
              <a:spcBef>
                <a:spcPts val="0"/>
              </a:spcBef>
              <a:spcAft>
                <a:spcPts val="0"/>
              </a:spcAft>
              <a:buClr>
                <a:srgbClr val="0070C0"/>
              </a:buClr>
              <a:buSzPts val="2400"/>
              <a:buFont typeface="Arial"/>
              <a:buChar char="•"/>
            </a:pPr>
            <a:r>
              <a:rPr lang="en-US" sz="2400" b="0" i="0" u="none" strike="noStrike" cap="none" dirty="0">
                <a:solidFill>
                  <a:schemeClr val="dk1"/>
                </a:solidFill>
                <a:latin typeface="Calibri"/>
                <a:ea typeface="Calibri"/>
                <a:cs typeface="Calibri"/>
                <a:sym typeface="Calibri"/>
              </a:rPr>
              <a:t>Represent a problem as – </a:t>
            </a:r>
            <a:r>
              <a:rPr lang="en-US" sz="2400" b="0" i="0" u="none" strike="noStrike" cap="none" dirty="0">
                <a:solidFill>
                  <a:srgbClr val="0070C0"/>
                </a:solidFill>
                <a:latin typeface="Calibri"/>
                <a:ea typeface="Calibri"/>
                <a:cs typeface="Calibri"/>
                <a:sym typeface="Calibri"/>
              </a:rPr>
              <a:t>A STATE SPACE</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480"/>
              </a:spcBef>
              <a:spcAft>
                <a:spcPts val="0"/>
              </a:spcAft>
              <a:buClr>
                <a:srgbClr val="0070C0"/>
              </a:buClr>
              <a:buSzPts val="2400"/>
              <a:buFont typeface="Arial"/>
              <a:buChar char="•"/>
            </a:pPr>
            <a:r>
              <a:rPr lang="en-US" sz="2400" b="0" i="0" u="none" strike="noStrike" cap="none" dirty="0">
                <a:solidFill>
                  <a:schemeClr val="dk1"/>
                </a:solidFill>
                <a:latin typeface="Calibri"/>
                <a:ea typeface="Calibri"/>
                <a:cs typeface="Calibri"/>
                <a:sym typeface="Calibri"/>
              </a:rPr>
              <a:t>Analyze the structure and complexity of problem and search procedures using – </a:t>
            </a:r>
            <a:r>
              <a:rPr lang="en-US" sz="2400" b="0" i="0" u="none" strike="noStrike" cap="none" dirty="0">
                <a:solidFill>
                  <a:srgbClr val="0070C0"/>
                </a:solidFill>
                <a:latin typeface="Calibri"/>
                <a:ea typeface="Calibri"/>
                <a:cs typeface="Calibri"/>
                <a:sym typeface="Calibri"/>
              </a:rPr>
              <a:t>GRAPH THEORY</a:t>
            </a:r>
            <a:endParaRPr sz="1400" b="0" i="0" u="none" strike="noStrike" cap="none" dirty="0">
              <a:solidFill>
                <a:srgbClr val="000000"/>
              </a:solidFill>
              <a:latin typeface="Arial"/>
              <a:ea typeface="Arial"/>
              <a:cs typeface="Arial"/>
              <a:sym typeface="Arial"/>
            </a:endParaRPr>
          </a:p>
          <a:p>
            <a:pPr marL="1143000" marR="0" lvl="2" indent="-228600" algn="l" rtl="0">
              <a:lnSpc>
                <a:spcPct val="100000"/>
              </a:lnSpc>
              <a:spcBef>
                <a:spcPts val="480"/>
              </a:spcBef>
              <a:spcAft>
                <a:spcPts val="0"/>
              </a:spcAft>
              <a:buClr>
                <a:srgbClr val="0070C0"/>
              </a:buClr>
              <a:buSzPts val="2400"/>
              <a:buFont typeface="Arial"/>
              <a:buChar char="•"/>
            </a:pPr>
            <a:r>
              <a:rPr lang="en-US" sz="2400" b="0" i="0" u="none" strike="noStrike" cap="none" dirty="0">
                <a:solidFill>
                  <a:schemeClr val="dk1"/>
                </a:solidFill>
                <a:latin typeface="Calibri"/>
                <a:ea typeface="Calibri"/>
                <a:cs typeface="Calibri"/>
                <a:sym typeface="Calibri"/>
              </a:rPr>
              <a:t>Nodes represent discrete states </a:t>
            </a:r>
            <a:br>
              <a:rPr lang="en-US" sz="2400" b="0" i="0" u="none" strike="noStrike" cap="none" dirty="0">
                <a:solidFill>
                  <a:schemeClr val="dk1"/>
                </a:solidFill>
                <a:latin typeface="Calibri"/>
                <a:ea typeface="Calibri"/>
                <a:cs typeface="Calibri"/>
                <a:sym typeface="Calibri"/>
              </a:rPr>
            </a:br>
            <a:r>
              <a:rPr lang="en-US" sz="2400" b="0" i="0" u="none" strike="noStrike" cap="none" dirty="0">
                <a:solidFill>
                  <a:schemeClr val="dk1"/>
                </a:solidFill>
                <a:latin typeface="Calibri"/>
                <a:ea typeface="Calibri"/>
                <a:cs typeface="Calibri"/>
                <a:sym typeface="Calibri"/>
              </a:rPr>
              <a:t>Example: Different configuration of game board</a:t>
            </a:r>
            <a:endParaRPr sz="1400" b="0" i="0" u="none" strike="noStrike" cap="none" dirty="0">
              <a:solidFill>
                <a:srgbClr val="000000"/>
              </a:solidFill>
              <a:latin typeface="Arial"/>
              <a:ea typeface="Arial"/>
              <a:cs typeface="Arial"/>
              <a:sym typeface="Arial"/>
            </a:endParaRPr>
          </a:p>
          <a:p>
            <a:pPr marL="1143000" marR="0" lvl="2" indent="-228600" algn="l" rtl="0">
              <a:lnSpc>
                <a:spcPct val="100000"/>
              </a:lnSpc>
              <a:spcBef>
                <a:spcPts val="480"/>
              </a:spcBef>
              <a:spcAft>
                <a:spcPts val="0"/>
              </a:spcAft>
              <a:buClr>
                <a:srgbClr val="0070C0"/>
              </a:buClr>
              <a:buSzPts val="2400"/>
              <a:buFont typeface="Arial"/>
              <a:buChar char="•"/>
            </a:pPr>
            <a:r>
              <a:rPr lang="en-US" sz="2400" b="0" i="0" u="none" strike="noStrike" cap="none" dirty="0">
                <a:solidFill>
                  <a:schemeClr val="dk1"/>
                </a:solidFill>
                <a:latin typeface="Calibri"/>
                <a:ea typeface="Calibri"/>
                <a:cs typeface="Calibri"/>
                <a:sym typeface="Calibri"/>
              </a:rPr>
              <a:t>Path/arcs/links represent action between states </a:t>
            </a:r>
            <a:br>
              <a:rPr lang="en-US" sz="2400" b="0" i="0" u="none" strike="noStrike" cap="none" dirty="0">
                <a:solidFill>
                  <a:schemeClr val="dk1"/>
                </a:solidFill>
                <a:latin typeface="Calibri"/>
                <a:ea typeface="Calibri"/>
                <a:cs typeface="Calibri"/>
                <a:sym typeface="Calibri"/>
              </a:rPr>
            </a:br>
            <a:r>
              <a:rPr lang="en-US" sz="2400" b="0" i="0" u="none" strike="noStrike" cap="none" dirty="0">
                <a:solidFill>
                  <a:schemeClr val="dk1"/>
                </a:solidFill>
                <a:latin typeface="Calibri"/>
                <a:ea typeface="Calibri"/>
                <a:cs typeface="Calibri"/>
                <a:sym typeface="Calibri"/>
              </a:rPr>
              <a:t>Example: Movement in a game</a:t>
            </a:r>
            <a:endParaRPr sz="1400" b="0" i="0" u="none" strike="noStrike" cap="none" dirty="0">
              <a:solidFill>
                <a:srgbClr val="000000"/>
              </a:solidFill>
              <a:latin typeface="Arial"/>
              <a:ea typeface="Arial"/>
              <a:cs typeface="Arial"/>
              <a:sym typeface="Arial"/>
            </a:endParaRPr>
          </a:p>
          <a:p>
            <a:pPr marL="342900" marR="0" lvl="0" indent="-190500" algn="l" rtl="0">
              <a:lnSpc>
                <a:spcPct val="100000"/>
              </a:lnSpc>
              <a:spcBef>
                <a:spcPts val="480"/>
              </a:spcBef>
              <a:spcAft>
                <a:spcPts val="0"/>
              </a:spcAft>
              <a:buClr>
                <a:srgbClr val="0070C0"/>
              </a:buClr>
              <a:buSzPts val="2400"/>
              <a:buFont typeface="Arial"/>
              <a:buNone/>
            </a:pPr>
            <a:endParaRPr sz="2400" b="0" i="0" u="none" strike="noStrike" cap="none" dirty="0">
              <a:solidFill>
                <a:schemeClr val="dk1"/>
              </a:solidFill>
              <a:latin typeface="Garamond"/>
              <a:ea typeface="Garamond"/>
              <a:cs typeface="Garamond"/>
              <a:sym typeface="Garamond"/>
            </a:endParaRPr>
          </a:p>
        </p:txBody>
      </p:sp>
      <p:sp>
        <p:nvSpPr>
          <p:cNvPr id="134" name="Google Shape;134;p4"/>
          <p:cNvSpPr/>
          <p:nvPr/>
        </p:nvSpPr>
        <p:spPr>
          <a:xfrm>
            <a:off x="1066800" y="304800"/>
            <a:ext cx="8073273"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chemeClr val="dk1"/>
                </a:solidFill>
                <a:latin typeface="Roboto"/>
                <a:ea typeface="Roboto"/>
                <a:cs typeface="Roboto"/>
                <a:sym typeface="Roboto"/>
              </a:rPr>
              <a:t>What do you need to know?</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800">
                <a:solidFill>
                  <a:srgbClr val="FFE1AD"/>
                </a:solidFill>
              </a:rPr>
              <a:t>2019</a:t>
            </a:r>
            <a:endParaRPr/>
          </a:p>
        </p:txBody>
      </p:sp>
      <p:sp>
        <p:nvSpPr>
          <p:cNvPr id="141" name="Google Shape;141;p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800">
                <a:solidFill>
                  <a:srgbClr val="FFE1AD"/>
                </a:solidFill>
              </a:rPr>
              <a:t>MECQ1203: Artificial Intelligence</a:t>
            </a:r>
            <a:endParaRPr/>
          </a:p>
        </p:txBody>
      </p:sp>
      <p:sp>
        <p:nvSpPr>
          <p:cNvPr id="142" name="Google Shape;142;p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rgbClr val="FFE1AD"/>
                </a:solidFill>
              </a:rPr>
              <a:t>5</a:t>
            </a:fld>
            <a:endParaRPr sz="900">
              <a:solidFill>
                <a:srgbClr val="FFE1AD"/>
              </a:solidFill>
            </a:endParaRPr>
          </a:p>
        </p:txBody>
      </p:sp>
      <p:sp>
        <p:nvSpPr>
          <p:cNvPr id="143" name="Google Shape;143;p5"/>
          <p:cNvSpPr/>
          <p:nvPr/>
        </p:nvSpPr>
        <p:spPr>
          <a:xfrm>
            <a:off x="1066800" y="304800"/>
            <a:ext cx="8073273"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chemeClr val="dk1"/>
                </a:solidFill>
                <a:latin typeface="Roboto"/>
                <a:ea typeface="Roboto"/>
                <a:cs typeface="Roboto"/>
                <a:sym typeface="Roboto"/>
              </a:rPr>
              <a:t>State Space</a:t>
            </a:r>
            <a:endParaRPr sz="1400" b="0" i="0" u="none" strike="noStrike" cap="none">
              <a:solidFill>
                <a:srgbClr val="000000"/>
              </a:solidFill>
              <a:latin typeface="Arial"/>
              <a:ea typeface="Arial"/>
              <a:cs typeface="Arial"/>
              <a:sym typeface="Arial"/>
            </a:endParaRPr>
          </a:p>
        </p:txBody>
      </p:sp>
      <p:sp>
        <p:nvSpPr>
          <p:cNvPr id="144" name="Google Shape;144;p5"/>
          <p:cNvSpPr txBox="1"/>
          <p:nvPr/>
        </p:nvSpPr>
        <p:spPr>
          <a:xfrm>
            <a:off x="457200" y="2038934"/>
            <a:ext cx="8153400" cy="415498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70C0"/>
              </a:buClr>
              <a:buSzPts val="2400"/>
              <a:buFont typeface="Arial"/>
              <a:buChar char="•"/>
            </a:pPr>
            <a:r>
              <a:rPr lang="en-US" sz="2400" b="0" i="0" u="none" strike="noStrike" cap="none">
                <a:solidFill>
                  <a:schemeClr val="dk1"/>
                </a:solidFill>
                <a:latin typeface="Calibri"/>
                <a:ea typeface="Calibri"/>
                <a:cs typeface="Calibri"/>
                <a:sym typeface="Calibri"/>
              </a:rPr>
              <a:t>When </a:t>
            </a:r>
            <a:r>
              <a:rPr lang="en-US" sz="2400" b="0" i="0" u="none" strike="noStrike" cap="none">
                <a:solidFill>
                  <a:srgbClr val="0070C0"/>
                </a:solidFill>
                <a:latin typeface="Calibri"/>
                <a:ea typeface="Calibri"/>
                <a:cs typeface="Calibri"/>
                <a:sym typeface="Calibri"/>
              </a:rPr>
              <a:t>states and actions </a:t>
            </a:r>
            <a:r>
              <a:rPr lang="en-US" sz="2400" b="0" i="0" u="none" strike="noStrike" cap="none">
                <a:solidFill>
                  <a:schemeClr val="dk1"/>
                </a:solidFill>
                <a:latin typeface="Calibri"/>
                <a:ea typeface="Calibri"/>
                <a:cs typeface="Calibri"/>
                <a:sym typeface="Calibri"/>
              </a:rPr>
              <a:t>are specified a state space is defined</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70C0"/>
              </a:buClr>
              <a:buSzPts val="2400"/>
              <a:buFont typeface="Arial"/>
              <a:buChar char="•"/>
            </a:pPr>
            <a:r>
              <a:rPr lang="en-US" sz="2400" b="0" i="0" u="none" strike="noStrike" cap="none">
                <a:solidFill>
                  <a:schemeClr val="dk1"/>
                </a:solidFill>
                <a:latin typeface="Calibri"/>
                <a:ea typeface="Calibri"/>
                <a:cs typeface="Calibri"/>
                <a:sym typeface="Calibri"/>
              </a:rPr>
              <a:t>States + Actions 🡪 State Space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70C0"/>
              </a:buClr>
              <a:buSzPts val="2400"/>
              <a:buFont typeface="Arial"/>
              <a:buChar char="•"/>
            </a:pPr>
            <a:r>
              <a:rPr lang="en-US" sz="2400" b="0" i="0" u="none" strike="noStrike" cap="none">
                <a:solidFill>
                  <a:schemeClr val="dk1"/>
                </a:solidFill>
                <a:latin typeface="Calibri"/>
                <a:ea typeface="Calibri"/>
                <a:cs typeface="Calibri"/>
                <a:sym typeface="Calibri"/>
              </a:rPr>
              <a:t>State space consists of a </a:t>
            </a:r>
            <a:r>
              <a:rPr lang="en-US" sz="2400" b="0" i="0" u="none" strike="noStrike" cap="none">
                <a:solidFill>
                  <a:srgbClr val="0070C0"/>
                </a:solidFill>
                <a:latin typeface="Calibri"/>
                <a:ea typeface="Calibri"/>
                <a:cs typeface="Calibri"/>
                <a:sym typeface="Calibri"/>
              </a:rPr>
              <a:t>set of states </a:t>
            </a:r>
            <a:r>
              <a:rPr lang="en-US" sz="2400" b="0" i="0" u="none" strike="noStrike" cap="none">
                <a:solidFill>
                  <a:schemeClr val="dk1"/>
                </a:solidFill>
                <a:latin typeface="Calibri"/>
                <a:ea typeface="Calibri"/>
                <a:cs typeface="Calibri"/>
                <a:sym typeface="Calibri"/>
              </a:rPr>
              <a:t>and a </a:t>
            </a:r>
            <a:r>
              <a:rPr lang="en-US" sz="2400" b="0" i="0" u="none" strike="noStrike" cap="none">
                <a:solidFill>
                  <a:srgbClr val="0070C0"/>
                </a:solidFill>
                <a:latin typeface="Calibri"/>
                <a:ea typeface="Calibri"/>
                <a:cs typeface="Calibri"/>
                <a:sym typeface="Calibri"/>
              </a:rPr>
              <a:t>set of actions connecting</a:t>
            </a:r>
            <a:r>
              <a:rPr lang="en-US" sz="2400" b="0" i="0" u="none" strike="noStrike" cap="none">
                <a:solidFill>
                  <a:schemeClr val="dk1"/>
                </a:solidFill>
                <a:latin typeface="Calibri"/>
                <a:ea typeface="Calibri"/>
                <a:cs typeface="Calibri"/>
                <a:sym typeface="Calibri"/>
              </a:rPr>
              <a:t> states with each other and can be viewed as state-space graph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70C0"/>
              </a:buClr>
              <a:buSzPts val="2400"/>
              <a:buFont typeface="Arial"/>
              <a:buChar char="•"/>
            </a:pPr>
            <a:r>
              <a:rPr lang="en-US" sz="2400" b="0" i="0" u="none" strike="noStrike" cap="none">
                <a:solidFill>
                  <a:srgbClr val="0070C0"/>
                </a:solidFill>
                <a:latin typeface="Calibri"/>
                <a:ea typeface="Calibri"/>
                <a:cs typeface="Calibri"/>
                <a:sym typeface="Calibri"/>
              </a:rPr>
              <a:t>Problems</a:t>
            </a:r>
            <a:r>
              <a:rPr lang="en-US" sz="2400" b="0" i="0" u="none" strike="noStrike" cap="none">
                <a:solidFill>
                  <a:schemeClr val="dk1"/>
                </a:solidFill>
                <a:latin typeface="Calibri"/>
                <a:ea typeface="Calibri"/>
                <a:cs typeface="Calibri"/>
                <a:sym typeface="Calibri"/>
              </a:rPr>
              <a:t> can be modelled as a state space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70C0"/>
              </a:buClr>
              <a:buSzPts val="2400"/>
              <a:buFont typeface="Arial"/>
              <a:buChar char="•"/>
            </a:pPr>
            <a:r>
              <a:rPr lang="en-US" sz="2400" b="0" i="0" u="none" strike="noStrike" cap="none">
                <a:solidFill>
                  <a:schemeClr val="dk1"/>
                </a:solidFill>
                <a:latin typeface="Calibri"/>
                <a:ea typeface="Calibri"/>
                <a:cs typeface="Calibri"/>
                <a:sym typeface="Calibri"/>
              </a:rPr>
              <a:t>The state space forms a directed network or graph in which the nodes are states and the links between nodes are actions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70C0"/>
              </a:buClr>
              <a:buSzPts val="2400"/>
              <a:buFont typeface="Arial"/>
              <a:buChar char="•"/>
            </a:pPr>
            <a:r>
              <a:rPr lang="en-US" sz="2400" b="0" i="0" u="none" strike="noStrike" cap="none">
                <a:solidFill>
                  <a:schemeClr val="dk1"/>
                </a:solidFill>
                <a:latin typeface="Calibri"/>
                <a:ea typeface="Calibri"/>
                <a:cs typeface="Calibri"/>
                <a:sym typeface="Calibri"/>
              </a:rPr>
              <a:t>Can be define as; search for a path from initial state to a goal state</a:t>
            </a:r>
            <a:endParaRPr sz="1400" b="0" i="0" u="none" strike="noStrike" cap="none">
              <a:solidFill>
                <a:srgbClr val="000000"/>
              </a:solidFill>
              <a:latin typeface="Arial"/>
              <a:ea typeface="Arial"/>
              <a:cs typeface="Arial"/>
              <a:sym typeface="Arial"/>
            </a:endParaRPr>
          </a:p>
          <a:p>
            <a:pPr marL="285750" marR="0" lvl="0" indent="-133350" algn="l" rtl="0">
              <a:lnSpc>
                <a:spcPct val="100000"/>
              </a:lnSpc>
              <a:spcBef>
                <a:spcPts val="0"/>
              </a:spcBef>
              <a:spcAft>
                <a:spcPts val="0"/>
              </a:spcAft>
              <a:buClr>
                <a:srgbClr val="0070C0"/>
              </a:buClr>
              <a:buSzPts val="2400"/>
              <a:buFont typeface="Arial"/>
              <a:buNone/>
            </a:pP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800">
                <a:solidFill>
                  <a:srgbClr val="FFE1AD"/>
                </a:solidFill>
              </a:rPr>
              <a:t>2019</a:t>
            </a:r>
            <a:endParaRPr/>
          </a:p>
        </p:txBody>
      </p:sp>
      <p:sp>
        <p:nvSpPr>
          <p:cNvPr id="151" name="Google Shape;151;p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800">
                <a:solidFill>
                  <a:srgbClr val="FFE1AD"/>
                </a:solidFill>
              </a:rPr>
              <a:t>MECQ1203: Artificial Intelligence</a:t>
            </a:r>
            <a:endParaRPr/>
          </a:p>
        </p:txBody>
      </p:sp>
      <p:sp>
        <p:nvSpPr>
          <p:cNvPr id="152" name="Google Shape;152;p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rgbClr val="FFE1AD"/>
                </a:solidFill>
              </a:rPr>
              <a:t>6</a:t>
            </a:fld>
            <a:endParaRPr sz="900">
              <a:solidFill>
                <a:srgbClr val="FFE1AD"/>
              </a:solidFill>
            </a:endParaRPr>
          </a:p>
        </p:txBody>
      </p:sp>
      <p:sp>
        <p:nvSpPr>
          <p:cNvPr id="153" name="Google Shape;153;p6"/>
          <p:cNvSpPr/>
          <p:nvPr/>
        </p:nvSpPr>
        <p:spPr>
          <a:xfrm>
            <a:off x="1066800" y="304800"/>
            <a:ext cx="8073273"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chemeClr val="dk1"/>
                </a:solidFill>
                <a:latin typeface="Roboto"/>
                <a:ea typeface="Roboto"/>
                <a:cs typeface="Roboto"/>
                <a:sym typeface="Roboto"/>
              </a:rPr>
              <a:t>Problem Formulation</a:t>
            </a:r>
            <a:endParaRPr sz="4000" b="1" i="0" u="none" strike="noStrike" cap="none">
              <a:solidFill>
                <a:srgbClr val="C00000"/>
              </a:solidFill>
              <a:latin typeface="Roboto"/>
              <a:ea typeface="Roboto"/>
              <a:cs typeface="Roboto"/>
              <a:sym typeface="Roboto"/>
            </a:endParaRPr>
          </a:p>
        </p:txBody>
      </p:sp>
      <p:sp>
        <p:nvSpPr>
          <p:cNvPr id="154" name="Google Shape;154;p6"/>
          <p:cNvSpPr/>
          <p:nvPr/>
        </p:nvSpPr>
        <p:spPr>
          <a:xfrm>
            <a:off x="152400" y="1911340"/>
            <a:ext cx="6845300" cy="341632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Problem formulation is the </a:t>
            </a:r>
            <a:r>
              <a:rPr lang="en-US" sz="2400" b="0" i="0" u="none" strike="noStrike" cap="none">
                <a:solidFill>
                  <a:srgbClr val="0070C0"/>
                </a:solidFill>
                <a:latin typeface="Calibri"/>
                <a:ea typeface="Calibri"/>
                <a:cs typeface="Calibri"/>
                <a:sym typeface="Calibri"/>
              </a:rPr>
              <a:t>process of deciding what actions and states to consider</a:t>
            </a:r>
            <a:r>
              <a:rPr lang="en-US" sz="2400" b="0" i="0" u="none" strike="noStrike" cap="none">
                <a:solidFill>
                  <a:schemeClr val="dk1"/>
                </a:solidFill>
                <a:latin typeface="Calibri"/>
                <a:ea typeface="Calibri"/>
                <a:cs typeface="Calibri"/>
                <a:sym typeface="Calibri"/>
              </a:rPr>
              <a:t>, given a goal</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Problem formulated by specifying four things: </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Initial state</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Actions</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Goal test </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Path cost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Solution: sequence of actions leading from initial state to goal state.</a:t>
            </a:r>
            <a:endParaRPr sz="1400" b="0" i="0" u="none" strike="noStrike" cap="none">
              <a:solidFill>
                <a:srgbClr val="000000"/>
              </a:solidFill>
              <a:latin typeface="Arial"/>
              <a:ea typeface="Arial"/>
              <a:cs typeface="Arial"/>
              <a:sym typeface="Arial"/>
            </a:endParaRPr>
          </a:p>
        </p:txBody>
      </p:sp>
      <p:grpSp>
        <p:nvGrpSpPr>
          <p:cNvPr id="155" name="Google Shape;155;p6"/>
          <p:cNvGrpSpPr/>
          <p:nvPr/>
        </p:nvGrpSpPr>
        <p:grpSpPr>
          <a:xfrm>
            <a:off x="6400800" y="1940886"/>
            <a:ext cx="2895599" cy="3357228"/>
            <a:chOff x="6553200" y="1940886"/>
            <a:chExt cx="2743199" cy="3357228"/>
          </a:xfrm>
        </p:grpSpPr>
        <p:pic>
          <p:nvPicPr>
            <p:cNvPr id="156" name="Google Shape;156;p6" descr="Image result for maze"/>
            <p:cNvPicPr preferRelativeResize="0"/>
            <p:nvPr/>
          </p:nvPicPr>
          <p:blipFill rotWithShape="1">
            <a:blip r:embed="rId3">
              <a:alphaModFix/>
            </a:blip>
            <a:srcRect/>
            <a:stretch/>
          </p:blipFill>
          <p:spPr>
            <a:xfrm>
              <a:off x="6553200" y="2590800"/>
              <a:ext cx="2743199" cy="2057400"/>
            </a:xfrm>
            <a:prstGeom prst="rect">
              <a:avLst/>
            </a:prstGeom>
            <a:noFill/>
            <a:ln>
              <a:noFill/>
            </a:ln>
          </p:spPr>
        </p:pic>
        <p:sp>
          <p:nvSpPr>
            <p:cNvPr id="157" name="Google Shape;157;p6"/>
            <p:cNvSpPr txBox="1"/>
            <p:nvPr/>
          </p:nvSpPr>
          <p:spPr>
            <a:xfrm>
              <a:off x="7303988" y="1940886"/>
              <a:ext cx="124162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00000"/>
                  </a:solidFill>
                  <a:latin typeface="Calibri"/>
                  <a:ea typeface="Calibri"/>
                  <a:cs typeface="Calibri"/>
                  <a:sym typeface="Calibri"/>
                </a:rPr>
                <a:t>Initial State</a:t>
              </a:r>
              <a:endParaRPr sz="1800" b="0" i="0" u="none" strike="noStrike" cap="none">
                <a:solidFill>
                  <a:srgbClr val="C00000"/>
                </a:solidFill>
                <a:latin typeface="Calibri"/>
                <a:ea typeface="Calibri"/>
                <a:cs typeface="Calibri"/>
                <a:sym typeface="Calibri"/>
              </a:endParaRPr>
            </a:p>
          </p:txBody>
        </p:sp>
        <p:sp>
          <p:nvSpPr>
            <p:cNvPr id="158" name="Google Shape;158;p6"/>
            <p:cNvSpPr txBox="1"/>
            <p:nvPr/>
          </p:nvSpPr>
          <p:spPr>
            <a:xfrm>
              <a:off x="7415311" y="4928782"/>
              <a:ext cx="114704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00000"/>
                  </a:solidFill>
                  <a:latin typeface="Calibri"/>
                  <a:ea typeface="Calibri"/>
                  <a:cs typeface="Calibri"/>
                  <a:sym typeface="Calibri"/>
                </a:rPr>
                <a:t>Goal State</a:t>
              </a:r>
              <a:endParaRPr sz="1800" b="0" i="0" u="none" strike="noStrike" cap="none">
                <a:solidFill>
                  <a:srgbClr val="C00000"/>
                </a:solidFill>
                <a:latin typeface="Calibri"/>
                <a:ea typeface="Calibri"/>
                <a:cs typeface="Calibri"/>
                <a:sym typeface="Calibri"/>
              </a:endParaRPr>
            </a:p>
          </p:txBody>
        </p:sp>
        <p:sp>
          <p:nvSpPr>
            <p:cNvPr id="159" name="Google Shape;159;p6"/>
            <p:cNvSpPr/>
            <p:nvPr/>
          </p:nvSpPr>
          <p:spPr>
            <a:xfrm>
              <a:off x="7772400" y="2283422"/>
              <a:ext cx="152399" cy="307378"/>
            </a:xfrm>
            <a:prstGeom prst="downArrow">
              <a:avLst>
                <a:gd name="adj1" fmla="val 50000"/>
                <a:gd name="adj2"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0" name="Google Shape;160;p6"/>
            <p:cNvSpPr/>
            <p:nvPr/>
          </p:nvSpPr>
          <p:spPr>
            <a:xfrm rot="10800000" flipH="1">
              <a:off x="7912633" y="4680552"/>
              <a:ext cx="152399" cy="307378"/>
            </a:xfrm>
            <a:prstGeom prst="downArrow">
              <a:avLst>
                <a:gd name="adj1" fmla="val 50000"/>
                <a:gd name="adj2"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Example of State Space</a:t>
            </a:r>
            <a:endParaRPr/>
          </a:p>
        </p:txBody>
      </p:sp>
      <p:sp>
        <p:nvSpPr>
          <p:cNvPr id="166" name="Google Shape;166;p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167" name="Google Shape;167;p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168" name="Google Shape;168;p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7</a:t>
            </a:fld>
            <a:endParaRPr/>
          </a:p>
        </p:txBody>
      </p:sp>
      <p:pic>
        <p:nvPicPr>
          <p:cNvPr id="169" name="Google Shape;169;p7"/>
          <p:cNvPicPr preferRelativeResize="0"/>
          <p:nvPr/>
        </p:nvPicPr>
        <p:blipFill rotWithShape="1">
          <a:blip r:embed="rId3">
            <a:alphaModFix/>
          </a:blip>
          <a:srcRect/>
          <a:stretch/>
        </p:blipFill>
        <p:spPr>
          <a:xfrm>
            <a:off x="1489038" y="1128898"/>
            <a:ext cx="6232400" cy="546949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3"/>
        <p:cNvGrpSpPr/>
        <p:nvPr/>
      </p:nvGrpSpPr>
      <p:grpSpPr>
        <a:xfrm>
          <a:off x="0" y="0"/>
          <a:ext cx="0" cy="0"/>
          <a:chOff x="0" y="0"/>
          <a:chExt cx="0" cy="0"/>
        </a:xfrm>
      </p:grpSpPr>
      <p:sp>
        <p:nvSpPr>
          <p:cNvPr id="174" name="Google Shape;174;p8"/>
          <p:cNvSpPr txBox="1">
            <a:spLocks noGrp="1"/>
          </p:cNvSpPr>
          <p:nvPr>
            <p:ph type="title"/>
          </p:nvPr>
        </p:nvSpPr>
        <p:spPr>
          <a:xfrm>
            <a:off x="1143000" y="4642583"/>
            <a:ext cx="6858000" cy="109984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5100"/>
              <a:buFont typeface="Calibri"/>
              <a:buNone/>
            </a:pPr>
            <a:r>
              <a:rPr lang="en-US" sz="5100"/>
              <a:t>Example of Graph Theory</a:t>
            </a:r>
            <a:endParaRPr/>
          </a:p>
        </p:txBody>
      </p:sp>
      <p:sp>
        <p:nvSpPr>
          <p:cNvPr id="175" name="Google Shape;175;p8"/>
          <p:cNvSpPr/>
          <p:nvPr/>
        </p:nvSpPr>
        <p:spPr>
          <a:xfrm>
            <a:off x="0" y="0"/>
            <a:ext cx="9144000" cy="4572000"/>
          </a:xfrm>
          <a:prstGeom prst="rect">
            <a:avLst/>
          </a:prstGeom>
          <a:solidFill>
            <a:srgbClr val="C8CAC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6" name="Google Shape;176;p8"/>
          <p:cNvSpPr/>
          <p:nvPr/>
        </p:nvSpPr>
        <p:spPr>
          <a:xfrm>
            <a:off x="241173" y="320843"/>
            <a:ext cx="4210176" cy="3930315"/>
          </a:xfrm>
          <a:prstGeom prst="roundRect">
            <a:avLst>
              <a:gd name="adj" fmla="val 0"/>
            </a:avLst>
          </a:prstGeom>
          <a:solidFill>
            <a:srgbClr val="FFFFFF"/>
          </a:solidFill>
          <a:ln w="9525" cap="flat" cmpd="sng">
            <a:solidFill>
              <a:srgbClr val="C8CACA"/>
            </a:solidFill>
            <a:prstDash val="solid"/>
            <a:round/>
            <a:headEnd type="none" w="sm" len="sm"/>
            <a:tailEnd type="none" w="sm" len="sm"/>
          </a:ln>
          <a:effectLst>
            <a:outerShdw blurRad="57150" dist="19050" dir="5400000" algn="t"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77" name="Google Shape;177;p8" descr="Image result for graph theory map"/>
          <p:cNvPicPr preferRelativeResize="0"/>
          <p:nvPr/>
        </p:nvPicPr>
        <p:blipFill rotWithShape="1">
          <a:blip r:embed="rId3">
            <a:alphaModFix/>
          </a:blip>
          <a:srcRect/>
          <a:stretch/>
        </p:blipFill>
        <p:spPr>
          <a:xfrm>
            <a:off x="480885" y="1030583"/>
            <a:ext cx="3730752" cy="2510834"/>
          </a:xfrm>
          <a:prstGeom prst="rect">
            <a:avLst/>
          </a:prstGeom>
          <a:noFill/>
          <a:ln>
            <a:noFill/>
          </a:ln>
        </p:spPr>
      </p:pic>
      <p:sp>
        <p:nvSpPr>
          <p:cNvPr id="178" name="Google Shape;178;p8"/>
          <p:cNvSpPr/>
          <p:nvPr/>
        </p:nvSpPr>
        <p:spPr>
          <a:xfrm>
            <a:off x="4691061" y="320843"/>
            <a:ext cx="4210177" cy="3930315"/>
          </a:xfrm>
          <a:prstGeom prst="roundRect">
            <a:avLst>
              <a:gd name="adj" fmla="val 0"/>
            </a:avLst>
          </a:prstGeom>
          <a:solidFill>
            <a:srgbClr val="FFFFFF"/>
          </a:solidFill>
          <a:ln w="9525" cap="flat" cmpd="sng">
            <a:solidFill>
              <a:srgbClr val="C8CACA"/>
            </a:solidFill>
            <a:prstDash val="solid"/>
            <a:round/>
            <a:headEnd type="none" w="sm" len="sm"/>
            <a:tailEnd type="none" w="sm" len="sm"/>
          </a:ln>
          <a:effectLst>
            <a:outerShdw blurRad="57150" dist="19050" dir="5400000" algn="t"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79" name="Google Shape;179;p8" descr="Image result for graph theory"/>
          <p:cNvPicPr preferRelativeResize="0"/>
          <p:nvPr/>
        </p:nvPicPr>
        <p:blipFill rotWithShape="1">
          <a:blip r:embed="rId4">
            <a:alphaModFix/>
          </a:blip>
          <a:srcRect/>
          <a:stretch/>
        </p:blipFill>
        <p:spPr>
          <a:xfrm>
            <a:off x="4930773" y="1054852"/>
            <a:ext cx="3730752" cy="2462296"/>
          </a:xfrm>
          <a:prstGeom prst="rect">
            <a:avLst/>
          </a:prstGeom>
          <a:noFill/>
          <a:ln>
            <a:noFill/>
          </a:ln>
        </p:spPr>
      </p:pic>
      <p:sp>
        <p:nvSpPr>
          <p:cNvPr id="180" name="Google Shape;180;p8"/>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400"/>
              <a:buNone/>
            </a:pPr>
            <a:r>
              <a:rPr lang="en-US" sz="1200">
                <a:solidFill>
                  <a:srgbClr val="888888"/>
                </a:solidFill>
              </a:rPr>
              <a:t>2019</a:t>
            </a:r>
            <a:endParaRPr/>
          </a:p>
        </p:txBody>
      </p:sp>
      <p:sp>
        <p:nvSpPr>
          <p:cNvPr id="181" name="Google Shape;181;p8"/>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1400"/>
              <a:buNone/>
            </a:pPr>
            <a:r>
              <a:rPr lang="en-US" sz="1200">
                <a:solidFill>
                  <a:srgbClr val="888888"/>
                </a:solidFill>
                <a:latin typeface="Calibri"/>
                <a:ea typeface="Calibri"/>
                <a:cs typeface="Calibri"/>
                <a:sym typeface="Calibri"/>
              </a:rPr>
              <a:t>MECQ1203: Artificial Intelligence</a:t>
            </a:r>
            <a:endParaRPr/>
          </a:p>
        </p:txBody>
      </p:sp>
      <p:sp>
        <p:nvSpPr>
          <p:cNvPr id="182" name="Google Shape;182;p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200"/>
              <a:buNone/>
            </a:pPr>
            <a:fld id="{00000000-1234-1234-1234-123412341234}" type="slidenum">
              <a:rPr lang="en-US" sz="1200">
                <a:solidFill>
                  <a:srgbClr val="888888"/>
                </a:solidFill>
              </a:rPr>
              <a:t>8</a:t>
            </a:fld>
            <a:endParaRPr sz="1200">
              <a:solidFill>
                <a:srgbClr val="888888"/>
              </a:solidFill>
            </a:endParaRPr>
          </a:p>
        </p:txBody>
      </p:sp>
      <p:sp>
        <p:nvSpPr>
          <p:cNvPr id="183" name="Google Shape;183;p8"/>
          <p:cNvSpPr txBox="1"/>
          <p:nvPr/>
        </p:nvSpPr>
        <p:spPr>
          <a:xfrm>
            <a:off x="5105400" y="1115572"/>
            <a:ext cx="69281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Node</a:t>
            </a:r>
            <a:endParaRPr sz="1800" b="1" i="0" u="none" strike="noStrike" cap="none">
              <a:solidFill>
                <a:schemeClr val="dk1"/>
              </a:solidFill>
              <a:latin typeface="Calibri"/>
              <a:ea typeface="Calibri"/>
              <a:cs typeface="Calibri"/>
              <a:sym typeface="Calibri"/>
            </a:endParaRPr>
          </a:p>
        </p:txBody>
      </p:sp>
      <p:sp>
        <p:nvSpPr>
          <p:cNvPr id="184" name="Google Shape;184;p8"/>
          <p:cNvSpPr txBox="1"/>
          <p:nvPr/>
        </p:nvSpPr>
        <p:spPr>
          <a:xfrm>
            <a:off x="6115050" y="2057400"/>
            <a:ext cx="51435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Arc</a:t>
            </a:r>
            <a:endParaRPr sz="1800" b="1"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800">
                <a:solidFill>
                  <a:srgbClr val="FFE1AD"/>
                </a:solidFill>
              </a:rPr>
              <a:t>2019</a:t>
            </a:r>
            <a:endParaRPr/>
          </a:p>
        </p:txBody>
      </p:sp>
      <p:sp>
        <p:nvSpPr>
          <p:cNvPr id="190" name="Google Shape;190;p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800">
                <a:solidFill>
                  <a:srgbClr val="FFE1AD"/>
                </a:solidFill>
              </a:rPr>
              <a:t>MECQ1203: Artificial Intelligence</a:t>
            </a:r>
            <a:endParaRPr/>
          </a:p>
        </p:txBody>
      </p:sp>
      <p:sp>
        <p:nvSpPr>
          <p:cNvPr id="191" name="Google Shape;191;p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rgbClr val="FFE1AD"/>
                </a:solidFill>
              </a:rPr>
              <a:t>9</a:t>
            </a:fld>
            <a:endParaRPr sz="900">
              <a:solidFill>
                <a:srgbClr val="FFE1AD"/>
              </a:solidFill>
            </a:endParaRPr>
          </a:p>
        </p:txBody>
      </p:sp>
      <p:sp>
        <p:nvSpPr>
          <p:cNvPr id="192" name="Google Shape;192;p9"/>
          <p:cNvSpPr/>
          <p:nvPr/>
        </p:nvSpPr>
        <p:spPr>
          <a:xfrm>
            <a:off x="1066800" y="304800"/>
            <a:ext cx="8073273"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chemeClr val="dk1"/>
                </a:solidFill>
                <a:latin typeface="Roboto"/>
                <a:ea typeface="Roboto"/>
                <a:cs typeface="Roboto"/>
                <a:sym typeface="Roboto"/>
              </a:rPr>
              <a:t>Graph Theory: </a:t>
            </a:r>
            <a:r>
              <a:rPr lang="en-US" sz="4000" b="1" i="0" u="none" strike="noStrike" cap="none">
                <a:solidFill>
                  <a:srgbClr val="C00000"/>
                </a:solidFill>
                <a:latin typeface="Roboto"/>
                <a:ea typeface="Roboto"/>
                <a:cs typeface="Roboto"/>
                <a:sym typeface="Roboto"/>
              </a:rPr>
              <a:t>Intro</a:t>
            </a:r>
            <a:endParaRPr sz="1400" b="0" i="0" u="none" strike="noStrike" cap="none">
              <a:solidFill>
                <a:srgbClr val="000000"/>
              </a:solidFill>
              <a:latin typeface="Arial"/>
              <a:ea typeface="Arial"/>
              <a:cs typeface="Arial"/>
              <a:sym typeface="Arial"/>
            </a:endParaRPr>
          </a:p>
        </p:txBody>
      </p:sp>
      <p:sp>
        <p:nvSpPr>
          <p:cNvPr id="193" name="Google Shape;193;p9"/>
          <p:cNvSpPr txBox="1"/>
          <p:nvPr/>
        </p:nvSpPr>
        <p:spPr>
          <a:xfrm>
            <a:off x="457200" y="1600201"/>
            <a:ext cx="8229600" cy="2895600"/>
          </a:xfrm>
          <a:prstGeom prst="rect">
            <a:avLst/>
          </a:prstGeom>
          <a:noFill/>
          <a:ln>
            <a:noFill/>
          </a:ln>
        </p:spPr>
        <p:txBody>
          <a:bodyPr spcFirstLastPara="1" wrap="square" lIns="91425" tIns="45700" rIns="91425" bIns="45700" anchor="t" anchorCtr="0">
            <a:normAutofit/>
          </a:bodyPr>
          <a:lstStyle/>
          <a:p>
            <a:pPr marL="742950" marR="0" lvl="1" indent="-285750" algn="l" rtl="0">
              <a:lnSpc>
                <a:spcPct val="100000"/>
              </a:lnSpc>
              <a:spcBef>
                <a:spcPts val="0"/>
              </a:spcBef>
              <a:spcAft>
                <a:spcPts val="0"/>
              </a:spcAft>
              <a:buClr>
                <a:srgbClr val="0070C0"/>
              </a:buClr>
              <a:buSzPts val="2400"/>
              <a:buFont typeface="Arial"/>
              <a:buChar char="•"/>
            </a:pPr>
            <a:r>
              <a:rPr lang="en-US" sz="2400" b="0" i="0" u="none" strike="noStrike" cap="none">
                <a:solidFill>
                  <a:schemeClr val="dk1"/>
                </a:solidFill>
                <a:latin typeface="Calibri"/>
                <a:ea typeface="Calibri"/>
                <a:cs typeface="Calibri"/>
                <a:sym typeface="Calibri"/>
              </a:rPr>
              <a:t>Tool for reasoning about the structure of objects and relations</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80"/>
              </a:spcBef>
              <a:spcAft>
                <a:spcPts val="0"/>
              </a:spcAft>
              <a:buClr>
                <a:srgbClr val="0070C0"/>
              </a:buClr>
              <a:buSzPts val="2400"/>
              <a:buFont typeface="Arial"/>
              <a:buChar char="•"/>
            </a:pPr>
            <a:r>
              <a:rPr lang="en-US" sz="2400" b="0" i="0" u="none" strike="noStrike" cap="none">
                <a:solidFill>
                  <a:schemeClr val="dk1"/>
                </a:solidFill>
                <a:latin typeface="Calibri"/>
                <a:ea typeface="Calibri"/>
                <a:cs typeface="Calibri"/>
                <a:sym typeface="Calibri"/>
              </a:rPr>
              <a:t>Structure of the problem can be VISUALISED more directly.</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80"/>
              </a:spcBef>
              <a:spcAft>
                <a:spcPts val="0"/>
              </a:spcAft>
              <a:buClr>
                <a:srgbClr val="0070C0"/>
              </a:buClr>
              <a:buSzPts val="2400"/>
              <a:buFont typeface="Arial"/>
              <a:buChar char="•"/>
            </a:pPr>
            <a:r>
              <a:rPr lang="en-US" sz="2400" b="0" i="0" u="none" strike="noStrike" cap="none">
                <a:solidFill>
                  <a:schemeClr val="dk1"/>
                </a:solidFill>
                <a:latin typeface="Calibri"/>
                <a:ea typeface="Calibri"/>
                <a:cs typeface="Calibri"/>
                <a:sym typeface="Calibri"/>
              </a:rPr>
              <a:t>Invented by Swiss Mathematician Leonhard to solve “Bridges of Konigsberg Problem” (Newman 1965)</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80"/>
              </a:spcBef>
              <a:spcAft>
                <a:spcPts val="0"/>
              </a:spcAft>
              <a:buClr>
                <a:srgbClr val="0070C0"/>
              </a:buClr>
              <a:buSzPts val="2400"/>
              <a:buFont typeface="Arial"/>
              <a:buChar char="•"/>
            </a:pPr>
            <a:r>
              <a:rPr lang="en-US" sz="2400" b="0" i="0" u="none" strike="noStrike" cap="none">
                <a:solidFill>
                  <a:schemeClr val="dk1"/>
                </a:solidFill>
                <a:latin typeface="Calibri"/>
                <a:ea typeface="Calibri"/>
                <a:cs typeface="Calibri"/>
                <a:sym typeface="Calibri"/>
              </a:rPr>
              <a:t>Problem: Is there a walk  around the city that crosses each bridge exactly once?</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800">
                <a:solidFill>
                  <a:srgbClr val="FFE1AD"/>
                </a:solidFill>
              </a:rPr>
              <a:t>2019</a:t>
            </a:r>
            <a:endParaRPr/>
          </a:p>
        </p:txBody>
      </p:sp>
      <p:sp>
        <p:nvSpPr>
          <p:cNvPr id="200" name="Google Shape;200;p1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800">
                <a:solidFill>
                  <a:srgbClr val="FFE1AD"/>
                </a:solidFill>
              </a:rPr>
              <a:t>MECQ1203: Artificial Intelligence</a:t>
            </a:r>
            <a:endParaRPr/>
          </a:p>
        </p:txBody>
      </p:sp>
      <p:sp>
        <p:nvSpPr>
          <p:cNvPr id="201" name="Google Shape;201;p1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rgbClr val="FFE1AD"/>
                </a:solidFill>
              </a:rPr>
              <a:t>10</a:t>
            </a:fld>
            <a:endParaRPr sz="900">
              <a:solidFill>
                <a:srgbClr val="FFE1AD"/>
              </a:solidFill>
            </a:endParaRPr>
          </a:p>
        </p:txBody>
      </p:sp>
      <p:sp>
        <p:nvSpPr>
          <p:cNvPr id="202" name="Google Shape;202;p10"/>
          <p:cNvSpPr/>
          <p:nvPr/>
        </p:nvSpPr>
        <p:spPr>
          <a:xfrm>
            <a:off x="1066800" y="304800"/>
            <a:ext cx="8073273"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chemeClr val="dk1"/>
                </a:solidFill>
                <a:latin typeface="Roboto"/>
                <a:ea typeface="Roboto"/>
                <a:cs typeface="Roboto"/>
                <a:sym typeface="Roboto"/>
              </a:rPr>
              <a:t>Graph Theory</a:t>
            </a:r>
            <a:endParaRPr sz="4000" b="1" i="0" u="none" strike="noStrike" cap="none">
              <a:solidFill>
                <a:srgbClr val="C00000"/>
              </a:solidFill>
              <a:latin typeface="Roboto"/>
              <a:ea typeface="Roboto"/>
              <a:cs typeface="Roboto"/>
              <a:sym typeface="Roboto"/>
            </a:endParaRPr>
          </a:p>
        </p:txBody>
      </p:sp>
      <p:pic>
        <p:nvPicPr>
          <p:cNvPr id="203" name="Google Shape;203;p10"/>
          <p:cNvPicPr preferRelativeResize="0"/>
          <p:nvPr/>
        </p:nvPicPr>
        <p:blipFill rotWithShape="1">
          <a:blip r:embed="rId3">
            <a:alphaModFix/>
          </a:blip>
          <a:srcRect/>
          <a:stretch/>
        </p:blipFill>
        <p:spPr>
          <a:xfrm>
            <a:off x="574255" y="1940064"/>
            <a:ext cx="8112545" cy="4003536"/>
          </a:xfrm>
          <a:prstGeom prst="rect">
            <a:avLst/>
          </a:prstGeom>
          <a:noFill/>
          <a:ln>
            <a:noFill/>
          </a:ln>
        </p:spPr>
      </p:pic>
      <p:sp>
        <p:nvSpPr>
          <p:cNvPr id="204" name="Google Shape;204;p10"/>
          <p:cNvSpPr txBox="1"/>
          <p:nvPr/>
        </p:nvSpPr>
        <p:spPr>
          <a:xfrm>
            <a:off x="574255" y="1396815"/>
            <a:ext cx="8325690"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70C0"/>
                </a:solidFill>
                <a:latin typeface="Arial"/>
                <a:ea typeface="Arial"/>
                <a:cs typeface="Arial"/>
                <a:sym typeface="Arial"/>
              </a:rPr>
              <a:t>The city of Königsberg- 2 islands, 2 riverbanks and 7 bridges</a:t>
            </a:r>
            <a:endParaRPr sz="1800" b="0" i="0" u="none" strike="noStrike" cap="none">
              <a:solidFill>
                <a:srgbClr val="0070C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9"/>
        <p:cNvGrpSpPr/>
        <p:nvPr/>
      </p:nvGrpSpPr>
      <p:grpSpPr>
        <a:xfrm>
          <a:off x="0" y="0"/>
          <a:ext cx="0" cy="0"/>
          <a:chOff x="0" y="0"/>
          <a:chExt cx="0" cy="0"/>
        </a:xfrm>
      </p:grpSpPr>
      <p:sp>
        <p:nvSpPr>
          <p:cNvPr id="210" name="Google Shape;210;p11"/>
          <p:cNvSpPr/>
          <p:nvPr/>
        </p:nvSpPr>
        <p:spPr>
          <a:xfrm>
            <a:off x="0" y="860045"/>
            <a:ext cx="4694659" cy="5734050"/>
          </a:xfrm>
          <a:prstGeom prst="rect">
            <a:avLst/>
          </a:prstGeom>
          <a:gradFill>
            <a:gsLst>
              <a:gs pos="0">
                <a:srgbClr val="4F81BD">
                  <a:alpha val="81568"/>
                </a:srgbClr>
              </a:gs>
              <a:gs pos="25000">
                <a:srgbClr val="4F81BD">
                  <a:alpha val="60000"/>
                </a:srgbClr>
              </a:gs>
              <a:gs pos="94000">
                <a:srgbClr val="C4BD97"/>
              </a:gs>
              <a:gs pos="100000">
                <a:srgbClr val="C4BD97"/>
              </a:gs>
            </a:gsLst>
            <a:lin ang="4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pic>
        <p:nvPicPr>
          <p:cNvPr id="211" name="Google Shape;211;p11"/>
          <p:cNvPicPr preferRelativeResize="0"/>
          <p:nvPr/>
        </p:nvPicPr>
        <p:blipFill rotWithShape="1">
          <a:blip r:embed="rId3">
            <a:alphaModFix/>
          </a:blip>
          <a:srcRect r="10298"/>
          <a:stretch/>
        </p:blipFill>
        <p:spPr>
          <a:xfrm>
            <a:off x="-1" y="857250"/>
            <a:ext cx="9144001" cy="5734050"/>
          </a:xfrm>
          <a:prstGeom prst="rect">
            <a:avLst/>
          </a:prstGeom>
          <a:noFill/>
          <a:ln>
            <a:noFill/>
          </a:ln>
        </p:spPr>
      </p:pic>
      <p:sp>
        <p:nvSpPr>
          <p:cNvPr id="212" name="Google Shape;212;p11"/>
          <p:cNvSpPr/>
          <p:nvPr/>
        </p:nvSpPr>
        <p:spPr>
          <a:xfrm>
            <a:off x="4570578" y="1257300"/>
            <a:ext cx="3988849" cy="1381125"/>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0000"/>
              </a:buClr>
              <a:buSzPts val="4400"/>
              <a:buFont typeface="Arial"/>
              <a:buNone/>
            </a:pPr>
            <a:r>
              <a:rPr lang="en-US" sz="4400" b="1" i="0" u="none" strike="noStrike" cap="none">
                <a:solidFill>
                  <a:srgbClr val="000000"/>
                </a:solidFill>
                <a:latin typeface="Calibri"/>
                <a:ea typeface="Calibri"/>
                <a:cs typeface="Calibri"/>
                <a:sym typeface="Calibri"/>
              </a:rPr>
              <a:t>Represent using Graph Theory</a:t>
            </a:r>
            <a:endParaRPr sz="1400" b="0" i="0" u="none" strike="noStrike" cap="none">
              <a:solidFill>
                <a:srgbClr val="000000"/>
              </a:solidFill>
              <a:latin typeface="Arial"/>
              <a:ea typeface="Arial"/>
              <a:cs typeface="Arial"/>
              <a:sym typeface="Arial"/>
            </a:endParaRPr>
          </a:p>
        </p:txBody>
      </p:sp>
      <p:sp>
        <p:nvSpPr>
          <p:cNvPr id="213" name="Google Shape;213;p11"/>
          <p:cNvSpPr/>
          <p:nvPr/>
        </p:nvSpPr>
        <p:spPr>
          <a:xfrm>
            <a:off x="-9525" y="1468363"/>
            <a:ext cx="4180922" cy="4515805"/>
          </a:xfrm>
          <a:custGeom>
            <a:avLst/>
            <a:gdLst/>
            <a:ahLst/>
            <a:cxnLst/>
            <a:rect l="l" t="t" r="r" b="b"/>
            <a:pathLst>
              <a:path w="5000438" h="5400962" extrusionOk="0">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w="25400" cap="flat" cmpd="sng">
            <a:solidFill>
              <a:srgbClr val="B7CCE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214" name="Google Shape;214;p11"/>
          <p:cNvSpPr txBox="1">
            <a:spLocks noGrp="1"/>
          </p:cNvSpPr>
          <p:nvPr>
            <p:ph type="dt" idx="10"/>
          </p:nvPr>
        </p:nvSpPr>
        <p:spPr>
          <a:xfrm>
            <a:off x="604245" y="5525027"/>
            <a:ext cx="2331049" cy="23555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400"/>
              <a:buNone/>
            </a:pPr>
            <a:r>
              <a:rPr lang="en-US" sz="825">
                <a:solidFill>
                  <a:srgbClr val="898989"/>
                </a:solidFill>
              </a:rPr>
              <a:t>2019</a:t>
            </a:r>
            <a:endParaRPr/>
          </a:p>
        </p:txBody>
      </p:sp>
      <p:pic>
        <p:nvPicPr>
          <p:cNvPr id="215" name="Google Shape;215;p11"/>
          <p:cNvPicPr preferRelativeResize="0"/>
          <p:nvPr/>
        </p:nvPicPr>
        <p:blipFill rotWithShape="1">
          <a:blip r:embed="rId4">
            <a:alphaModFix/>
          </a:blip>
          <a:srcRect/>
          <a:stretch/>
        </p:blipFill>
        <p:spPr>
          <a:xfrm>
            <a:off x="322012" y="2618261"/>
            <a:ext cx="3061697" cy="1948352"/>
          </a:xfrm>
          <a:prstGeom prst="rect">
            <a:avLst/>
          </a:prstGeom>
          <a:noFill/>
          <a:ln>
            <a:noFill/>
          </a:ln>
        </p:spPr>
      </p:pic>
      <p:sp>
        <p:nvSpPr>
          <p:cNvPr id="216" name="Google Shape;216;p11"/>
          <p:cNvSpPr txBox="1">
            <a:spLocks noGrp="1"/>
          </p:cNvSpPr>
          <p:nvPr>
            <p:ph type="ftr" idx="11"/>
          </p:nvPr>
        </p:nvSpPr>
        <p:spPr>
          <a:xfrm>
            <a:off x="4300277" y="6372752"/>
            <a:ext cx="3967172" cy="23555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400"/>
              <a:buNone/>
            </a:pPr>
            <a:r>
              <a:rPr lang="en-US" sz="825">
                <a:solidFill>
                  <a:srgbClr val="898989"/>
                </a:solidFill>
                <a:latin typeface="Calibri"/>
                <a:ea typeface="Calibri"/>
                <a:cs typeface="Calibri"/>
                <a:sym typeface="Calibri"/>
              </a:rPr>
              <a:t>MECQ1203: Artificial Intelligence</a:t>
            </a:r>
            <a:endParaRPr/>
          </a:p>
        </p:txBody>
      </p:sp>
      <p:sp>
        <p:nvSpPr>
          <p:cNvPr id="217" name="Google Shape;217;p11"/>
          <p:cNvSpPr txBox="1">
            <a:spLocks noGrp="1"/>
          </p:cNvSpPr>
          <p:nvPr>
            <p:ph type="sldNum" idx="12"/>
          </p:nvPr>
        </p:nvSpPr>
        <p:spPr>
          <a:xfrm>
            <a:off x="8267450" y="6372752"/>
            <a:ext cx="428046" cy="23555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825"/>
              <a:buNone/>
            </a:pPr>
            <a:fld id="{00000000-1234-1234-1234-123412341234}" type="slidenum">
              <a:rPr lang="en-US" sz="825">
                <a:solidFill>
                  <a:srgbClr val="898989"/>
                </a:solidFill>
              </a:rPr>
              <a:t>11</a:t>
            </a:fld>
            <a:endParaRPr sz="825">
              <a:solidFill>
                <a:srgbClr val="898989"/>
              </a:solidFill>
            </a:endParaRPr>
          </a:p>
        </p:txBody>
      </p:sp>
      <p:grpSp>
        <p:nvGrpSpPr>
          <p:cNvPr id="218" name="Google Shape;218;p11"/>
          <p:cNvGrpSpPr/>
          <p:nvPr/>
        </p:nvGrpSpPr>
        <p:grpSpPr>
          <a:xfrm>
            <a:off x="4570579" y="3016191"/>
            <a:ext cx="4003614" cy="2789325"/>
            <a:chOff x="0" y="68931"/>
            <a:chExt cx="4003614" cy="2789325"/>
          </a:xfrm>
        </p:grpSpPr>
        <p:sp>
          <p:nvSpPr>
            <p:cNvPr id="219" name="Google Shape;219;p11"/>
            <p:cNvSpPr/>
            <p:nvPr/>
          </p:nvSpPr>
          <p:spPr>
            <a:xfrm>
              <a:off x="0" y="68931"/>
              <a:ext cx="4003614" cy="551655"/>
            </a:xfrm>
            <a:prstGeom prst="roundRect">
              <a:avLst>
                <a:gd name="adj" fmla="val 16667"/>
              </a:avLst>
            </a:prstGeom>
            <a:gradFill>
              <a:gsLst>
                <a:gs pos="0">
                  <a:srgbClr val="27869E"/>
                </a:gs>
                <a:gs pos="80000">
                  <a:srgbClr val="34B0D0"/>
                </a:gs>
                <a:gs pos="100000">
                  <a:srgbClr val="30B3D4"/>
                </a:gs>
              </a:gsLst>
              <a:lin ang="16200000" scaled="0"/>
            </a:gradFill>
            <a:ln>
              <a:noFill/>
            </a:ln>
            <a:effectLst>
              <a:outerShdw blurRad="40000" dist="23000" dir="5400000" rotWithShape="0">
                <a:srgbClr val="000000">
                  <a:alpha val="3450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p11"/>
            <p:cNvSpPr txBox="1"/>
            <p:nvPr/>
          </p:nvSpPr>
          <p:spPr>
            <a:xfrm>
              <a:off x="0" y="68931"/>
              <a:ext cx="4003614" cy="551655"/>
            </a:xfrm>
            <a:prstGeom prst="rect">
              <a:avLst/>
            </a:prstGeom>
            <a:noFill/>
            <a:ln>
              <a:noFill/>
            </a:ln>
          </p:spPr>
          <p:txBody>
            <a:bodyPr spcFirstLastPara="1" wrap="square" lIns="87625" tIns="87625" rIns="87625" bIns="87625" anchor="ctr" anchorCtr="0">
              <a:noAutofit/>
            </a:bodyPr>
            <a:lstStyle/>
            <a:p>
              <a:pPr marL="0" marR="0" lvl="0" indent="0" algn="l" rtl="0">
                <a:lnSpc>
                  <a:spcPct val="90000"/>
                </a:lnSpc>
                <a:spcBef>
                  <a:spcPts val="0"/>
                </a:spcBef>
                <a:spcAft>
                  <a:spcPts val="0"/>
                </a:spcAft>
                <a:buClr>
                  <a:srgbClr val="000000"/>
                </a:buClr>
                <a:buSzPts val="2300"/>
                <a:buFont typeface="Arial"/>
                <a:buNone/>
              </a:pPr>
              <a:r>
                <a:rPr lang="en-US" sz="2300" b="1" i="0" u="none" strike="noStrike" cap="none">
                  <a:solidFill>
                    <a:schemeClr val="lt1"/>
                  </a:solidFill>
                  <a:latin typeface="Calibri"/>
                  <a:ea typeface="Calibri"/>
                  <a:cs typeface="Calibri"/>
                  <a:sym typeface="Calibri"/>
                </a:rPr>
                <a:t>Activity 1.0 (10 mins)</a:t>
              </a:r>
              <a:r>
                <a:rPr lang="en-US" sz="2300" b="0" i="0" u="none" strike="noStrike" cap="none">
                  <a:solidFill>
                    <a:schemeClr val="lt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221" name="Google Shape;221;p11"/>
            <p:cNvSpPr/>
            <p:nvPr/>
          </p:nvSpPr>
          <p:spPr>
            <a:xfrm>
              <a:off x="0" y="620586"/>
              <a:ext cx="4003614" cy="223767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11"/>
            <p:cNvSpPr txBox="1"/>
            <p:nvPr/>
          </p:nvSpPr>
          <p:spPr>
            <a:xfrm>
              <a:off x="0" y="620586"/>
              <a:ext cx="4003614" cy="2237670"/>
            </a:xfrm>
            <a:prstGeom prst="rect">
              <a:avLst/>
            </a:prstGeom>
            <a:noFill/>
            <a:ln>
              <a:noFill/>
            </a:ln>
          </p:spPr>
          <p:txBody>
            <a:bodyPr spcFirstLastPara="1" wrap="square" lIns="127100" tIns="29200" rIns="163575" bIns="29200" anchor="t" anchorCtr="0">
              <a:noAutofit/>
            </a:bodyPr>
            <a:lstStyle/>
            <a:p>
              <a:pPr marL="171450" marR="0" lvl="1" indent="-171450" algn="l" rtl="0">
                <a:lnSpc>
                  <a:spcPct val="90000"/>
                </a:lnSpc>
                <a:spcBef>
                  <a:spcPts val="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Assumes that 2 islands and 2 riverbanks become the nodes of the graph. Meanwhile 7 bridges become the arcs.</a:t>
              </a:r>
              <a:endParaRPr sz="1800" b="0" i="0" u="none" strike="noStrike" cap="none">
                <a:solidFill>
                  <a:schemeClr val="dk1"/>
                </a:solidFill>
                <a:latin typeface="Calibri"/>
                <a:ea typeface="Calibri"/>
                <a:cs typeface="Calibri"/>
                <a:sym typeface="Calibri"/>
              </a:endParaRPr>
            </a:p>
            <a:p>
              <a:pPr marL="171450" marR="0" lvl="1" indent="-171450" algn="l" rtl="0">
                <a:lnSpc>
                  <a:spcPct val="90000"/>
                </a:lnSpc>
                <a:spcBef>
                  <a:spcPts val="36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Draw a graph that consist all those nodes and arcs.</a:t>
              </a:r>
              <a:endParaRPr sz="1400" b="0" i="0" u="none" strike="noStrike" cap="none">
                <a:solidFill>
                  <a:srgbClr val="000000"/>
                </a:solidFill>
                <a:latin typeface="Arial"/>
                <a:ea typeface="Arial"/>
                <a:cs typeface="Arial"/>
                <a:sym typeface="Arial"/>
              </a:endParaRPr>
            </a:p>
            <a:p>
              <a:pPr marL="171450" marR="0" lvl="1" indent="-171450" algn="l" rtl="0">
                <a:lnSpc>
                  <a:spcPct val="90000"/>
                </a:lnSpc>
                <a:spcBef>
                  <a:spcPts val="36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Share in the class.</a:t>
              </a:r>
              <a:endParaRPr sz="1400" b="0" i="0" u="none" strike="noStrike" cap="none">
                <a:solidFill>
                  <a:srgbClr val="000000"/>
                </a:solidFill>
                <a:latin typeface="Arial"/>
                <a:ea typeface="Arial"/>
                <a:cs typeface="Arial"/>
                <a:sym typeface="Arial"/>
              </a:endParaRPr>
            </a:p>
            <a:p>
              <a:pPr marL="171450" marR="0" lvl="1" indent="-57150" algn="l" rtl="0">
                <a:lnSpc>
                  <a:spcPct val="90000"/>
                </a:lnSpc>
                <a:spcBef>
                  <a:spcPts val="36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2"/>
          <p:cNvSpPr/>
          <p:nvPr/>
        </p:nvSpPr>
        <p:spPr>
          <a:xfrm>
            <a:off x="2819400" y="0"/>
            <a:ext cx="3988849" cy="1381125"/>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0000"/>
              </a:buClr>
              <a:buSzPts val="4400"/>
              <a:buFont typeface="Arial"/>
              <a:buNone/>
            </a:pPr>
            <a:r>
              <a:rPr lang="en-US" sz="4400" b="1" i="0" u="none" strike="noStrike" cap="none">
                <a:solidFill>
                  <a:srgbClr val="000000"/>
                </a:solidFill>
                <a:latin typeface="Calibri"/>
                <a:ea typeface="Calibri"/>
                <a:cs typeface="Calibri"/>
                <a:sym typeface="Calibri"/>
              </a:rPr>
              <a:t>Possible Answer</a:t>
            </a:r>
            <a:endParaRPr sz="1400" b="0" i="0" u="none" strike="noStrike" cap="none">
              <a:solidFill>
                <a:srgbClr val="000000"/>
              </a:solidFill>
              <a:latin typeface="Arial"/>
              <a:ea typeface="Arial"/>
              <a:cs typeface="Arial"/>
              <a:sym typeface="Arial"/>
            </a:endParaRPr>
          </a:p>
        </p:txBody>
      </p:sp>
      <p:sp>
        <p:nvSpPr>
          <p:cNvPr id="229" name="Google Shape;229;p12"/>
          <p:cNvSpPr txBox="1">
            <a:spLocks noGrp="1"/>
          </p:cNvSpPr>
          <p:nvPr>
            <p:ph type="dt" idx="10"/>
          </p:nvPr>
        </p:nvSpPr>
        <p:spPr>
          <a:xfrm>
            <a:off x="604245" y="5525027"/>
            <a:ext cx="2331049" cy="23555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400"/>
              <a:buNone/>
            </a:pPr>
            <a:r>
              <a:rPr lang="en-US" sz="825">
                <a:solidFill>
                  <a:srgbClr val="898989"/>
                </a:solidFill>
              </a:rPr>
              <a:t>2019</a:t>
            </a:r>
            <a:endParaRPr/>
          </a:p>
        </p:txBody>
      </p:sp>
      <p:pic>
        <p:nvPicPr>
          <p:cNvPr id="230" name="Google Shape;230;p12"/>
          <p:cNvPicPr preferRelativeResize="0"/>
          <p:nvPr/>
        </p:nvPicPr>
        <p:blipFill rotWithShape="1">
          <a:blip r:embed="rId3">
            <a:alphaModFix/>
          </a:blip>
          <a:srcRect/>
          <a:stretch/>
        </p:blipFill>
        <p:spPr>
          <a:xfrm>
            <a:off x="49285" y="2166146"/>
            <a:ext cx="4482631" cy="2852583"/>
          </a:xfrm>
          <a:prstGeom prst="rect">
            <a:avLst/>
          </a:prstGeom>
          <a:noFill/>
          <a:ln>
            <a:noFill/>
          </a:ln>
        </p:spPr>
      </p:pic>
      <p:sp>
        <p:nvSpPr>
          <p:cNvPr id="231" name="Google Shape;231;p12"/>
          <p:cNvSpPr txBox="1">
            <a:spLocks noGrp="1"/>
          </p:cNvSpPr>
          <p:nvPr>
            <p:ph type="ftr" idx="11"/>
          </p:nvPr>
        </p:nvSpPr>
        <p:spPr>
          <a:xfrm>
            <a:off x="4300277" y="6372752"/>
            <a:ext cx="3967172" cy="23555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400"/>
              <a:buNone/>
            </a:pPr>
            <a:r>
              <a:rPr lang="en-US" sz="825">
                <a:solidFill>
                  <a:srgbClr val="898989"/>
                </a:solidFill>
                <a:latin typeface="Calibri"/>
                <a:ea typeface="Calibri"/>
                <a:cs typeface="Calibri"/>
                <a:sym typeface="Calibri"/>
              </a:rPr>
              <a:t>MECQ1203: Artificial Intelligence</a:t>
            </a:r>
            <a:endParaRPr/>
          </a:p>
        </p:txBody>
      </p:sp>
      <p:sp>
        <p:nvSpPr>
          <p:cNvPr id="232" name="Google Shape;232;p12"/>
          <p:cNvSpPr txBox="1">
            <a:spLocks noGrp="1"/>
          </p:cNvSpPr>
          <p:nvPr>
            <p:ph type="sldNum" idx="12"/>
          </p:nvPr>
        </p:nvSpPr>
        <p:spPr>
          <a:xfrm>
            <a:off x="8267450" y="6372752"/>
            <a:ext cx="428046" cy="23555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825"/>
              <a:buNone/>
            </a:pPr>
            <a:fld id="{00000000-1234-1234-1234-123412341234}" type="slidenum">
              <a:rPr lang="en-US" sz="825">
                <a:solidFill>
                  <a:srgbClr val="898989"/>
                </a:solidFill>
              </a:rPr>
              <a:t>12</a:t>
            </a:fld>
            <a:endParaRPr sz="825">
              <a:solidFill>
                <a:srgbClr val="898989"/>
              </a:solidFill>
            </a:endParaRPr>
          </a:p>
        </p:txBody>
      </p:sp>
      <p:pic>
        <p:nvPicPr>
          <p:cNvPr id="233" name="Google Shape;233;p12"/>
          <p:cNvPicPr preferRelativeResize="0"/>
          <p:nvPr/>
        </p:nvPicPr>
        <p:blipFill rotWithShape="1">
          <a:blip r:embed="rId4">
            <a:alphaModFix/>
          </a:blip>
          <a:srcRect/>
          <a:stretch/>
        </p:blipFill>
        <p:spPr>
          <a:xfrm>
            <a:off x="4612640" y="1711271"/>
            <a:ext cx="4229100" cy="4371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800">
                <a:solidFill>
                  <a:srgbClr val="FFE1AD"/>
                </a:solidFill>
              </a:rPr>
              <a:t>2019</a:t>
            </a:r>
            <a:endParaRPr/>
          </a:p>
        </p:txBody>
      </p:sp>
      <p:sp>
        <p:nvSpPr>
          <p:cNvPr id="239" name="Google Shape;239;p1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800">
                <a:solidFill>
                  <a:srgbClr val="FFE1AD"/>
                </a:solidFill>
              </a:rPr>
              <a:t>MECQ1203: Artificial Intelligence</a:t>
            </a:r>
            <a:endParaRPr/>
          </a:p>
        </p:txBody>
      </p:sp>
      <p:sp>
        <p:nvSpPr>
          <p:cNvPr id="240" name="Google Shape;240;p1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rgbClr val="FFE1AD"/>
                </a:solidFill>
              </a:rPr>
              <a:t>13</a:t>
            </a:fld>
            <a:endParaRPr sz="900">
              <a:solidFill>
                <a:srgbClr val="FFE1AD"/>
              </a:solidFill>
            </a:endParaRPr>
          </a:p>
        </p:txBody>
      </p:sp>
      <p:sp>
        <p:nvSpPr>
          <p:cNvPr id="241" name="Google Shape;241;p13"/>
          <p:cNvSpPr/>
          <p:nvPr/>
        </p:nvSpPr>
        <p:spPr>
          <a:xfrm>
            <a:off x="1066800" y="304800"/>
            <a:ext cx="8073273"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chemeClr val="dk1"/>
                </a:solidFill>
                <a:latin typeface="Roboto"/>
                <a:ea typeface="Roboto"/>
                <a:cs typeface="Roboto"/>
                <a:sym typeface="Roboto"/>
              </a:rPr>
              <a:t>Graph Theory : </a:t>
            </a:r>
            <a:r>
              <a:rPr lang="en-US" sz="4000" b="1" i="0" u="none" strike="noStrike" cap="none">
                <a:solidFill>
                  <a:srgbClr val="C00000"/>
                </a:solidFill>
                <a:latin typeface="Roboto"/>
                <a:ea typeface="Roboto"/>
                <a:cs typeface="Roboto"/>
                <a:sym typeface="Roboto"/>
              </a:rPr>
              <a:t>Structure</a:t>
            </a:r>
            <a:endParaRPr sz="1400" b="0" i="0" u="none" strike="noStrike" cap="none">
              <a:solidFill>
                <a:srgbClr val="000000"/>
              </a:solidFill>
              <a:latin typeface="Arial"/>
              <a:ea typeface="Arial"/>
              <a:cs typeface="Arial"/>
              <a:sym typeface="Arial"/>
            </a:endParaRPr>
          </a:p>
        </p:txBody>
      </p:sp>
      <p:pic>
        <p:nvPicPr>
          <p:cNvPr id="242" name="Google Shape;242;p13"/>
          <p:cNvPicPr preferRelativeResize="0"/>
          <p:nvPr/>
        </p:nvPicPr>
        <p:blipFill rotWithShape="1">
          <a:blip r:embed="rId3">
            <a:alphaModFix/>
          </a:blip>
          <a:srcRect b="19274"/>
          <a:stretch/>
        </p:blipFill>
        <p:spPr>
          <a:xfrm>
            <a:off x="-32390" y="1482750"/>
            <a:ext cx="9131567" cy="3394050"/>
          </a:xfrm>
          <a:prstGeom prst="rect">
            <a:avLst/>
          </a:prstGeom>
          <a:noFill/>
          <a:ln>
            <a:noFill/>
          </a:ln>
        </p:spPr>
      </p:pic>
      <p:sp>
        <p:nvSpPr>
          <p:cNvPr id="243" name="Google Shape;243;p13"/>
          <p:cNvSpPr txBox="1"/>
          <p:nvPr/>
        </p:nvSpPr>
        <p:spPr>
          <a:xfrm>
            <a:off x="31377" y="1482750"/>
            <a:ext cx="9067800" cy="338554"/>
          </a:xfrm>
          <a:prstGeom prst="rect">
            <a:avLst/>
          </a:prstGeom>
          <a:noFill/>
          <a:ln>
            <a:noFill/>
          </a:ln>
        </p:spPr>
        <p:txBody>
          <a:bodyPr spcFirstLastPara="1" wrap="square" lIns="91425" tIns="45700" rIns="91425" bIns="45700" anchor="t" anchorCtr="0">
            <a:spAutoFit/>
          </a:bodyPr>
          <a:lstStyle/>
          <a:p>
            <a:pPr marL="1371600" marR="0" lvl="0" indent="-1371600" algn="l" rtl="0">
              <a:lnSpc>
                <a:spcPct val="100000"/>
              </a:lnSpc>
              <a:spcBef>
                <a:spcPts val="0"/>
              </a:spcBef>
              <a:spcAft>
                <a:spcPts val="0"/>
              </a:spcAft>
              <a:buClr>
                <a:srgbClr val="000000"/>
              </a:buClr>
              <a:buSzPts val="1600"/>
              <a:buFont typeface="Arial"/>
              <a:buNone/>
            </a:pPr>
            <a:r>
              <a:rPr lang="en-US" sz="1600" b="0" i="0" u="none" strike="noStrike" cap="none">
                <a:solidFill>
                  <a:srgbClr val="0070C0"/>
                </a:solidFill>
                <a:latin typeface="Arial"/>
                <a:ea typeface="Arial"/>
                <a:cs typeface="Arial"/>
                <a:sym typeface="Arial"/>
              </a:rPr>
              <a:t>a) A labeled directed graph- arrow indicate directions</a:t>
            </a:r>
            <a:endParaRPr sz="1400" b="0" i="0" u="none" strike="noStrike" cap="none">
              <a:solidFill>
                <a:srgbClr val="000000"/>
              </a:solidFill>
              <a:latin typeface="Arial"/>
              <a:ea typeface="Arial"/>
              <a:cs typeface="Arial"/>
              <a:sym typeface="Arial"/>
            </a:endParaRPr>
          </a:p>
        </p:txBody>
      </p:sp>
      <p:sp>
        <p:nvSpPr>
          <p:cNvPr id="244" name="Google Shape;244;p13"/>
          <p:cNvSpPr txBox="1"/>
          <p:nvPr/>
        </p:nvSpPr>
        <p:spPr>
          <a:xfrm>
            <a:off x="1447800" y="4724400"/>
            <a:ext cx="6096000" cy="461665"/>
          </a:xfrm>
          <a:prstGeom prst="rect">
            <a:avLst/>
          </a:prstGeom>
          <a:solidFill>
            <a:srgbClr val="D9959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 b, c, d, e}</a:t>
            </a:r>
            <a:endParaRPr sz="1400" b="0" i="0" u="none" strike="noStrike" cap="none">
              <a:solidFill>
                <a:srgbClr val="000000"/>
              </a:solidFill>
              <a:latin typeface="Arial"/>
              <a:ea typeface="Arial"/>
              <a:cs typeface="Arial"/>
              <a:sym typeface="Arial"/>
            </a:endParaRPr>
          </a:p>
        </p:txBody>
      </p:sp>
      <p:sp>
        <p:nvSpPr>
          <p:cNvPr id="245" name="Google Shape;245;p13"/>
          <p:cNvSpPr txBox="1"/>
          <p:nvPr/>
        </p:nvSpPr>
        <p:spPr>
          <a:xfrm>
            <a:off x="76200" y="5334000"/>
            <a:ext cx="1250303" cy="461665"/>
          </a:xfrm>
          <a:prstGeom prst="rect">
            <a:avLst/>
          </a:prstGeom>
          <a:solidFill>
            <a:srgbClr val="E36C09"/>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Calibri"/>
                <a:ea typeface="Calibri"/>
                <a:cs typeface="Calibri"/>
                <a:sym typeface="Calibri"/>
              </a:rPr>
              <a:t>Arcs</a:t>
            </a:r>
            <a:endParaRPr sz="1400" b="0" i="0" u="none" strike="noStrike" cap="none">
              <a:solidFill>
                <a:srgbClr val="000000"/>
              </a:solidFill>
              <a:latin typeface="Arial"/>
              <a:ea typeface="Arial"/>
              <a:cs typeface="Arial"/>
              <a:sym typeface="Arial"/>
            </a:endParaRPr>
          </a:p>
        </p:txBody>
      </p:sp>
      <p:sp>
        <p:nvSpPr>
          <p:cNvPr id="246" name="Google Shape;246;p13"/>
          <p:cNvSpPr txBox="1"/>
          <p:nvPr/>
        </p:nvSpPr>
        <p:spPr>
          <a:xfrm>
            <a:off x="1447800" y="5334000"/>
            <a:ext cx="6096000" cy="461665"/>
          </a:xfrm>
          <a:prstGeom prst="rect">
            <a:avLst/>
          </a:prstGeom>
          <a:solidFill>
            <a:srgbClr val="F79646"/>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{(a,b),(a,d), (b,c),(c,b),(c,d),(d,a),(d,e),(e,c),(e,d)}</a:t>
            </a:r>
            <a:endParaRPr sz="1400" b="0" i="0" u="none" strike="noStrike" cap="none">
              <a:solidFill>
                <a:srgbClr val="000000"/>
              </a:solidFill>
              <a:latin typeface="Arial"/>
              <a:ea typeface="Arial"/>
              <a:cs typeface="Arial"/>
              <a:sym typeface="Arial"/>
            </a:endParaRPr>
          </a:p>
        </p:txBody>
      </p:sp>
      <p:sp>
        <p:nvSpPr>
          <p:cNvPr id="247" name="Google Shape;247;p13"/>
          <p:cNvSpPr txBox="1"/>
          <p:nvPr/>
        </p:nvSpPr>
        <p:spPr>
          <a:xfrm>
            <a:off x="76200" y="4724400"/>
            <a:ext cx="1250303" cy="461665"/>
          </a:xfrm>
          <a:prstGeom prst="rect">
            <a:avLst/>
          </a:prstGeom>
          <a:solidFill>
            <a:srgbClr val="C0000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Calibri"/>
                <a:ea typeface="Calibri"/>
                <a:cs typeface="Calibri"/>
                <a:sym typeface="Calibri"/>
              </a:rPr>
              <a:t>Nodes</a:t>
            </a:r>
            <a:r>
              <a:rPr lang="en-US" sz="24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7"/>
                                        </p:tgtEl>
                                        <p:attrNameLst>
                                          <p:attrName>style.visibility</p:attrName>
                                        </p:attrNameLst>
                                      </p:cBhvr>
                                      <p:to>
                                        <p:strVal val="visible"/>
                                      </p:to>
                                    </p:set>
                                    <p:animEffect transition="in" filter="fade">
                                      <p:cBhvr>
                                        <p:cTn id="7" dur="500"/>
                                        <p:tgtEl>
                                          <p:spTgt spid="2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5"/>
                                        </p:tgtEl>
                                        <p:attrNameLst>
                                          <p:attrName>style.visibility</p:attrName>
                                        </p:attrNameLst>
                                      </p:cBhvr>
                                      <p:to>
                                        <p:strVal val="visible"/>
                                      </p:to>
                                    </p:set>
                                    <p:animEffect transition="in" filter="fade">
                                      <p:cBhvr>
                                        <p:cTn id="12" dur="500"/>
                                        <p:tgtEl>
                                          <p:spTgt spid="24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6"/>
                                        </p:tgtEl>
                                        <p:attrNameLst>
                                          <p:attrName>style.visibility</p:attrName>
                                        </p:attrNameLst>
                                      </p:cBhvr>
                                      <p:to>
                                        <p:strVal val="visible"/>
                                      </p:to>
                                    </p:set>
                                    <p:animEffect transition="in" filter="fade">
                                      <p:cBhvr>
                                        <p:cTn id="17" dur="500"/>
                                        <p:tgtEl>
                                          <p:spTgt spid="24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4"/>
                                        </p:tgtEl>
                                        <p:attrNameLst>
                                          <p:attrName>style.visibility</p:attrName>
                                        </p:attrNameLst>
                                      </p:cBhvr>
                                      <p:to>
                                        <p:strVal val="visible"/>
                                      </p:to>
                                    </p:set>
                                    <p:animEffect transition="in" filter="fade">
                                      <p:cBhvr>
                                        <p:cTn id="22" dur="500"/>
                                        <p:tgtEl>
                                          <p:spTgt spid="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800">
                <a:solidFill>
                  <a:srgbClr val="FFE1AD"/>
                </a:solidFill>
              </a:rPr>
              <a:t>2019</a:t>
            </a:r>
            <a:endParaRPr/>
          </a:p>
        </p:txBody>
      </p:sp>
      <p:sp>
        <p:nvSpPr>
          <p:cNvPr id="253" name="Google Shape;253;p1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800">
                <a:solidFill>
                  <a:srgbClr val="FFE1AD"/>
                </a:solidFill>
              </a:rPr>
              <a:t>MECQ1203: Artificial Intelligence</a:t>
            </a:r>
            <a:endParaRPr/>
          </a:p>
        </p:txBody>
      </p:sp>
      <p:sp>
        <p:nvSpPr>
          <p:cNvPr id="254" name="Google Shape;254;p1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rgbClr val="FFE1AD"/>
                </a:solidFill>
              </a:rPr>
              <a:t>14</a:t>
            </a:fld>
            <a:endParaRPr sz="900">
              <a:solidFill>
                <a:srgbClr val="FFE1AD"/>
              </a:solidFill>
            </a:endParaRPr>
          </a:p>
        </p:txBody>
      </p:sp>
      <p:sp>
        <p:nvSpPr>
          <p:cNvPr id="255" name="Google Shape;255;p14"/>
          <p:cNvSpPr/>
          <p:nvPr/>
        </p:nvSpPr>
        <p:spPr>
          <a:xfrm>
            <a:off x="1066800" y="304800"/>
            <a:ext cx="8073273"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chemeClr val="dk1"/>
                </a:solidFill>
                <a:latin typeface="Roboto"/>
                <a:ea typeface="Roboto"/>
                <a:cs typeface="Roboto"/>
                <a:sym typeface="Roboto"/>
              </a:rPr>
              <a:t>Graph Theory: </a:t>
            </a:r>
            <a:r>
              <a:rPr lang="en-US" sz="4000" b="1" i="0" u="none" strike="noStrike" cap="none">
                <a:solidFill>
                  <a:srgbClr val="C00000"/>
                </a:solidFill>
                <a:latin typeface="Roboto"/>
                <a:ea typeface="Roboto"/>
                <a:cs typeface="Roboto"/>
                <a:sym typeface="Roboto"/>
              </a:rPr>
              <a:t>Structure</a:t>
            </a:r>
            <a:endParaRPr sz="1400" b="0" i="0" u="none" strike="noStrike" cap="none">
              <a:solidFill>
                <a:srgbClr val="000000"/>
              </a:solidFill>
              <a:latin typeface="Arial"/>
              <a:ea typeface="Arial"/>
              <a:cs typeface="Arial"/>
              <a:sym typeface="Arial"/>
            </a:endParaRPr>
          </a:p>
        </p:txBody>
      </p:sp>
      <p:sp>
        <p:nvSpPr>
          <p:cNvPr id="256" name="Google Shape;256;p14"/>
          <p:cNvSpPr txBox="1"/>
          <p:nvPr/>
        </p:nvSpPr>
        <p:spPr>
          <a:xfrm>
            <a:off x="31377" y="1371600"/>
            <a:ext cx="9067800" cy="1077218"/>
          </a:xfrm>
          <a:prstGeom prst="rect">
            <a:avLst/>
          </a:prstGeom>
          <a:noFill/>
          <a:ln>
            <a:noFill/>
          </a:ln>
        </p:spPr>
        <p:txBody>
          <a:bodyPr spcFirstLastPara="1" wrap="square" lIns="91425" tIns="45700" rIns="91425" bIns="45700" anchor="t" anchorCtr="0">
            <a:spAutoFit/>
          </a:bodyPr>
          <a:lstStyle/>
          <a:p>
            <a:pPr marL="1371600" marR="0" lvl="0" indent="-1371600" algn="l" rtl="0">
              <a:lnSpc>
                <a:spcPct val="100000"/>
              </a:lnSpc>
              <a:spcBef>
                <a:spcPts val="0"/>
              </a:spcBef>
              <a:spcAft>
                <a:spcPts val="0"/>
              </a:spcAft>
              <a:buClr>
                <a:srgbClr val="000000"/>
              </a:buClr>
              <a:buSzPts val="1600"/>
              <a:buFont typeface="Arial"/>
              <a:buNone/>
            </a:pPr>
            <a:r>
              <a:rPr lang="en-US" sz="1600" b="0" i="0" u="none" strike="noStrike" cap="none">
                <a:solidFill>
                  <a:srgbClr val="0070C0"/>
                </a:solidFill>
                <a:latin typeface="Arial"/>
                <a:ea typeface="Arial"/>
                <a:cs typeface="Arial"/>
                <a:sym typeface="Arial"/>
              </a:rPr>
              <a:t>b) A rooted tree, exemplifying family relationships(parents, child, sibling)</a:t>
            </a:r>
            <a:endParaRPr sz="1400" b="0" i="0" u="none" strike="noStrike" cap="none">
              <a:solidFill>
                <a:srgbClr val="000000"/>
              </a:solidFill>
              <a:latin typeface="Arial"/>
              <a:ea typeface="Arial"/>
              <a:cs typeface="Arial"/>
              <a:sym typeface="Arial"/>
            </a:endParaRPr>
          </a:p>
          <a:p>
            <a:pPr marL="1143000" marR="0" lvl="2" indent="-228600" algn="l" rtl="0">
              <a:lnSpc>
                <a:spcPct val="100000"/>
              </a:lnSpc>
              <a:spcBef>
                <a:spcPts val="0"/>
              </a:spcBef>
              <a:spcAft>
                <a:spcPts val="0"/>
              </a:spcAft>
              <a:buClr>
                <a:srgbClr val="0070C0"/>
              </a:buClr>
              <a:buSzPts val="1600"/>
              <a:buFont typeface="Arial"/>
              <a:buChar char="•"/>
            </a:pPr>
            <a:r>
              <a:rPr lang="en-US" sz="1600" b="0" i="0" u="none" strike="noStrike" cap="none">
                <a:solidFill>
                  <a:srgbClr val="0070C0"/>
                </a:solidFill>
                <a:latin typeface="Arial"/>
                <a:ea typeface="Arial"/>
                <a:cs typeface="Arial"/>
                <a:sym typeface="Arial"/>
              </a:rPr>
              <a:t>Path from root to all nodes</a:t>
            </a:r>
            <a:endParaRPr sz="1400" b="0" i="0" u="none" strike="noStrike" cap="none">
              <a:solidFill>
                <a:srgbClr val="000000"/>
              </a:solidFill>
              <a:latin typeface="Arial"/>
              <a:ea typeface="Arial"/>
              <a:cs typeface="Arial"/>
              <a:sym typeface="Arial"/>
            </a:endParaRPr>
          </a:p>
          <a:p>
            <a:pPr marL="1143000" marR="0" lvl="2" indent="-228600" algn="l" rtl="0">
              <a:lnSpc>
                <a:spcPct val="100000"/>
              </a:lnSpc>
              <a:spcBef>
                <a:spcPts val="0"/>
              </a:spcBef>
              <a:spcAft>
                <a:spcPts val="0"/>
              </a:spcAft>
              <a:buClr>
                <a:srgbClr val="0070C0"/>
              </a:buClr>
              <a:buSzPts val="1600"/>
              <a:buFont typeface="Arial"/>
              <a:buChar char="•"/>
            </a:pPr>
            <a:r>
              <a:rPr lang="en-US" sz="1600" b="0" i="0" u="none" strike="noStrike" cap="none">
                <a:solidFill>
                  <a:srgbClr val="0070C0"/>
                </a:solidFill>
                <a:latin typeface="Arial"/>
                <a:ea typeface="Arial"/>
                <a:cs typeface="Arial"/>
                <a:sym typeface="Arial"/>
              </a:rPr>
              <a:t>Directed graph with arcs having one direction ~no cycle</a:t>
            </a:r>
            <a:endParaRPr sz="1400" b="0" i="0" u="none" strike="noStrike" cap="none">
              <a:solidFill>
                <a:srgbClr val="000000"/>
              </a:solidFill>
              <a:latin typeface="Arial"/>
              <a:ea typeface="Arial"/>
              <a:cs typeface="Arial"/>
              <a:sym typeface="Arial"/>
            </a:endParaRPr>
          </a:p>
          <a:p>
            <a:pPr marL="1143000" marR="0" lvl="2" indent="-228600" algn="l" rtl="0">
              <a:lnSpc>
                <a:spcPct val="100000"/>
              </a:lnSpc>
              <a:spcBef>
                <a:spcPts val="0"/>
              </a:spcBef>
              <a:spcAft>
                <a:spcPts val="0"/>
              </a:spcAft>
              <a:buClr>
                <a:srgbClr val="0070C0"/>
              </a:buClr>
              <a:buSzPts val="1600"/>
              <a:buFont typeface="Arial"/>
              <a:buChar char="•"/>
            </a:pPr>
            <a:r>
              <a:rPr lang="en-US" sz="1600" b="0" i="0" u="none" strike="noStrike" cap="none">
                <a:solidFill>
                  <a:srgbClr val="0070C0"/>
                </a:solidFill>
                <a:latin typeface="Arial"/>
                <a:ea typeface="Arial"/>
                <a:cs typeface="Arial"/>
                <a:sym typeface="Arial"/>
              </a:rPr>
              <a:t>Example: game players cannot UNDO moves</a:t>
            </a:r>
            <a:endParaRPr sz="1400" b="0" i="0" u="none" strike="noStrike" cap="none">
              <a:solidFill>
                <a:srgbClr val="000000"/>
              </a:solidFill>
              <a:latin typeface="Arial"/>
              <a:ea typeface="Arial"/>
              <a:cs typeface="Arial"/>
              <a:sym typeface="Arial"/>
            </a:endParaRPr>
          </a:p>
        </p:txBody>
      </p:sp>
      <p:pic>
        <p:nvPicPr>
          <p:cNvPr id="257" name="Google Shape;257;p14"/>
          <p:cNvPicPr preferRelativeResize="0"/>
          <p:nvPr/>
        </p:nvPicPr>
        <p:blipFill rotWithShape="1">
          <a:blip r:embed="rId3">
            <a:alphaModFix/>
          </a:blip>
          <a:srcRect/>
          <a:stretch/>
        </p:blipFill>
        <p:spPr>
          <a:xfrm>
            <a:off x="1055024" y="2443769"/>
            <a:ext cx="6564976" cy="3962400"/>
          </a:xfrm>
          <a:prstGeom prst="rect">
            <a:avLst/>
          </a:prstGeom>
          <a:noFill/>
          <a:ln>
            <a:noFill/>
          </a:ln>
        </p:spPr>
      </p:pic>
      <p:grpSp>
        <p:nvGrpSpPr>
          <p:cNvPr id="258" name="Google Shape;258;p14"/>
          <p:cNvGrpSpPr/>
          <p:nvPr/>
        </p:nvGrpSpPr>
        <p:grpSpPr>
          <a:xfrm>
            <a:off x="457200" y="2501874"/>
            <a:ext cx="3473822" cy="684239"/>
            <a:chOff x="457200" y="2501874"/>
            <a:chExt cx="3473822" cy="684239"/>
          </a:xfrm>
        </p:grpSpPr>
        <p:sp>
          <p:nvSpPr>
            <p:cNvPr id="259" name="Google Shape;259;p14"/>
            <p:cNvSpPr txBox="1"/>
            <p:nvPr/>
          </p:nvSpPr>
          <p:spPr>
            <a:xfrm>
              <a:off x="457200" y="2819400"/>
              <a:ext cx="838200" cy="366713"/>
            </a:xfrm>
            <a:prstGeom prst="rect">
              <a:avLst/>
            </a:prstGeom>
            <a:solidFill>
              <a:srgbClr val="C00000"/>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Root</a:t>
              </a:r>
              <a:endParaRPr sz="1400" b="0" i="0" u="none" strike="noStrike" cap="none">
                <a:solidFill>
                  <a:srgbClr val="000000"/>
                </a:solidFill>
                <a:latin typeface="Arial"/>
                <a:ea typeface="Arial"/>
                <a:cs typeface="Arial"/>
                <a:sym typeface="Arial"/>
              </a:endParaRPr>
            </a:p>
          </p:txBody>
        </p:sp>
        <p:cxnSp>
          <p:nvCxnSpPr>
            <p:cNvPr id="260" name="Google Shape;260;p14"/>
            <p:cNvCxnSpPr/>
            <p:nvPr/>
          </p:nvCxnSpPr>
          <p:spPr>
            <a:xfrm rot="10800000" flipH="1">
              <a:off x="1295399" y="2901984"/>
              <a:ext cx="2635623" cy="77568"/>
            </a:xfrm>
            <a:prstGeom prst="straightConnector1">
              <a:avLst/>
            </a:prstGeom>
            <a:noFill/>
            <a:ln w="28575" cap="flat" cmpd="sng">
              <a:solidFill>
                <a:srgbClr val="C00000"/>
              </a:solidFill>
              <a:prstDash val="solid"/>
              <a:round/>
              <a:headEnd type="none" w="sm" len="sm"/>
              <a:tailEnd type="triangle" w="med" len="med"/>
            </a:ln>
          </p:spPr>
        </p:cxnSp>
        <p:sp>
          <p:nvSpPr>
            <p:cNvPr id="261" name="Google Shape;261;p14"/>
            <p:cNvSpPr txBox="1"/>
            <p:nvPr/>
          </p:nvSpPr>
          <p:spPr>
            <a:xfrm>
              <a:off x="659130" y="2501874"/>
              <a:ext cx="43434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C00000"/>
                  </a:solidFill>
                  <a:latin typeface="Calibri"/>
                  <a:ea typeface="Calibri"/>
                  <a:cs typeface="Calibri"/>
                  <a:sym typeface="Calibri"/>
                </a:rPr>
                <a:t>1</a:t>
              </a:r>
              <a:endParaRPr sz="1400" b="0" i="0" u="none" strike="noStrike" cap="none">
                <a:solidFill>
                  <a:srgbClr val="000000"/>
                </a:solidFill>
                <a:latin typeface="Arial"/>
                <a:ea typeface="Arial"/>
                <a:cs typeface="Arial"/>
                <a:sym typeface="Arial"/>
              </a:endParaRPr>
            </a:p>
          </p:txBody>
        </p:sp>
      </p:grpSp>
      <p:grpSp>
        <p:nvGrpSpPr>
          <p:cNvPr id="262" name="Google Shape;262;p14"/>
          <p:cNvGrpSpPr/>
          <p:nvPr/>
        </p:nvGrpSpPr>
        <p:grpSpPr>
          <a:xfrm>
            <a:off x="3228434" y="2229677"/>
            <a:ext cx="5610765" cy="2701394"/>
            <a:chOff x="3228434" y="2229677"/>
            <a:chExt cx="5610765" cy="2701394"/>
          </a:xfrm>
        </p:grpSpPr>
        <p:sp>
          <p:nvSpPr>
            <p:cNvPr id="263" name="Google Shape;263;p14"/>
            <p:cNvSpPr/>
            <p:nvPr/>
          </p:nvSpPr>
          <p:spPr>
            <a:xfrm rot="-612979">
              <a:off x="3435474" y="2345045"/>
              <a:ext cx="1521765" cy="2470658"/>
            </a:xfrm>
            <a:prstGeom prst="ellipse">
              <a:avLst/>
            </a:prstGeom>
            <a:noFill/>
            <a:ln w="28575" cap="flat" cmpd="sng">
              <a:solidFill>
                <a:srgbClr val="E36C0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p:txBody>
        </p:sp>
        <p:cxnSp>
          <p:nvCxnSpPr>
            <p:cNvPr id="264" name="Google Shape;264;p14"/>
            <p:cNvCxnSpPr/>
            <p:nvPr/>
          </p:nvCxnSpPr>
          <p:spPr>
            <a:xfrm>
              <a:off x="4745640" y="2901984"/>
              <a:ext cx="1242784" cy="0"/>
            </a:xfrm>
            <a:prstGeom prst="straightConnector1">
              <a:avLst/>
            </a:prstGeom>
            <a:noFill/>
            <a:ln w="28575" cap="flat" cmpd="sng">
              <a:solidFill>
                <a:srgbClr val="E36C09"/>
              </a:solidFill>
              <a:prstDash val="solid"/>
              <a:round/>
              <a:headEnd type="none" w="sm" len="sm"/>
              <a:tailEnd type="triangle" w="med" len="med"/>
            </a:ln>
          </p:spPr>
        </p:cxnSp>
        <p:sp>
          <p:nvSpPr>
            <p:cNvPr id="265" name="Google Shape;265;p14"/>
            <p:cNvSpPr txBox="1"/>
            <p:nvPr/>
          </p:nvSpPr>
          <p:spPr>
            <a:xfrm>
              <a:off x="5978898" y="2717318"/>
              <a:ext cx="2860301" cy="369332"/>
            </a:xfrm>
            <a:prstGeom prst="rect">
              <a:avLst/>
            </a:prstGeom>
            <a:solidFill>
              <a:srgbClr val="E36C09"/>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Ancestor of nodes g, h and i</a:t>
              </a:r>
              <a:endParaRPr sz="1800" b="0" i="0" u="none" strike="noStrike" cap="none">
                <a:solidFill>
                  <a:schemeClr val="lt1"/>
                </a:solidFill>
                <a:latin typeface="Calibri"/>
                <a:ea typeface="Calibri"/>
                <a:cs typeface="Calibri"/>
                <a:sym typeface="Calibri"/>
              </a:endParaRPr>
            </a:p>
          </p:txBody>
        </p:sp>
        <p:sp>
          <p:nvSpPr>
            <p:cNvPr id="266" name="Google Shape;266;p14"/>
            <p:cNvSpPr txBox="1"/>
            <p:nvPr/>
          </p:nvSpPr>
          <p:spPr>
            <a:xfrm>
              <a:off x="7208734" y="2372962"/>
              <a:ext cx="3048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E36C09"/>
                  </a:solidFill>
                  <a:latin typeface="Calibri"/>
                  <a:ea typeface="Calibri"/>
                  <a:cs typeface="Calibri"/>
                  <a:sym typeface="Calibri"/>
                </a:rPr>
                <a:t>5</a:t>
              </a:r>
              <a:endParaRPr sz="1400" b="0" i="0" u="none" strike="noStrike" cap="none">
                <a:solidFill>
                  <a:srgbClr val="000000"/>
                </a:solidFill>
                <a:latin typeface="Arial"/>
                <a:ea typeface="Arial"/>
                <a:cs typeface="Arial"/>
                <a:sym typeface="Arial"/>
              </a:endParaRPr>
            </a:p>
          </p:txBody>
        </p:sp>
      </p:grpSp>
      <p:grpSp>
        <p:nvGrpSpPr>
          <p:cNvPr id="267" name="Google Shape;267;p14"/>
          <p:cNvGrpSpPr/>
          <p:nvPr/>
        </p:nvGrpSpPr>
        <p:grpSpPr>
          <a:xfrm>
            <a:off x="443753" y="3378340"/>
            <a:ext cx="5347447" cy="1059048"/>
            <a:chOff x="443753" y="3378340"/>
            <a:chExt cx="5347447" cy="1059048"/>
          </a:xfrm>
        </p:grpSpPr>
        <p:sp>
          <p:nvSpPr>
            <p:cNvPr id="268" name="Google Shape;268;p14"/>
            <p:cNvSpPr txBox="1"/>
            <p:nvPr/>
          </p:nvSpPr>
          <p:spPr>
            <a:xfrm>
              <a:off x="443753" y="3685008"/>
              <a:ext cx="972669" cy="366713"/>
            </a:xfrm>
            <a:prstGeom prst="rect">
              <a:avLst/>
            </a:prstGeom>
            <a:solidFill>
              <a:srgbClr val="008000"/>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Parent</a:t>
              </a:r>
              <a:endParaRPr sz="1400" b="0" i="0" u="none" strike="noStrike" cap="none">
                <a:solidFill>
                  <a:srgbClr val="000000"/>
                </a:solidFill>
                <a:latin typeface="Arial"/>
                <a:ea typeface="Arial"/>
                <a:cs typeface="Arial"/>
                <a:sym typeface="Arial"/>
              </a:endParaRPr>
            </a:p>
          </p:txBody>
        </p:sp>
        <p:cxnSp>
          <p:nvCxnSpPr>
            <p:cNvPr id="269" name="Google Shape;269;p14"/>
            <p:cNvCxnSpPr/>
            <p:nvPr/>
          </p:nvCxnSpPr>
          <p:spPr>
            <a:xfrm>
              <a:off x="1433829" y="3880833"/>
              <a:ext cx="448946" cy="364328"/>
            </a:xfrm>
            <a:prstGeom prst="straightConnector1">
              <a:avLst/>
            </a:prstGeom>
            <a:noFill/>
            <a:ln w="28575" cap="flat" cmpd="sng">
              <a:solidFill>
                <a:srgbClr val="008000"/>
              </a:solidFill>
              <a:prstDash val="solid"/>
              <a:round/>
              <a:headEnd type="none" w="sm" len="sm"/>
              <a:tailEnd type="triangle" w="med" len="med"/>
            </a:ln>
          </p:spPr>
        </p:cxnSp>
        <p:cxnSp>
          <p:nvCxnSpPr>
            <p:cNvPr id="270" name="Google Shape;270;p14"/>
            <p:cNvCxnSpPr/>
            <p:nvPr/>
          </p:nvCxnSpPr>
          <p:spPr>
            <a:xfrm>
              <a:off x="1433829" y="3886201"/>
              <a:ext cx="2299971" cy="444081"/>
            </a:xfrm>
            <a:prstGeom prst="straightConnector1">
              <a:avLst/>
            </a:prstGeom>
            <a:noFill/>
            <a:ln w="28575" cap="flat" cmpd="sng">
              <a:solidFill>
                <a:srgbClr val="008000"/>
              </a:solidFill>
              <a:prstDash val="solid"/>
              <a:round/>
              <a:headEnd type="none" w="sm" len="sm"/>
              <a:tailEnd type="triangle" w="med" len="med"/>
            </a:ln>
          </p:spPr>
        </p:cxnSp>
        <p:cxnSp>
          <p:nvCxnSpPr>
            <p:cNvPr id="271" name="Google Shape;271;p14"/>
            <p:cNvCxnSpPr/>
            <p:nvPr/>
          </p:nvCxnSpPr>
          <p:spPr>
            <a:xfrm>
              <a:off x="1433829" y="3880834"/>
              <a:ext cx="4357371" cy="556554"/>
            </a:xfrm>
            <a:prstGeom prst="straightConnector1">
              <a:avLst/>
            </a:prstGeom>
            <a:noFill/>
            <a:ln w="28575" cap="flat" cmpd="sng">
              <a:solidFill>
                <a:srgbClr val="008000"/>
              </a:solidFill>
              <a:prstDash val="solid"/>
              <a:round/>
              <a:headEnd type="none" w="sm" len="sm"/>
              <a:tailEnd type="triangle" w="med" len="med"/>
            </a:ln>
          </p:spPr>
        </p:cxnSp>
        <p:sp>
          <p:nvSpPr>
            <p:cNvPr id="272" name="Google Shape;272;p14"/>
            <p:cNvSpPr txBox="1"/>
            <p:nvPr/>
          </p:nvSpPr>
          <p:spPr>
            <a:xfrm>
              <a:off x="729801" y="3378340"/>
              <a:ext cx="4572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8000"/>
                  </a:solidFill>
                  <a:latin typeface="Calibri"/>
                  <a:ea typeface="Calibri"/>
                  <a:cs typeface="Calibri"/>
                  <a:sym typeface="Calibri"/>
                </a:rPr>
                <a:t>2</a:t>
              </a:r>
              <a:endParaRPr sz="1400" b="0" i="0" u="none" strike="noStrike" cap="none">
                <a:solidFill>
                  <a:srgbClr val="000000"/>
                </a:solidFill>
                <a:latin typeface="Arial"/>
                <a:ea typeface="Arial"/>
                <a:cs typeface="Arial"/>
                <a:sym typeface="Arial"/>
              </a:endParaRPr>
            </a:p>
          </p:txBody>
        </p:sp>
      </p:grpSp>
      <p:grpSp>
        <p:nvGrpSpPr>
          <p:cNvPr id="273" name="Google Shape;273;p14"/>
          <p:cNvGrpSpPr/>
          <p:nvPr/>
        </p:nvGrpSpPr>
        <p:grpSpPr>
          <a:xfrm>
            <a:off x="310701" y="4652921"/>
            <a:ext cx="7680846" cy="1392937"/>
            <a:chOff x="310701" y="4652921"/>
            <a:chExt cx="7680846" cy="1392937"/>
          </a:xfrm>
        </p:grpSpPr>
        <p:sp>
          <p:nvSpPr>
            <p:cNvPr id="274" name="Google Shape;274;p14"/>
            <p:cNvSpPr/>
            <p:nvPr/>
          </p:nvSpPr>
          <p:spPr>
            <a:xfrm>
              <a:off x="752547" y="5574266"/>
              <a:ext cx="7239000" cy="471592"/>
            </a:xfrm>
            <a:prstGeom prst="ellipse">
              <a:avLst/>
            </a:prstGeom>
            <a:noFill/>
            <a:ln w="28575" cap="flat" cmpd="sng">
              <a:solidFill>
                <a:srgbClr val="3898B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aramond"/>
                <a:ea typeface="Garamond"/>
                <a:cs typeface="Garamond"/>
                <a:sym typeface="Garamond"/>
              </a:endParaRPr>
            </a:p>
          </p:txBody>
        </p:sp>
        <p:sp>
          <p:nvSpPr>
            <p:cNvPr id="275" name="Google Shape;275;p14"/>
            <p:cNvSpPr txBox="1"/>
            <p:nvPr/>
          </p:nvSpPr>
          <p:spPr>
            <a:xfrm>
              <a:off x="310701" y="4993286"/>
              <a:ext cx="838200" cy="366713"/>
            </a:xfrm>
            <a:prstGeom prst="rect">
              <a:avLst/>
            </a:prstGeom>
            <a:solidFill>
              <a:srgbClr val="3898B2"/>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child</a:t>
              </a:r>
              <a:endParaRPr sz="1400" b="0" i="0" u="none" strike="noStrike" cap="none">
                <a:solidFill>
                  <a:srgbClr val="000000"/>
                </a:solidFill>
                <a:latin typeface="Arial"/>
                <a:ea typeface="Arial"/>
                <a:cs typeface="Arial"/>
                <a:sym typeface="Arial"/>
              </a:endParaRPr>
            </a:p>
          </p:txBody>
        </p:sp>
        <p:cxnSp>
          <p:nvCxnSpPr>
            <p:cNvPr id="276" name="Google Shape;276;p14"/>
            <p:cNvCxnSpPr/>
            <p:nvPr/>
          </p:nvCxnSpPr>
          <p:spPr>
            <a:xfrm>
              <a:off x="838200" y="5359999"/>
              <a:ext cx="5442" cy="368204"/>
            </a:xfrm>
            <a:prstGeom prst="straightConnector1">
              <a:avLst/>
            </a:prstGeom>
            <a:noFill/>
            <a:ln w="28575" cap="flat" cmpd="sng">
              <a:solidFill>
                <a:srgbClr val="3898B2"/>
              </a:solidFill>
              <a:prstDash val="solid"/>
              <a:round/>
              <a:headEnd type="none" w="sm" len="sm"/>
              <a:tailEnd type="stealth" w="med" len="med"/>
            </a:ln>
          </p:spPr>
        </p:cxnSp>
        <p:sp>
          <p:nvSpPr>
            <p:cNvPr id="277" name="Google Shape;277;p14"/>
            <p:cNvSpPr txBox="1"/>
            <p:nvPr/>
          </p:nvSpPr>
          <p:spPr>
            <a:xfrm>
              <a:off x="559724" y="4652921"/>
              <a:ext cx="4572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3898B2"/>
                  </a:solidFill>
                  <a:latin typeface="Calibri"/>
                  <a:ea typeface="Calibri"/>
                  <a:cs typeface="Calibri"/>
                  <a:sym typeface="Calibri"/>
                </a:rPr>
                <a:t>3</a:t>
              </a:r>
              <a:endParaRPr sz="1400" b="0" i="0" u="none" strike="noStrike" cap="none">
                <a:solidFill>
                  <a:srgbClr val="000000"/>
                </a:solidFill>
                <a:latin typeface="Arial"/>
                <a:ea typeface="Arial"/>
                <a:cs typeface="Arial"/>
                <a:sym typeface="Arial"/>
              </a:endParaRPr>
            </a:p>
          </p:txBody>
        </p:sp>
      </p:grpSp>
      <p:grpSp>
        <p:nvGrpSpPr>
          <p:cNvPr id="278" name="Google Shape;278;p14"/>
          <p:cNvGrpSpPr/>
          <p:nvPr/>
        </p:nvGrpSpPr>
        <p:grpSpPr>
          <a:xfrm>
            <a:off x="7513534" y="4366552"/>
            <a:ext cx="1524000" cy="1361651"/>
            <a:chOff x="7513534" y="4366552"/>
            <a:chExt cx="1524000" cy="1361651"/>
          </a:xfrm>
        </p:grpSpPr>
        <p:sp>
          <p:nvSpPr>
            <p:cNvPr id="279" name="Google Shape;279;p14"/>
            <p:cNvSpPr txBox="1"/>
            <p:nvPr/>
          </p:nvSpPr>
          <p:spPr>
            <a:xfrm>
              <a:off x="7513534" y="4671352"/>
              <a:ext cx="1524000" cy="366713"/>
            </a:xfrm>
            <a:prstGeom prst="rect">
              <a:avLst/>
            </a:prstGeom>
            <a:solidFill>
              <a:srgbClr val="002060"/>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Leaf or tip</a:t>
              </a:r>
              <a:endParaRPr sz="1400" b="0" i="0" u="none" strike="noStrike" cap="none">
                <a:solidFill>
                  <a:srgbClr val="000000"/>
                </a:solidFill>
                <a:latin typeface="Arial"/>
                <a:ea typeface="Arial"/>
                <a:cs typeface="Arial"/>
                <a:sym typeface="Arial"/>
              </a:endParaRPr>
            </a:p>
          </p:txBody>
        </p:sp>
        <p:cxnSp>
          <p:nvCxnSpPr>
            <p:cNvPr id="280" name="Google Shape;280;p14"/>
            <p:cNvCxnSpPr/>
            <p:nvPr/>
          </p:nvCxnSpPr>
          <p:spPr>
            <a:xfrm rot="10800000" flipH="1">
              <a:off x="7772400" y="5023869"/>
              <a:ext cx="9740" cy="704334"/>
            </a:xfrm>
            <a:prstGeom prst="straightConnector1">
              <a:avLst/>
            </a:prstGeom>
            <a:noFill/>
            <a:ln w="28575" cap="flat" cmpd="sng">
              <a:solidFill>
                <a:srgbClr val="002060"/>
              </a:solidFill>
              <a:prstDash val="solid"/>
              <a:round/>
              <a:headEnd type="none" w="sm" len="sm"/>
              <a:tailEnd type="triangle" w="med" len="med"/>
            </a:ln>
          </p:spPr>
        </p:cxnSp>
        <p:sp>
          <p:nvSpPr>
            <p:cNvPr id="281" name="Google Shape;281;p14"/>
            <p:cNvSpPr txBox="1"/>
            <p:nvPr/>
          </p:nvSpPr>
          <p:spPr>
            <a:xfrm>
              <a:off x="8105111" y="4366552"/>
              <a:ext cx="381000"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2060"/>
                  </a:solidFill>
                  <a:latin typeface="Calibri"/>
                  <a:ea typeface="Calibri"/>
                  <a:cs typeface="Calibri"/>
                  <a:sym typeface="Calibri"/>
                </a:rPr>
                <a:t>4</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pic>
        <p:nvPicPr>
          <p:cNvPr id="287" name="Google Shape;287;p15"/>
          <p:cNvPicPr preferRelativeResize="0"/>
          <p:nvPr/>
        </p:nvPicPr>
        <p:blipFill rotWithShape="1">
          <a:blip r:embed="rId3">
            <a:alphaModFix/>
          </a:blip>
          <a:srcRect/>
          <a:stretch/>
        </p:blipFill>
        <p:spPr>
          <a:xfrm>
            <a:off x="533400" y="1219200"/>
            <a:ext cx="6553200" cy="5059680"/>
          </a:xfrm>
          <a:prstGeom prst="rect">
            <a:avLst/>
          </a:prstGeom>
          <a:noFill/>
          <a:ln>
            <a:noFill/>
          </a:ln>
        </p:spPr>
      </p:pic>
      <p:sp>
        <p:nvSpPr>
          <p:cNvPr id="288" name="Google Shape;288;p15"/>
          <p:cNvSpPr/>
          <p:nvPr/>
        </p:nvSpPr>
        <p:spPr>
          <a:xfrm>
            <a:off x="1066800" y="304800"/>
            <a:ext cx="8073273"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chemeClr val="dk1"/>
                </a:solidFill>
                <a:latin typeface="Roboto"/>
                <a:ea typeface="Roboto"/>
                <a:cs typeface="Roboto"/>
                <a:sym typeface="Roboto"/>
              </a:rPr>
              <a:t>Graph Theory: </a:t>
            </a:r>
            <a:r>
              <a:rPr lang="en-US" sz="4000" b="1" i="0" u="none" strike="noStrike" cap="none">
                <a:solidFill>
                  <a:srgbClr val="C00000"/>
                </a:solidFill>
                <a:latin typeface="Roboto"/>
                <a:ea typeface="Roboto"/>
                <a:cs typeface="Roboto"/>
                <a:sym typeface="Roboto"/>
              </a:rPr>
              <a:t>Definition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1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800">
                <a:solidFill>
                  <a:srgbClr val="FFE1AD"/>
                </a:solidFill>
              </a:rPr>
              <a:t>2019</a:t>
            </a:r>
            <a:endParaRPr/>
          </a:p>
        </p:txBody>
      </p:sp>
      <p:sp>
        <p:nvSpPr>
          <p:cNvPr id="295" name="Google Shape;295;p1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800">
                <a:solidFill>
                  <a:srgbClr val="FFE1AD"/>
                </a:solidFill>
              </a:rPr>
              <a:t>MECQ1203: Artificial Intelligence</a:t>
            </a:r>
            <a:endParaRPr/>
          </a:p>
        </p:txBody>
      </p:sp>
      <p:sp>
        <p:nvSpPr>
          <p:cNvPr id="296" name="Google Shape;296;p1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rgbClr val="FFE1AD"/>
                </a:solidFill>
              </a:rPr>
              <a:t>16</a:t>
            </a:fld>
            <a:endParaRPr sz="900">
              <a:solidFill>
                <a:srgbClr val="FFE1AD"/>
              </a:solidFill>
            </a:endParaRPr>
          </a:p>
        </p:txBody>
      </p:sp>
      <p:sp>
        <p:nvSpPr>
          <p:cNvPr id="297" name="Google Shape;297;p16"/>
          <p:cNvSpPr/>
          <p:nvPr/>
        </p:nvSpPr>
        <p:spPr>
          <a:xfrm>
            <a:off x="838200" y="494795"/>
            <a:ext cx="8073273"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Roboto"/>
                <a:ea typeface="Roboto"/>
                <a:cs typeface="Roboto"/>
                <a:sym typeface="Roboto"/>
              </a:rPr>
              <a:t>Graph Theory: Using Predicate Logic</a:t>
            </a:r>
            <a:endParaRPr sz="2800" b="1" i="0" u="none" strike="noStrike" cap="none">
              <a:solidFill>
                <a:srgbClr val="C00000"/>
              </a:solidFill>
              <a:latin typeface="Roboto"/>
              <a:ea typeface="Roboto"/>
              <a:cs typeface="Roboto"/>
              <a:sym typeface="Roboto"/>
            </a:endParaRPr>
          </a:p>
        </p:txBody>
      </p:sp>
      <p:sp>
        <p:nvSpPr>
          <p:cNvPr id="298" name="Google Shape;298;p16"/>
          <p:cNvSpPr txBox="1"/>
          <p:nvPr/>
        </p:nvSpPr>
        <p:spPr>
          <a:xfrm>
            <a:off x="50800" y="1416566"/>
            <a:ext cx="5759823" cy="396875"/>
          </a:xfrm>
          <a:prstGeom prst="rect">
            <a:avLst/>
          </a:prstGeom>
          <a:noFill/>
          <a:ln>
            <a:noFill/>
          </a:ln>
        </p:spPr>
        <p:txBody>
          <a:bodyPr spcFirstLastPara="1" wrap="square" lIns="91425" tIns="45700" rIns="91425" bIns="45700" anchor="t" anchorCtr="0">
            <a:spAutoFit/>
          </a:bodyPr>
          <a:lstStyle/>
          <a:p>
            <a:pPr marL="1371600" marR="0" lvl="0" indent="-1371600" algn="l" rtl="0">
              <a:lnSpc>
                <a:spcPct val="100000"/>
              </a:lnSpc>
              <a:spcBef>
                <a:spcPts val="0"/>
              </a:spcBef>
              <a:spcAft>
                <a:spcPts val="0"/>
              </a:spcAft>
              <a:buClr>
                <a:srgbClr val="000000"/>
              </a:buClr>
              <a:buSzPts val="1600"/>
              <a:buFont typeface="Arial"/>
              <a:buNone/>
            </a:pPr>
            <a:r>
              <a:rPr lang="en-US" sz="1600" b="0" i="0" u="none" strike="noStrike" cap="none">
                <a:solidFill>
                  <a:srgbClr val="0070C0"/>
                </a:solidFill>
                <a:latin typeface="Arial"/>
                <a:ea typeface="Arial"/>
                <a:cs typeface="Arial"/>
                <a:sym typeface="Arial"/>
              </a:rPr>
              <a:t>Euler Graph Theory: Graph of the Königsberg bridge system</a:t>
            </a:r>
            <a:r>
              <a:rPr lang="en-US" sz="2000" b="0" i="0" u="none" strike="noStrike" cap="none">
                <a:solidFill>
                  <a:schemeClr val="dk1"/>
                </a:solidFill>
                <a:latin typeface="Arial"/>
                <a:ea typeface="Arial"/>
                <a:cs typeface="Arial"/>
                <a:sym typeface="Arial"/>
              </a:rPr>
              <a:t>.</a:t>
            </a:r>
            <a:endParaRPr sz="2400" b="0" i="0" u="none" strike="noStrike" cap="none">
              <a:solidFill>
                <a:schemeClr val="dk1"/>
              </a:solidFill>
              <a:latin typeface="Arial"/>
              <a:ea typeface="Arial"/>
              <a:cs typeface="Arial"/>
              <a:sym typeface="Arial"/>
            </a:endParaRPr>
          </a:p>
        </p:txBody>
      </p:sp>
      <p:pic>
        <p:nvPicPr>
          <p:cNvPr id="299" name="Google Shape;299;p16"/>
          <p:cNvPicPr preferRelativeResize="0"/>
          <p:nvPr/>
        </p:nvPicPr>
        <p:blipFill rotWithShape="1">
          <a:blip r:embed="rId3">
            <a:alphaModFix/>
          </a:blip>
          <a:srcRect/>
          <a:stretch/>
        </p:blipFill>
        <p:spPr>
          <a:xfrm>
            <a:off x="63500" y="1768475"/>
            <a:ext cx="4038600" cy="4692012"/>
          </a:xfrm>
          <a:prstGeom prst="rect">
            <a:avLst/>
          </a:prstGeom>
          <a:noFill/>
          <a:ln>
            <a:noFill/>
          </a:ln>
        </p:spPr>
      </p:pic>
      <p:grpSp>
        <p:nvGrpSpPr>
          <p:cNvPr id="300" name="Google Shape;300;p16"/>
          <p:cNvGrpSpPr/>
          <p:nvPr/>
        </p:nvGrpSpPr>
        <p:grpSpPr>
          <a:xfrm>
            <a:off x="4759386" y="2178212"/>
            <a:ext cx="4003614" cy="2911469"/>
            <a:chOff x="0" y="0"/>
            <a:chExt cx="4003614" cy="2911469"/>
          </a:xfrm>
        </p:grpSpPr>
        <p:sp>
          <p:nvSpPr>
            <p:cNvPr id="301" name="Google Shape;301;p16"/>
            <p:cNvSpPr/>
            <p:nvPr/>
          </p:nvSpPr>
          <p:spPr>
            <a:xfrm>
              <a:off x="0" y="0"/>
              <a:ext cx="4003614" cy="527670"/>
            </a:xfrm>
            <a:prstGeom prst="roundRect">
              <a:avLst>
                <a:gd name="adj" fmla="val 16667"/>
              </a:avLst>
            </a:prstGeom>
            <a:gradFill>
              <a:gsLst>
                <a:gs pos="0">
                  <a:srgbClr val="27869E"/>
                </a:gs>
                <a:gs pos="80000">
                  <a:srgbClr val="34B0D0"/>
                </a:gs>
                <a:gs pos="100000">
                  <a:srgbClr val="30B3D4"/>
                </a:gs>
              </a:gsLst>
              <a:lin ang="16200000" scaled="0"/>
            </a:gradFill>
            <a:ln>
              <a:noFill/>
            </a:ln>
            <a:effectLst>
              <a:outerShdw blurRad="40000" dist="23000" dir="5400000" rotWithShape="0">
                <a:srgbClr val="000000">
                  <a:alpha val="3450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16"/>
            <p:cNvSpPr txBox="1"/>
            <p:nvPr/>
          </p:nvSpPr>
          <p:spPr>
            <a:xfrm>
              <a:off x="0" y="0"/>
              <a:ext cx="4003614" cy="527670"/>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rgbClr val="000000"/>
                </a:buClr>
                <a:buSzPts val="2200"/>
                <a:buFont typeface="Arial"/>
                <a:buNone/>
              </a:pPr>
              <a:r>
                <a:rPr lang="en-US" sz="2200" b="1" i="0" u="none" strike="noStrike" cap="none">
                  <a:solidFill>
                    <a:schemeClr val="lt1"/>
                  </a:solidFill>
                  <a:latin typeface="Calibri"/>
                  <a:ea typeface="Calibri"/>
                  <a:cs typeface="Calibri"/>
                  <a:sym typeface="Calibri"/>
                </a:rPr>
                <a:t>Activity 2.0 (5 mins)</a:t>
              </a:r>
              <a:r>
                <a:rPr lang="en-US" sz="2200" b="0" i="0" u="none" strike="noStrike" cap="none">
                  <a:solidFill>
                    <a:schemeClr val="lt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303" name="Google Shape;303;p16"/>
            <p:cNvSpPr/>
            <p:nvPr/>
          </p:nvSpPr>
          <p:spPr>
            <a:xfrm>
              <a:off x="0" y="543389"/>
              <a:ext cx="4003614" cy="236808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16"/>
            <p:cNvSpPr txBox="1"/>
            <p:nvPr/>
          </p:nvSpPr>
          <p:spPr>
            <a:xfrm>
              <a:off x="0" y="543389"/>
              <a:ext cx="4003614" cy="2368080"/>
            </a:xfrm>
            <a:prstGeom prst="rect">
              <a:avLst/>
            </a:prstGeom>
            <a:noFill/>
            <a:ln>
              <a:noFill/>
            </a:ln>
          </p:spPr>
          <p:txBody>
            <a:bodyPr spcFirstLastPara="1" wrap="square" lIns="127100" tIns="27925" rIns="156450" bIns="27925" anchor="t" anchorCtr="0">
              <a:noAutofit/>
            </a:bodyPr>
            <a:lstStyle/>
            <a:p>
              <a:pPr marL="171450" marR="0" lvl="1" indent="-171450" algn="l" rtl="0">
                <a:lnSpc>
                  <a:spcPct val="90000"/>
                </a:lnSpc>
                <a:spcBef>
                  <a:spcPts val="0"/>
                </a:spcBef>
                <a:spcAft>
                  <a:spcPts val="0"/>
                </a:spcAft>
                <a:buClr>
                  <a:schemeClr val="dk1"/>
                </a:buClr>
                <a:buSzPts val="1700"/>
                <a:buFont typeface="Calibri"/>
                <a:buChar char="•"/>
              </a:pPr>
              <a:r>
                <a:rPr lang="en-US" sz="1700" b="0" i="0" u="none" strike="noStrike" cap="none">
                  <a:solidFill>
                    <a:schemeClr val="dk1"/>
                  </a:solidFill>
                  <a:latin typeface="Calibri"/>
                  <a:ea typeface="Calibri"/>
                  <a:cs typeface="Calibri"/>
                  <a:sym typeface="Calibri"/>
                </a:rPr>
                <a:t>Based on the given graph of Konigsberg bridge system, two nodes can be connected by an edge. For example, using predicate logic, it can be represented using Connect(i1, i2, b1).</a:t>
              </a:r>
              <a:endParaRPr sz="1700" b="0" i="0" u="none" strike="noStrike" cap="none">
                <a:solidFill>
                  <a:schemeClr val="dk1"/>
                </a:solidFill>
                <a:latin typeface="Calibri"/>
                <a:ea typeface="Calibri"/>
                <a:cs typeface="Calibri"/>
                <a:sym typeface="Calibri"/>
              </a:endParaRPr>
            </a:p>
            <a:p>
              <a:pPr marL="171450" marR="0" lvl="1" indent="-171450" algn="l" rtl="0">
                <a:lnSpc>
                  <a:spcPct val="90000"/>
                </a:lnSpc>
                <a:spcBef>
                  <a:spcPts val="340"/>
                </a:spcBef>
                <a:spcAft>
                  <a:spcPts val="0"/>
                </a:spcAft>
                <a:buClr>
                  <a:schemeClr val="dk1"/>
                </a:buClr>
                <a:buSzPts val="1700"/>
                <a:buFont typeface="Calibri"/>
                <a:buChar char="•"/>
              </a:pPr>
              <a:r>
                <a:rPr lang="en-US" sz="1700" b="0" i="0" u="none" strike="noStrike" cap="none">
                  <a:solidFill>
                    <a:schemeClr val="dk1"/>
                  </a:solidFill>
                  <a:latin typeface="Calibri"/>
                  <a:ea typeface="Calibri"/>
                  <a:cs typeface="Calibri"/>
                  <a:sym typeface="Calibri"/>
                </a:rPr>
                <a:t>List all possible connections in a form of predicate logic.</a:t>
              </a:r>
              <a:endParaRPr sz="1400" b="0" i="0" u="none" strike="noStrike" cap="none">
                <a:solidFill>
                  <a:srgbClr val="000000"/>
                </a:solidFill>
                <a:latin typeface="Arial"/>
                <a:ea typeface="Arial"/>
                <a:cs typeface="Arial"/>
                <a:sym typeface="Arial"/>
              </a:endParaRPr>
            </a:p>
            <a:p>
              <a:pPr marL="171450" marR="0" lvl="1" indent="-171450" algn="l" rtl="0">
                <a:lnSpc>
                  <a:spcPct val="90000"/>
                </a:lnSpc>
                <a:spcBef>
                  <a:spcPts val="340"/>
                </a:spcBef>
                <a:spcAft>
                  <a:spcPts val="0"/>
                </a:spcAft>
                <a:buClr>
                  <a:schemeClr val="dk1"/>
                </a:buClr>
                <a:buSzPts val="1700"/>
                <a:buFont typeface="Calibri"/>
                <a:buChar char="•"/>
              </a:pPr>
              <a:r>
                <a:rPr lang="en-US" sz="1700" b="0" i="0" u="none" strike="noStrike" cap="none">
                  <a:solidFill>
                    <a:schemeClr val="dk1"/>
                  </a:solidFill>
                  <a:latin typeface="Calibri"/>
                  <a:ea typeface="Calibri"/>
                  <a:cs typeface="Calibri"/>
                  <a:sym typeface="Calibri"/>
                </a:rPr>
                <a:t>Share in the class.</a:t>
              </a:r>
              <a:endParaRPr sz="1400" b="0" i="0" u="none" strike="noStrike" cap="none">
                <a:solidFill>
                  <a:srgbClr val="000000"/>
                </a:solidFill>
                <a:latin typeface="Arial"/>
                <a:ea typeface="Arial"/>
                <a:cs typeface="Arial"/>
                <a:sym typeface="Arial"/>
              </a:endParaRPr>
            </a:p>
            <a:p>
              <a:pPr marL="171450" marR="0" lvl="1" indent="-63500" algn="l" rtl="0">
                <a:lnSpc>
                  <a:spcPct val="90000"/>
                </a:lnSpc>
                <a:spcBef>
                  <a:spcPts val="340"/>
                </a:spcBef>
                <a:spcAft>
                  <a:spcPts val="0"/>
                </a:spcAft>
                <a:buClr>
                  <a:schemeClr val="dk1"/>
                </a:buClr>
                <a:buSzPts val="1700"/>
                <a:buFont typeface="Calibri"/>
                <a:buNone/>
              </a:pPr>
              <a:endParaRPr sz="1700" b="0" i="0" u="none" strike="noStrike" cap="none">
                <a:solidFill>
                  <a:schemeClr val="dk1"/>
                </a:solidFill>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308"/>
        <p:cNvGrpSpPr/>
        <p:nvPr/>
      </p:nvGrpSpPr>
      <p:grpSpPr>
        <a:xfrm>
          <a:off x="0" y="0"/>
          <a:ext cx="0" cy="0"/>
          <a:chOff x="0" y="0"/>
          <a:chExt cx="0" cy="0"/>
        </a:xfrm>
      </p:grpSpPr>
      <p:sp>
        <p:nvSpPr>
          <p:cNvPr id="309" name="Google Shape;309;p1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800">
                <a:solidFill>
                  <a:srgbClr val="FFE1AD"/>
                </a:solidFill>
              </a:rPr>
              <a:t>2019</a:t>
            </a:r>
            <a:endParaRPr/>
          </a:p>
        </p:txBody>
      </p:sp>
      <p:sp>
        <p:nvSpPr>
          <p:cNvPr id="310" name="Google Shape;310;p1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800">
                <a:solidFill>
                  <a:srgbClr val="FFE1AD"/>
                </a:solidFill>
              </a:rPr>
              <a:t>MECQ1203: Artificial Intelligence</a:t>
            </a:r>
            <a:endParaRPr/>
          </a:p>
        </p:txBody>
      </p:sp>
      <p:sp>
        <p:nvSpPr>
          <p:cNvPr id="311" name="Google Shape;311;p1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rgbClr val="FFE1AD"/>
                </a:solidFill>
              </a:rPr>
              <a:t>17</a:t>
            </a:fld>
            <a:endParaRPr sz="900">
              <a:solidFill>
                <a:srgbClr val="FFE1AD"/>
              </a:solidFill>
            </a:endParaRPr>
          </a:p>
        </p:txBody>
      </p:sp>
      <p:sp>
        <p:nvSpPr>
          <p:cNvPr id="312" name="Google Shape;312;p17"/>
          <p:cNvSpPr/>
          <p:nvPr/>
        </p:nvSpPr>
        <p:spPr>
          <a:xfrm>
            <a:off x="838200" y="494795"/>
            <a:ext cx="8073273"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Roboto"/>
                <a:ea typeface="Roboto"/>
                <a:cs typeface="Roboto"/>
                <a:sym typeface="Roboto"/>
              </a:rPr>
              <a:t>Graph Theory: Using Predicate Logic - Answer</a:t>
            </a:r>
            <a:endParaRPr sz="2800" b="1" i="0" u="none" strike="noStrike" cap="none">
              <a:solidFill>
                <a:srgbClr val="C00000"/>
              </a:solidFill>
              <a:latin typeface="Roboto"/>
              <a:ea typeface="Roboto"/>
              <a:cs typeface="Roboto"/>
              <a:sym typeface="Roboto"/>
            </a:endParaRPr>
          </a:p>
        </p:txBody>
      </p:sp>
      <p:sp>
        <p:nvSpPr>
          <p:cNvPr id="313" name="Google Shape;313;p17"/>
          <p:cNvSpPr txBox="1"/>
          <p:nvPr/>
        </p:nvSpPr>
        <p:spPr>
          <a:xfrm>
            <a:off x="50800" y="1416566"/>
            <a:ext cx="5759823" cy="396875"/>
          </a:xfrm>
          <a:prstGeom prst="rect">
            <a:avLst/>
          </a:prstGeom>
          <a:noFill/>
          <a:ln>
            <a:noFill/>
          </a:ln>
        </p:spPr>
        <p:txBody>
          <a:bodyPr spcFirstLastPara="1" wrap="square" lIns="91425" tIns="45700" rIns="91425" bIns="45700" anchor="t" anchorCtr="0">
            <a:spAutoFit/>
          </a:bodyPr>
          <a:lstStyle/>
          <a:p>
            <a:pPr marL="1371600" marR="0" lvl="0" indent="-1371600" algn="l" rtl="0">
              <a:lnSpc>
                <a:spcPct val="100000"/>
              </a:lnSpc>
              <a:spcBef>
                <a:spcPts val="0"/>
              </a:spcBef>
              <a:spcAft>
                <a:spcPts val="0"/>
              </a:spcAft>
              <a:buClr>
                <a:srgbClr val="000000"/>
              </a:buClr>
              <a:buSzPts val="1600"/>
              <a:buFont typeface="Arial"/>
              <a:buNone/>
            </a:pPr>
            <a:r>
              <a:rPr lang="en-US" sz="1600" b="0" i="0" u="none" strike="noStrike" cap="none">
                <a:solidFill>
                  <a:srgbClr val="0070C0"/>
                </a:solidFill>
                <a:latin typeface="Arial"/>
                <a:ea typeface="Arial"/>
                <a:cs typeface="Arial"/>
                <a:sym typeface="Arial"/>
              </a:rPr>
              <a:t>Euler Graph Theory: Graph of the Königsberg bridge system</a:t>
            </a:r>
            <a:r>
              <a:rPr lang="en-US" sz="2000" b="0" i="0" u="none" strike="noStrike" cap="none">
                <a:solidFill>
                  <a:schemeClr val="dk1"/>
                </a:solidFill>
                <a:latin typeface="Arial"/>
                <a:ea typeface="Arial"/>
                <a:cs typeface="Arial"/>
                <a:sym typeface="Arial"/>
              </a:rPr>
              <a:t>.</a:t>
            </a:r>
            <a:endParaRPr sz="2400" b="0" i="0" u="none" strike="noStrike" cap="none">
              <a:solidFill>
                <a:schemeClr val="dk1"/>
              </a:solidFill>
              <a:latin typeface="Arial"/>
              <a:ea typeface="Arial"/>
              <a:cs typeface="Arial"/>
              <a:sym typeface="Arial"/>
            </a:endParaRPr>
          </a:p>
        </p:txBody>
      </p:sp>
      <p:pic>
        <p:nvPicPr>
          <p:cNvPr id="314" name="Google Shape;314;p17"/>
          <p:cNvPicPr preferRelativeResize="0"/>
          <p:nvPr/>
        </p:nvPicPr>
        <p:blipFill rotWithShape="1">
          <a:blip r:embed="rId3">
            <a:alphaModFix/>
          </a:blip>
          <a:srcRect/>
          <a:stretch/>
        </p:blipFill>
        <p:spPr>
          <a:xfrm>
            <a:off x="63500" y="1768475"/>
            <a:ext cx="4038600" cy="4692012"/>
          </a:xfrm>
          <a:prstGeom prst="rect">
            <a:avLst/>
          </a:prstGeom>
          <a:noFill/>
          <a:ln>
            <a:noFill/>
          </a:ln>
        </p:spPr>
      </p:pic>
      <p:sp>
        <p:nvSpPr>
          <p:cNvPr id="315" name="Google Shape;315;p17"/>
          <p:cNvSpPr txBox="1"/>
          <p:nvPr/>
        </p:nvSpPr>
        <p:spPr>
          <a:xfrm>
            <a:off x="5105400" y="1742926"/>
            <a:ext cx="4034673" cy="23083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Represent using predicate calculus: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Connect(i1, i2,b1) Connect(i2,i1,b1)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Connect(rb1, i1,b2)Connect(i1,rb1,b2)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Connect(rb1, i1,b3) Connect(i1,rb1,b3)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Connect(rb1, i2, b4) Connect(i2,rb1, b4)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Connect(rb2,i1,b5) Connect(i1,rb2, b5)</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Connect(rb2,i1,b6) Connect(i1,rb2,b6)</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Connect(rb2,i2,b7) Connect(i2,rb2, b7)</a:t>
            </a:r>
            <a:endParaRPr sz="1400" b="0" i="0" u="none" strike="noStrike" cap="none">
              <a:solidFill>
                <a:srgbClr val="000000"/>
              </a:solidFill>
              <a:latin typeface="Arial"/>
              <a:ea typeface="Arial"/>
              <a:cs typeface="Arial"/>
              <a:sym typeface="Arial"/>
            </a:endParaRPr>
          </a:p>
        </p:txBody>
      </p:sp>
      <p:sp>
        <p:nvSpPr>
          <p:cNvPr id="316" name="Google Shape;316;p17"/>
          <p:cNvSpPr txBox="1"/>
          <p:nvPr/>
        </p:nvSpPr>
        <p:spPr>
          <a:xfrm>
            <a:off x="5103436" y="4073290"/>
            <a:ext cx="3657600" cy="12464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EULER noted WALK WAS IMPOSSIBLE UNLESS A GRAPH HAS EXACTLY ZERO OR TWO NODES OF ODD DEGREES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70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17" name="Google Shape;317;p17"/>
          <p:cNvSpPr txBox="1"/>
          <p:nvPr/>
        </p:nvSpPr>
        <p:spPr>
          <a:xfrm>
            <a:off x="5143500" y="4979573"/>
            <a:ext cx="3848100"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Write a prolog rule to indicate a path is allowed in both direction? Advantage</a:t>
            </a:r>
            <a:r>
              <a:rPr lang="en-US" sz="1400" b="0" i="0" u="none" strike="noStrike" cap="none">
                <a:solidFill>
                  <a:schemeClr val="dk1"/>
                </a:solidFill>
                <a:latin typeface="Calibri"/>
                <a:ea typeface="Calibri"/>
                <a:cs typeface="Calibri"/>
                <a:sym typeface="Calibri"/>
              </a:rPr>
              <a:t>? </a:t>
            </a:r>
            <a:r>
              <a:rPr lang="en-US" sz="1800" b="0" i="0" u="none" strike="noStrike" cap="none">
                <a:solidFill>
                  <a:srgbClr val="0070C0"/>
                </a:solidFill>
                <a:latin typeface="Calibri"/>
                <a:ea typeface="Calibri"/>
                <a:cs typeface="Calibri"/>
                <a:sym typeface="Calibri"/>
              </a:rPr>
              <a:t>This can reduce the no. of predicates needed.</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5"/>
                                        </p:tgtEl>
                                        <p:attrNameLst>
                                          <p:attrName>style.visibility</p:attrName>
                                        </p:attrNameLst>
                                      </p:cBhvr>
                                      <p:to>
                                        <p:strVal val="visible"/>
                                      </p:to>
                                    </p:set>
                                    <p:anim calcmode="lin" valueType="num">
                                      <p:cBhvr additive="base">
                                        <p:cTn id="7" dur="500"/>
                                        <p:tgtEl>
                                          <p:spTgt spid="315"/>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16"/>
                                        </p:tgtEl>
                                        <p:attrNameLst>
                                          <p:attrName>style.visibility</p:attrName>
                                        </p:attrNameLst>
                                      </p:cBhvr>
                                      <p:to>
                                        <p:strVal val="visible"/>
                                      </p:to>
                                    </p:set>
                                    <p:anim calcmode="lin" valueType="num">
                                      <p:cBhvr additive="base">
                                        <p:cTn id="12" dur="500"/>
                                        <p:tgtEl>
                                          <p:spTgt spid="316"/>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7"/>
                                        </p:tgtEl>
                                        <p:attrNameLst>
                                          <p:attrName>style.visibility</p:attrName>
                                        </p:attrNameLst>
                                      </p:cBhvr>
                                      <p:to>
                                        <p:strVal val="visible"/>
                                      </p:to>
                                    </p:set>
                                    <p:animEffect transition="in" filter="fade">
                                      <p:cBhvr>
                                        <p:cTn id="17" dur="500"/>
                                        <p:tgtEl>
                                          <p:spTgt spid="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Graph theory problem</a:t>
            </a:r>
            <a:endParaRPr/>
          </a:p>
        </p:txBody>
      </p:sp>
      <p:sp>
        <p:nvSpPr>
          <p:cNvPr id="323" name="Google Shape;323;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US"/>
              <a:t>Wolf, sheep and cabbage problem </a:t>
            </a:r>
            <a:r>
              <a:rPr lang="en-US" u="sng">
                <a:solidFill>
                  <a:schemeClr val="hlink"/>
                </a:solidFill>
                <a:hlinkClick r:id="rId3"/>
              </a:rPr>
              <a:t>https://www.youtube.com/watch?v=pBT-8gqhHzo</a:t>
            </a:r>
            <a:endParaRPr/>
          </a:p>
          <a:p>
            <a:pPr marL="342900" lvl="0" indent="-342900" algn="l" rtl="0">
              <a:lnSpc>
                <a:spcPct val="100000"/>
              </a:lnSpc>
              <a:spcBef>
                <a:spcPts val="640"/>
              </a:spcBef>
              <a:spcAft>
                <a:spcPts val="0"/>
              </a:spcAft>
              <a:buClr>
                <a:schemeClr val="dk1"/>
              </a:buClr>
              <a:buSzPts val="3200"/>
              <a:buChar char="•"/>
            </a:pPr>
            <a:r>
              <a:rPr lang="en-US"/>
              <a:t>A great video explaining graph theory</a:t>
            </a:r>
            <a:endParaRPr/>
          </a:p>
        </p:txBody>
      </p:sp>
      <p:sp>
        <p:nvSpPr>
          <p:cNvPr id="324" name="Google Shape;324;p1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325" name="Google Shape;325;p1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326" name="Google Shape;326;p1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1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332" name="Google Shape;332;p1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333" name="Google Shape;333;p1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19</a:t>
            </a:fld>
            <a:endParaRPr/>
          </a:p>
        </p:txBody>
      </p:sp>
      <p:pic>
        <p:nvPicPr>
          <p:cNvPr id="334" name="Google Shape;334;p19" descr="Image result for artificial intelligence icon"/>
          <p:cNvPicPr preferRelativeResize="0"/>
          <p:nvPr/>
        </p:nvPicPr>
        <p:blipFill rotWithShape="1">
          <a:blip r:embed="rId3">
            <a:alphaModFix/>
          </a:blip>
          <a:srcRect l="14092" r="15443" b="29337"/>
          <a:stretch/>
        </p:blipFill>
        <p:spPr>
          <a:xfrm>
            <a:off x="64826" y="2259238"/>
            <a:ext cx="2071412" cy="2566251"/>
          </a:xfrm>
          <a:prstGeom prst="rect">
            <a:avLst/>
          </a:prstGeom>
          <a:noFill/>
          <a:ln>
            <a:noFill/>
          </a:ln>
        </p:spPr>
      </p:pic>
      <p:sp>
        <p:nvSpPr>
          <p:cNvPr id="335" name="Google Shape;335;p19"/>
          <p:cNvSpPr txBox="1"/>
          <p:nvPr/>
        </p:nvSpPr>
        <p:spPr>
          <a:xfrm>
            <a:off x="2136239" y="2602326"/>
            <a:ext cx="7007761" cy="936625"/>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C00000"/>
              </a:buClr>
              <a:buSzPts val="5400"/>
              <a:buFont typeface="Roboto"/>
              <a:buNone/>
            </a:pPr>
            <a:r>
              <a:rPr lang="en-US" sz="5400" b="1" i="0" u="none" strike="noStrike" cap="none">
                <a:solidFill>
                  <a:srgbClr val="C00000"/>
                </a:solidFill>
                <a:latin typeface="Roboto"/>
                <a:ea typeface="Roboto"/>
                <a:cs typeface="Roboto"/>
                <a:sym typeface="Roboto"/>
              </a:rPr>
              <a:t>Search </a:t>
            </a:r>
            <a:r>
              <a:rPr lang="en-US" sz="5400" b="1" i="0" u="none" strike="noStrike" cap="none">
                <a:solidFill>
                  <a:schemeClr val="dk1"/>
                </a:solidFill>
                <a:latin typeface="Roboto"/>
                <a:ea typeface="Roboto"/>
                <a:cs typeface="Roboto"/>
                <a:sym typeface="Roboto"/>
              </a:rPr>
              <a:t>Algorithm</a:t>
            </a:r>
            <a:endParaRPr sz="1400" b="0" i="0" u="none" strike="noStrike" cap="none">
              <a:solidFill>
                <a:srgbClr val="000000"/>
              </a:solidFill>
              <a:latin typeface="Arial"/>
              <a:ea typeface="Arial"/>
              <a:cs typeface="Arial"/>
              <a:sym typeface="Arial"/>
            </a:endParaRPr>
          </a:p>
        </p:txBody>
      </p:sp>
      <p:sp>
        <p:nvSpPr>
          <p:cNvPr id="336" name="Google Shape;336;p19"/>
          <p:cNvSpPr/>
          <p:nvPr/>
        </p:nvSpPr>
        <p:spPr>
          <a:xfrm>
            <a:off x="2136238" y="3538951"/>
            <a:ext cx="6217023" cy="1200329"/>
          </a:xfrm>
          <a:prstGeom prst="rect">
            <a:avLst/>
          </a:prstGeom>
          <a:noFill/>
          <a:ln>
            <a:noFill/>
          </a:ln>
        </p:spPr>
        <p:txBody>
          <a:bodyPr spcFirstLastPara="1" wrap="square" lIns="91425" tIns="45700" rIns="91425" bIns="45700" anchor="t" anchorCtr="0">
            <a:spAutoFit/>
          </a:bodyPr>
          <a:lstStyle/>
          <a:p>
            <a:pPr marL="742950" marR="0" lvl="1"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Search Algorithms</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Selection of a Search Strategy</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Implementation of Graph Search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2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800">
                <a:solidFill>
                  <a:srgbClr val="FFE1AD"/>
                </a:solidFill>
              </a:rPr>
              <a:t>2019</a:t>
            </a:r>
            <a:endParaRPr/>
          </a:p>
        </p:txBody>
      </p:sp>
      <p:sp>
        <p:nvSpPr>
          <p:cNvPr id="342" name="Google Shape;342;p2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800">
                <a:solidFill>
                  <a:srgbClr val="FFE1AD"/>
                </a:solidFill>
              </a:rPr>
              <a:t>MECQ1203: Artificial Intelligence</a:t>
            </a:r>
            <a:endParaRPr/>
          </a:p>
        </p:txBody>
      </p:sp>
      <p:sp>
        <p:nvSpPr>
          <p:cNvPr id="343" name="Google Shape;343;p2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rgbClr val="FFE1AD"/>
                </a:solidFill>
              </a:rPr>
              <a:t>20</a:t>
            </a:fld>
            <a:endParaRPr sz="900">
              <a:solidFill>
                <a:srgbClr val="FFE1AD"/>
              </a:solidFill>
            </a:endParaRPr>
          </a:p>
        </p:txBody>
      </p:sp>
      <p:sp>
        <p:nvSpPr>
          <p:cNvPr id="344" name="Google Shape;344;p20"/>
          <p:cNvSpPr/>
          <p:nvPr/>
        </p:nvSpPr>
        <p:spPr>
          <a:xfrm>
            <a:off x="1066800" y="304800"/>
            <a:ext cx="8073273"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chemeClr val="dk1"/>
                </a:solidFill>
                <a:latin typeface="Roboto"/>
                <a:ea typeface="Roboto"/>
                <a:cs typeface="Roboto"/>
                <a:sym typeface="Roboto"/>
              </a:rPr>
              <a:t>Search Algorithm : </a:t>
            </a:r>
            <a:r>
              <a:rPr lang="en-US" sz="4000" b="1" i="0" u="none" strike="noStrike" cap="none">
                <a:solidFill>
                  <a:srgbClr val="C00000"/>
                </a:solidFill>
                <a:latin typeface="Roboto"/>
                <a:ea typeface="Roboto"/>
                <a:cs typeface="Roboto"/>
                <a:sym typeface="Roboto"/>
              </a:rPr>
              <a:t>Taxonomy</a:t>
            </a:r>
            <a:r>
              <a:rPr lang="en-US" sz="4000" b="1" i="0" u="none" strike="noStrike" cap="none">
                <a:solidFill>
                  <a:schemeClr val="dk1"/>
                </a:solidFill>
                <a:latin typeface="Roboto"/>
                <a:ea typeface="Roboto"/>
                <a:cs typeface="Roboto"/>
                <a:sym typeface="Roboto"/>
              </a:rPr>
              <a:t> </a:t>
            </a:r>
            <a:endParaRPr sz="1400" b="0" i="0" u="none" strike="noStrike" cap="none">
              <a:solidFill>
                <a:srgbClr val="000000"/>
              </a:solidFill>
              <a:latin typeface="Arial"/>
              <a:ea typeface="Arial"/>
              <a:cs typeface="Arial"/>
              <a:sym typeface="Arial"/>
            </a:endParaRPr>
          </a:p>
        </p:txBody>
      </p:sp>
      <p:grpSp>
        <p:nvGrpSpPr>
          <p:cNvPr id="345" name="Google Shape;345;p20"/>
          <p:cNvGrpSpPr/>
          <p:nvPr/>
        </p:nvGrpSpPr>
        <p:grpSpPr>
          <a:xfrm>
            <a:off x="1137837" y="1822714"/>
            <a:ext cx="7131419" cy="4152497"/>
            <a:chOff x="1143003" y="0"/>
            <a:chExt cx="7131419" cy="4152497"/>
          </a:xfrm>
        </p:grpSpPr>
        <p:sp>
          <p:nvSpPr>
            <p:cNvPr id="346" name="Google Shape;346;p20"/>
            <p:cNvSpPr/>
            <p:nvPr/>
          </p:nvSpPr>
          <p:spPr>
            <a:xfrm>
              <a:off x="5627403" y="1301851"/>
              <a:ext cx="489802" cy="2599708"/>
            </a:xfrm>
            <a:custGeom>
              <a:avLst/>
              <a:gdLst/>
              <a:ahLst/>
              <a:cxnLst/>
              <a:rect l="l" t="t" r="r" b="b"/>
              <a:pathLst>
                <a:path w="120000" h="120000" extrusionOk="0">
                  <a:moveTo>
                    <a:pt x="0" y="0"/>
                  </a:moveTo>
                  <a:lnTo>
                    <a:pt x="0" y="120000"/>
                  </a:lnTo>
                  <a:lnTo>
                    <a:pt x="120000" y="120000"/>
                  </a:lnTo>
                </a:path>
              </a:pathLst>
            </a:custGeom>
            <a:noFill/>
            <a:ln w="76200" cap="flat" cmpd="sng">
              <a:solidFill>
                <a:srgbClr val="F79646"/>
              </a:solidFill>
              <a:prstDash val="solid"/>
              <a:round/>
              <a:headEnd type="none" w="sm" len="sm"/>
              <a:tailEnd type="none" w="sm" len="sm"/>
            </a:ln>
          </p:spPr>
          <p:txBody>
            <a:bodyPr/>
            <a:lstStyle/>
            <a:p>
              <a:endParaRPr lang="en-MY"/>
            </a:p>
          </p:txBody>
        </p:sp>
        <p:sp>
          <p:nvSpPr>
            <p:cNvPr id="347" name="Google Shape;347;p20"/>
            <p:cNvSpPr/>
            <p:nvPr/>
          </p:nvSpPr>
          <p:spPr>
            <a:xfrm>
              <a:off x="5627403" y="1301851"/>
              <a:ext cx="468596" cy="1934454"/>
            </a:xfrm>
            <a:custGeom>
              <a:avLst/>
              <a:gdLst/>
              <a:ahLst/>
              <a:cxnLst/>
              <a:rect l="l" t="t" r="r" b="b"/>
              <a:pathLst>
                <a:path w="120000" h="120000" extrusionOk="0">
                  <a:moveTo>
                    <a:pt x="0" y="0"/>
                  </a:moveTo>
                  <a:lnTo>
                    <a:pt x="0" y="120000"/>
                  </a:lnTo>
                  <a:lnTo>
                    <a:pt x="120000" y="120000"/>
                  </a:lnTo>
                </a:path>
              </a:pathLst>
            </a:custGeom>
            <a:noFill/>
            <a:ln w="76200" cap="flat" cmpd="sng">
              <a:solidFill>
                <a:srgbClr val="F79646"/>
              </a:solidFill>
              <a:prstDash val="solid"/>
              <a:round/>
              <a:headEnd type="none" w="sm" len="sm"/>
              <a:tailEnd type="none" w="sm" len="sm"/>
            </a:ln>
          </p:spPr>
          <p:txBody>
            <a:bodyPr/>
            <a:lstStyle/>
            <a:p>
              <a:endParaRPr lang="en-MY"/>
            </a:p>
          </p:txBody>
        </p:sp>
        <p:sp>
          <p:nvSpPr>
            <p:cNvPr id="348" name="Google Shape;348;p20"/>
            <p:cNvSpPr/>
            <p:nvPr/>
          </p:nvSpPr>
          <p:spPr>
            <a:xfrm>
              <a:off x="5627403" y="1301851"/>
              <a:ext cx="392391" cy="1174385"/>
            </a:xfrm>
            <a:custGeom>
              <a:avLst/>
              <a:gdLst/>
              <a:ahLst/>
              <a:cxnLst/>
              <a:rect l="l" t="t" r="r" b="b"/>
              <a:pathLst>
                <a:path w="120000" h="120000" extrusionOk="0">
                  <a:moveTo>
                    <a:pt x="0" y="0"/>
                  </a:moveTo>
                  <a:lnTo>
                    <a:pt x="0" y="120000"/>
                  </a:lnTo>
                  <a:lnTo>
                    <a:pt x="120000" y="120000"/>
                  </a:lnTo>
                </a:path>
              </a:pathLst>
            </a:custGeom>
            <a:noFill/>
            <a:ln w="76200" cap="flat" cmpd="sng">
              <a:solidFill>
                <a:srgbClr val="F79646"/>
              </a:solidFill>
              <a:prstDash val="solid"/>
              <a:round/>
              <a:headEnd type="none" w="sm" len="sm"/>
              <a:tailEnd type="none" w="sm" len="sm"/>
            </a:ln>
          </p:spPr>
          <p:txBody>
            <a:bodyPr/>
            <a:lstStyle/>
            <a:p>
              <a:endParaRPr lang="en-MY"/>
            </a:p>
          </p:txBody>
        </p:sp>
        <p:sp>
          <p:nvSpPr>
            <p:cNvPr id="349" name="Google Shape;349;p20"/>
            <p:cNvSpPr/>
            <p:nvPr/>
          </p:nvSpPr>
          <p:spPr>
            <a:xfrm>
              <a:off x="5627403" y="1301851"/>
              <a:ext cx="392391" cy="461724"/>
            </a:xfrm>
            <a:custGeom>
              <a:avLst/>
              <a:gdLst/>
              <a:ahLst/>
              <a:cxnLst/>
              <a:rect l="l" t="t" r="r" b="b"/>
              <a:pathLst>
                <a:path w="120000" h="120000" extrusionOk="0">
                  <a:moveTo>
                    <a:pt x="0" y="0"/>
                  </a:moveTo>
                  <a:lnTo>
                    <a:pt x="0" y="120000"/>
                  </a:lnTo>
                  <a:lnTo>
                    <a:pt x="120000" y="120000"/>
                  </a:lnTo>
                </a:path>
              </a:pathLst>
            </a:custGeom>
            <a:noFill/>
            <a:ln w="76200" cap="flat" cmpd="sng">
              <a:solidFill>
                <a:srgbClr val="F79646"/>
              </a:solidFill>
              <a:prstDash val="solid"/>
              <a:round/>
              <a:headEnd type="none" w="sm" len="sm"/>
              <a:tailEnd type="none" w="sm" len="sm"/>
            </a:ln>
          </p:spPr>
          <p:txBody>
            <a:bodyPr/>
            <a:lstStyle/>
            <a:p>
              <a:endParaRPr lang="en-MY"/>
            </a:p>
          </p:txBody>
        </p:sp>
        <p:sp>
          <p:nvSpPr>
            <p:cNvPr id="350" name="Google Shape;350;p20"/>
            <p:cNvSpPr/>
            <p:nvPr/>
          </p:nvSpPr>
          <p:spPr>
            <a:xfrm>
              <a:off x="4869167" y="501874"/>
              <a:ext cx="1931863" cy="401689"/>
            </a:xfrm>
            <a:custGeom>
              <a:avLst/>
              <a:gdLst/>
              <a:ahLst/>
              <a:cxnLst/>
              <a:rect l="l" t="t" r="r" b="b"/>
              <a:pathLst>
                <a:path w="120000" h="120000" extrusionOk="0">
                  <a:moveTo>
                    <a:pt x="0" y="0"/>
                  </a:moveTo>
                  <a:lnTo>
                    <a:pt x="0" y="88515"/>
                  </a:lnTo>
                  <a:lnTo>
                    <a:pt x="120000" y="88515"/>
                  </a:lnTo>
                  <a:lnTo>
                    <a:pt x="120000" y="120000"/>
                  </a:lnTo>
                </a:path>
              </a:pathLst>
            </a:custGeom>
            <a:noFill/>
            <a:ln w="38100" cap="flat" cmpd="sng">
              <a:solidFill>
                <a:srgbClr val="C00000"/>
              </a:solidFill>
              <a:prstDash val="solid"/>
              <a:round/>
              <a:headEnd type="none" w="sm" len="sm"/>
              <a:tailEnd type="none" w="sm" len="sm"/>
            </a:ln>
          </p:spPr>
          <p:txBody>
            <a:bodyPr/>
            <a:lstStyle/>
            <a:p>
              <a:endParaRPr lang="en-MY"/>
            </a:p>
          </p:txBody>
        </p:sp>
        <p:sp>
          <p:nvSpPr>
            <p:cNvPr id="351" name="Google Shape;351;p20"/>
            <p:cNvSpPr/>
            <p:nvPr/>
          </p:nvSpPr>
          <p:spPr>
            <a:xfrm>
              <a:off x="2931542" y="1301851"/>
              <a:ext cx="1210229" cy="1357103"/>
            </a:xfrm>
            <a:custGeom>
              <a:avLst/>
              <a:gdLst/>
              <a:ahLst/>
              <a:cxnLst/>
              <a:rect l="l" t="t" r="r" b="b"/>
              <a:pathLst>
                <a:path w="120000" h="120000" extrusionOk="0">
                  <a:moveTo>
                    <a:pt x="0" y="0"/>
                  </a:moveTo>
                  <a:lnTo>
                    <a:pt x="0" y="110681"/>
                  </a:lnTo>
                  <a:lnTo>
                    <a:pt x="120000" y="110681"/>
                  </a:lnTo>
                  <a:lnTo>
                    <a:pt x="120000" y="120000"/>
                  </a:lnTo>
                </a:path>
              </a:pathLst>
            </a:custGeom>
            <a:noFill/>
            <a:ln w="76200" cap="flat" cmpd="sng">
              <a:solidFill>
                <a:srgbClr val="0070C0"/>
              </a:solidFill>
              <a:prstDash val="solid"/>
              <a:round/>
              <a:headEnd type="none" w="sm" len="sm"/>
              <a:tailEnd type="none" w="sm" len="sm"/>
            </a:ln>
          </p:spPr>
          <p:txBody>
            <a:bodyPr/>
            <a:lstStyle/>
            <a:p>
              <a:endParaRPr lang="en-MY"/>
            </a:p>
          </p:txBody>
        </p:sp>
        <p:sp>
          <p:nvSpPr>
            <p:cNvPr id="352" name="Google Shape;352;p20"/>
            <p:cNvSpPr/>
            <p:nvPr/>
          </p:nvSpPr>
          <p:spPr>
            <a:xfrm>
              <a:off x="2931542" y="1301851"/>
              <a:ext cx="1227935" cy="516112"/>
            </a:xfrm>
            <a:custGeom>
              <a:avLst/>
              <a:gdLst/>
              <a:ahLst/>
              <a:cxnLst/>
              <a:rect l="l" t="t" r="r" b="b"/>
              <a:pathLst>
                <a:path w="120000" h="120000" extrusionOk="0">
                  <a:moveTo>
                    <a:pt x="0" y="0"/>
                  </a:moveTo>
                  <a:lnTo>
                    <a:pt x="0" y="95495"/>
                  </a:lnTo>
                  <a:lnTo>
                    <a:pt x="120000" y="95495"/>
                  </a:lnTo>
                  <a:lnTo>
                    <a:pt x="120000" y="120000"/>
                  </a:lnTo>
                </a:path>
              </a:pathLst>
            </a:custGeom>
            <a:noFill/>
            <a:ln w="76200" cap="flat" cmpd="sng">
              <a:solidFill>
                <a:srgbClr val="0070C0"/>
              </a:solidFill>
              <a:prstDash val="solid"/>
              <a:round/>
              <a:headEnd type="none" w="sm" len="sm"/>
              <a:tailEnd type="none" w="sm" len="sm"/>
            </a:ln>
          </p:spPr>
          <p:txBody>
            <a:bodyPr/>
            <a:lstStyle/>
            <a:p>
              <a:endParaRPr lang="en-MY"/>
            </a:p>
          </p:txBody>
        </p:sp>
        <p:sp>
          <p:nvSpPr>
            <p:cNvPr id="353" name="Google Shape;353;p20"/>
            <p:cNvSpPr/>
            <p:nvPr/>
          </p:nvSpPr>
          <p:spPr>
            <a:xfrm>
              <a:off x="1243378" y="3666923"/>
              <a:ext cx="183856" cy="178983"/>
            </a:xfrm>
            <a:custGeom>
              <a:avLst/>
              <a:gdLst/>
              <a:ahLst/>
              <a:cxnLst/>
              <a:rect l="l" t="t" r="r" b="b"/>
              <a:pathLst>
                <a:path w="120000" h="120000" extrusionOk="0">
                  <a:moveTo>
                    <a:pt x="0" y="0"/>
                  </a:moveTo>
                  <a:lnTo>
                    <a:pt x="0" y="120000"/>
                  </a:lnTo>
                  <a:lnTo>
                    <a:pt x="120000" y="120000"/>
                  </a:lnTo>
                </a:path>
              </a:pathLst>
            </a:custGeom>
            <a:noFill/>
            <a:ln w="25400" cap="flat" cmpd="sng">
              <a:solidFill>
                <a:srgbClr val="0070C0"/>
              </a:solidFill>
              <a:prstDash val="solid"/>
              <a:round/>
              <a:headEnd type="none" w="sm" len="sm"/>
              <a:tailEnd type="none" w="sm" len="sm"/>
            </a:ln>
          </p:spPr>
          <p:txBody>
            <a:bodyPr/>
            <a:lstStyle/>
            <a:p>
              <a:endParaRPr lang="en-MY"/>
            </a:p>
          </p:txBody>
        </p:sp>
        <p:sp>
          <p:nvSpPr>
            <p:cNvPr id="354" name="Google Shape;354;p20"/>
            <p:cNvSpPr/>
            <p:nvPr/>
          </p:nvSpPr>
          <p:spPr>
            <a:xfrm>
              <a:off x="1644877" y="1301851"/>
              <a:ext cx="1286665" cy="1863198"/>
            </a:xfrm>
            <a:custGeom>
              <a:avLst/>
              <a:gdLst/>
              <a:ahLst/>
              <a:cxnLst/>
              <a:rect l="l" t="t" r="r" b="b"/>
              <a:pathLst>
                <a:path w="120000" h="120000" extrusionOk="0">
                  <a:moveTo>
                    <a:pt x="120000" y="0"/>
                  </a:moveTo>
                  <a:lnTo>
                    <a:pt x="120000" y="113212"/>
                  </a:lnTo>
                  <a:lnTo>
                    <a:pt x="0" y="113212"/>
                  </a:lnTo>
                  <a:lnTo>
                    <a:pt x="0" y="120000"/>
                  </a:lnTo>
                </a:path>
              </a:pathLst>
            </a:custGeom>
            <a:noFill/>
            <a:ln w="76200" cap="flat" cmpd="sng">
              <a:solidFill>
                <a:srgbClr val="0070C0"/>
              </a:solidFill>
              <a:prstDash val="solid"/>
              <a:round/>
              <a:headEnd type="none" w="sm" len="sm"/>
              <a:tailEnd type="none" w="sm" len="sm"/>
            </a:ln>
          </p:spPr>
          <p:txBody>
            <a:bodyPr/>
            <a:lstStyle/>
            <a:p>
              <a:endParaRPr lang="en-MY"/>
            </a:p>
          </p:txBody>
        </p:sp>
        <p:sp>
          <p:nvSpPr>
            <p:cNvPr id="355" name="Google Shape;355;p20"/>
            <p:cNvSpPr/>
            <p:nvPr/>
          </p:nvSpPr>
          <p:spPr>
            <a:xfrm>
              <a:off x="1691853" y="1301851"/>
              <a:ext cx="1239689" cy="1143033"/>
            </a:xfrm>
            <a:custGeom>
              <a:avLst/>
              <a:gdLst/>
              <a:ahLst/>
              <a:cxnLst/>
              <a:rect l="l" t="t" r="r" b="b"/>
              <a:pathLst>
                <a:path w="120000" h="120000" extrusionOk="0">
                  <a:moveTo>
                    <a:pt x="120000" y="0"/>
                  </a:moveTo>
                  <a:lnTo>
                    <a:pt x="120000" y="108935"/>
                  </a:lnTo>
                  <a:lnTo>
                    <a:pt x="0" y="108935"/>
                  </a:lnTo>
                  <a:lnTo>
                    <a:pt x="0" y="120000"/>
                  </a:lnTo>
                </a:path>
              </a:pathLst>
            </a:custGeom>
            <a:noFill/>
            <a:ln w="76200" cap="flat" cmpd="sng">
              <a:solidFill>
                <a:srgbClr val="0070C0"/>
              </a:solidFill>
              <a:prstDash val="solid"/>
              <a:round/>
              <a:headEnd type="none" w="sm" len="sm"/>
              <a:tailEnd type="none" w="sm" len="sm"/>
            </a:ln>
          </p:spPr>
          <p:txBody>
            <a:bodyPr/>
            <a:lstStyle/>
            <a:p>
              <a:endParaRPr lang="en-MY"/>
            </a:p>
          </p:txBody>
        </p:sp>
        <p:sp>
          <p:nvSpPr>
            <p:cNvPr id="356" name="Google Shape;356;p20"/>
            <p:cNvSpPr/>
            <p:nvPr/>
          </p:nvSpPr>
          <p:spPr>
            <a:xfrm>
              <a:off x="1695426" y="1301851"/>
              <a:ext cx="1236116" cy="279619"/>
            </a:xfrm>
            <a:custGeom>
              <a:avLst/>
              <a:gdLst/>
              <a:ahLst/>
              <a:cxnLst/>
              <a:rect l="l" t="t" r="r" b="b"/>
              <a:pathLst>
                <a:path w="120000" h="120000" extrusionOk="0">
                  <a:moveTo>
                    <a:pt x="120000" y="0"/>
                  </a:moveTo>
                  <a:lnTo>
                    <a:pt x="120000" y="74770"/>
                  </a:lnTo>
                  <a:lnTo>
                    <a:pt x="0" y="74770"/>
                  </a:lnTo>
                  <a:lnTo>
                    <a:pt x="0" y="120000"/>
                  </a:lnTo>
                </a:path>
              </a:pathLst>
            </a:custGeom>
            <a:noFill/>
            <a:ln w="76200" cap="flat" cmpd="sng">
              <a:solidFill>
                <a:srgbClr val="0070C0"/>
              </a:solidFill>
              <a:prstDash val="solid"/>
              <a:round/>
              <a:headEnd type="none" w="sm" len="sm"/>
              <a:tailEnd type="none" w="sm" len="sm"/>
            </a:ln>
          </p:spPr>
          <p:txBody>
            <a:bodyPr/>
            <a:lstStyle/>
            <a:p>
              <a:endParaRPr lang="en-MY"/>
            </a:p>
          </p:txBody>
        </p:sp>
        <p:sp>
          <p:nvSpPr>
            <p:cNvPr id="357" name="Google Shape;357;p20"/>
            <p:cNvSpPr/>
            <p:nvPr/>
          </p:nvSpPr>
          <p:spPr>
            <a:xfrm>
              <a:off x="2931542" y="501874"/>
              <a:ext cx="1937624" cy="401689"/>
            </a:xfrm>
            <a:custGeom>
              <a:avLst/>
              <a:gdLst/>
              <a:ahLst/>
              <a:cxnLst/>
              <a:rect l="l" t="t" r="r" b="b"/>
              <a:pathLst>
                <a:path w="120000" h="120000" extrusionOk="0">
                  <a:moveTo>
                    <a:pt x="120000" y="0"/>
                  </a:moveTo>
                  <a:lnTo>
                    <a:pt x="120000" y="88515"/>
                  </a:lnTo>
                  <a:lnTo>
                    <a:pt x="0" y="88515"/>
                  </a:lnTo>
                  <a:lnTo>
                    <a:pt x="0" y="120000"/>
                  </a:lnTo>
                </a:path>
              </a:pathLst>
            </a:custGeom>
            <a:noFill/>
            <a:ln w="38100" cap="flat" cmpd="sng">
              <a:solidFill>
                <a:srgbClr val="C00000"/>
              </a:solidFill>
              <a:prstDash val="solid"/>
              <a:round/>
              <a:headEnd type="none" w="sm" len="sm"/>
              <a:tailEnd type="none" w="sm" len="sm"/>
            </a:ln>
          </p:spPr>
          <p:txBody>
            <a:bodyPr/>
            <a:lstStyle/>
            <a:p>
              <a:endParaRPr lang="en-MY"/>
            </a:p>
          </p:txBody>
        </p:sp>
        <p:sp>
          <p:nvSpPr>
            <p:cNvPr id="358" name="Google Shape;358;p20"/>
            <p:cNvSpPr/>
            <p:nvPr/>
          </p:nvSpPr>
          <p:spPr>
            <a:xfrm>
              <a:off x="3878834" y="0"/>
              <a:ext cx="1980666" cy="501874"/>
            </a:xfrm>
            <a:prstGeom prst="rect">
              <a:avLst/>
            </a:prstGeom>
            <a:solidFill>
              <a:srgbClr val="C000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p20"/>
            <p:cNvSpPr txBox="1"/>
            <p:nvPr/>
          </p:nvSpPr>
          <p:spPr>
            <a:xfrm>
              <a:off x="3878834" y="0"/>
              <a:ext cx="1980666" cy="501874"/>
            </a:xfrm>
            <a:prstGeom prst="rect">
              <a:avLst/>
            </a:prstGeom>
            <a:noFill/>
            <a:ln>
              <a:noFill/>
            </a:ln>
          </p:spPr>
          <p:txBody>
            <a:bodyPr spcFirstLastPara="1" wrap="square" lIns="12700" tIns="12700" rIns="12700" bIns="127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n-US" sz="2000" b="0" i="0" u="none" strike="noStrike" cap="none">
                  <a:solidFill>
                    <a:schemeClr val="lt1"/>
                  </a:solidFill>
                  <a:latin typeface="Calibri"/>
                  <a:ea typeface="Calibri"/>
                  <a:cs typeface="Calibri"/>
                  <a:sym typeface="Calibri"/>
                </a:rPr>
                <a:t>Search Algorithm</a:t>
              </a:r>
              <a:endParaRPr sz="1400" b="0" i="0" u="none" strike="noStrike" cap="none">
                <a:solidFill>
                  <a:srgbClr val="000000"/>
                </a:solidFill>
                <a:latin typeface="Arial"/>
                <a:ea typeface="Arial"/>
                <a:cs typeface="Arial"/>
                <a:sym typeface="Arial"/>
              </a:endParaRPr>
            </a:p>
          </p:txBody>
        </p:sp>
        <p:sp>
          <p:nvSpPr>
            <p:cNvPr id="360" name="Google Shape;360;p20"/>
            <p:cNvSpPr/>
            <p:nvPr/>
          </p:nvSpPr>
          <p:spPr>
            <a:xfrm>
              <a:off x="1464508" y="903564"/>
              <a:ext cx="2934067" cy="398287"/>
            </a:xfrm>
            <a:prstGeom prst="rect">
              <a:avLst/>
            </a:prstGeom>
            <a:solidFill>
              <a:srgbClr val="0070C0"/>
            </a:solidFill>
            <a:ln w="381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p20"/>
            <p:cNvSpPr txBox="1"/>
            <p:nvPr/>
          </p:nvSpPr>
          <p:spPr>
            <a:xfrm>
              <a:off x="1464508" y="903564"/>
              <a:ext cx="2934067" cy="398287"/>
            </a:xfrm>
            <a:prstGeom prst="rect">
              <a:avLst/>
            </a:prstGeom>
            <a:noFill/>
            <a:ln>
              <a:noFill/>
            </a:ln>
          </p:spPr>
          <p:txBody>
            <a:bodyPr spcFirstLastPara="1" wrap="square" lIns="10150" tIns="10150" rIns="10150" bIns="10150" anchor="ctr" anchorCtr="0">
              <a:noAutofit/>
            </a:bodyPr>
            <a:lstStyle/>
            <a:p>
              <a:pPr marL="0" marR="0" lvl="0" indent="0" algn="ctr" rtl="0">
                <a:lnSpc>
                  <a:spcPct val="90000"/>
                </a:lnSpc>
                <a:spcBef>
                  <a:spcPts val="0"/>
                </a:spcBef>
                <a:spcAft>
                  <a:spcPts val="0"/>
                </a:spcAft>
                <a:buClr>
                  <a:srgbClr val="000000"/>
                </a:buClr>
                <a:buSzPts val="1600"/>
                <a:buFont typeface="Arial"/>
                <a:buNone/>
              </a:pPr>
              <a:r>
                <a:rPr lang="en-US" sz="1600" b="0" i="0" u="none" strike="noStrike" cap="none">
                  <a:solidFill>
                    <a:schemeClr val="lt1"/>
                  </a:solidFill>
                  <a:latin typeface="Calibri"/>
                  <a:ea typeface="Calibri"/>
                  <a:cs typeface="Calibri"/>
                  <a:sym typeface="Calibri"/>
                </a:rPr>
                <a:t>Uniformed Search/ Blind Search</a:t>
              </a:r>
              <a:endParaRPr sz="1400" b="0" i="0" u="none" strike="noStrike" cap="none">
                <a:solidFill>
                  <a:srgbClr val="000000"/>
                </a:solidFill>
                <a:latin typeface="Arial"/>
                <a:ea typeface="Arial"/>
                <a:cs typeface="Arial"/>
                <a:sym typeface="Arial"/>
              </a:endParaRPr>
            </a:p>
          </p:txBody>
        </p:sp>
        <p:sp>
          <p:nvSpPr>
            <p:cNvPr id="362" name="Google Shape;362;p20"/>
            <p:cNvSpPr/>
            <p:nvPr/>
          </p:nvSpPr>
          <p:spPr>
            <a:xfrm>
              <a:off x="1193552" y="1581470"/>
              <a:ext cx="1003748" cy="501874"/>
            </a:xfrm>
            <a:prstGeom prst="rect">
              <a:avLst/>
            </a:prstGeom>
            <a:no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 name="Google Shape;363;p20"/>
            <p:cNvSpPr txBox="1"/>
            <p:nvPr/>
          </p:nvSpPr>
          <p:spPr>
            <a:xfrm>
              <a:off x="1193552" y="1581470"/>
              <a:ext cx="1003748" cy="501874"/>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Breadth-first Search</a:t>
              </a:r>
              <a:endParaRPr sz="1400" b="0" i="0" u="none" strike="noStrike" cap="none">
                <a:solidFill>
                  <a:srgbClr val="000000"/>
                </a:solidFill>
                <a:latin typeface="Arial"/>
                <a:ea typeface="Arial"/>
                <a:cs typeface="Arial"/>
                <a:sym typeface="Arial"/>
              </a:endParaRPr>
            </a:p>
          </p:txBody>
        </p:sp>
        <p:sp>
          <p:nvSpPr>
            <p:cNvPr id="364" name="Google Shape;364;p20"/>
            <p:cNvSpPr/>
            <p:nvPr/>
          </p:nvSpPr>
          <p:spPr>
            <a:xfrm>
              <a:off x="1189978" y="2444885"/>
              <a:ext cx="1003748" cy="501874"/>
            </a:xfrm>
            <a:prstGeom prst="rect">
              <a:avLst/>
            </a:prstGeom>
            <a:no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 name="Google Shape;365;p20"/>
            <p:cNvSpPr txBox="1"/>
            <p:nvPr/>
          </p:nvSpPr>
          <p:spPr>
            <a:xfrm>
              <a:off x="1189978" y="2444885"/>
              <a:ext cx="1003748" cy="501874"/>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Uniform-cost Search</a:t>
              </a:r>
              <a:endParaRPr sz="1400" b="0" i="0" u="none" strike="noStrike" cap="none">
                <a:solidFill>
                  <a:srgbClr val="000000"/>
                </a:solidFill>
                <a:latin typeface="Arial"/>
                <a:ea typeface="Arial"/>
                <a:cs typeface="Arial"/>
                <a:sym typeface="Arial"/>
              </a:endParaRPr>
            </a:p>
          </p:txBody>
        </p:sp>
        <p:sp>
          <p:nvSpPr>
            <p:cNvPr id="366" name="Google Shape;366;p20"/>
            <p:cNvSpPr/>
            <p:nvPr/>
          </p:nvSpPr>
          <p:spPr>
            <a:xfrm>
              <a:off x="1143003" y="3165049"/>
              <a:ext cx="1003748" cy="501874"/>
            </a:xfrm>
            <a:prstGeom prst="rect">
              <a:avLst/>
            </a:prstGeom>
            <a:no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 name="Google Shape;367;p20"/>
            <p:cNvSpPr txBox="1"/>
            <p:nvPr/>
          </p:nvSpPr>
          <p:spPr>
            <a:xfrm>
              <a:off x="1143003" y="3165049"/>
              <a:ext cx="1003748" cy="501874"/>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Depth-first Search</a:t>
              </a:r>
              <a:endParaRPr sz="1400" b="0" i="0" u="none" strike="noStrike" cap="none">
                <a:solidFill>
                  <a:srgbClr val="000000"/>
                </a:solidFill>
                <a:latin typeface="Arial"/>
                <a:ea typeface="Arial"/>
                <a:cs typeface="Arial"/>
                <a:sym typeface="Arial"/>
              </a:endParaRPr>
            </a:p>
          </p:txBody>
        </p:sp>
        <p:sp>
          <p:nvSpPr>
            <p:cNvPr id="368" name="Google Shape;368;p20"/>
            <p:cNvSpPr/>
            <p:nvPr/>
          </p:nvSpPr>
          <p:spPr>
            <a:xfrm>
              <a:off x="1427234" y="3594970"/>
              <a:ext cx="1333239" cy="501874"/>
            </a:xfrm>
            <a:prstGeom prst="rect">
              <a:avLst/>
            </a:prstGeom>
            <a:no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 name="Google Shape;369;p20"/>
            <p:cNvSpPr txBox="1"/>
            <p:nvPr/>
          </p:nvSpPr>
          <p:spPr>
            <a:xfrm>
              <a:off x="1427234" y="3594970"/>
              <a:ext cx="1333239" cy="501874"/>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US" sz="1200" b="0" i="1" u="none" strike="noStrike" cap="none">
                  <a:solidFill>
                    <a:srgbClr val="0070C0"/>
                  </a:solidFill>
                  <a:latin typeface="Calibri"/>
                  <a:ea typeface="Calibri"/>
                  <a:cs typeface="Calibri"/>
                  <a:sym typeface="Calibri"/>
                </a:rPr>
                <a:t>Depth-limited Search</a:t>
              </a:r>
              <a:endParaRPr sz="1400" b="0" i="0" u="none" strike="noStrike" cap="none">
                <a:solidFill>
                  <a:srgbClr val="000000"/>
                </a:solidFill>
                <a:latin typeface="Arial"/>
                <a:ea typeface="Arial"/>
                <a:cs typeface="Arial"/>
                <a:sym typeface="Arial"/>
              </a:endParaRPr>
            </a:p>
          </p:txBody>
        </p:sp>
        <p:sp>
          <p:nvSpPr>
            <p:cNvPr id="370" name="Google Shape;370;p20"/>
            <p:cNvSpPr/>
            <p:nvPr/>
          </p:nvSpPr>
          <p:spPr>
            <a:xfrm>
              <a:off x="3657604" y="1817963"/>
              <a:ext cx="1003748" cy="501874"/>
            </a:xfrm>
            <a:prstGeom prst="rect">
              <a:avLst/>
            </a:prstGeom>
            <a:no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 name="Google Shape;371;p20"/>
            <p:cNvSpPr txBox="1"/>
            <p:nvPr/>
          </p:nvSpPr>
          <p:spPr>
            <a:xfrm>
              <a:off x="3657604" y="1817963"/>
              <a:ext cx="1003748" cy="501874"/>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Iterative deepening search</a:t>
              </a:r>
              <a:endParaRPr sz="1400" b="0" i="0" u="none" strike="noStrike" cap="none">
                <a:solidFill>
                  <a:srgbClr val="000000"/>
                </a:solidFill>
                <a:latin typeface="Arial"/>
                <a:ea typeface="Arial"/>
                <a:cs typeface="Arial"/>
                <a:sym typeface="Arial"/>
              </a:endParaRPr>
            </a:p>
          </p:txBody>
        </p:sp>
        <p:sp>
          <p:nvSpPr>
            <p:cNvPr id="372" name="Google Shape;372;p20"/>
            <p:cNvSpPr/>
            <p:nvPr/>
          </p:nvSpPr>
          <p:spPr>
            <a:xfrm>
              <a:off x="3639898" y="2658954"/>
              <a:ext cx="1003748" cy="501874"/>
            </a:xfrm>
            <a:prstGeom prst="rect">
              <a:avLst/>
            </a:prstGeom>
            <a:no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 name="Google Shape;373;p20"/>
            <p:cNvSpPr txBox="1"/>
            <p:nvPr/>
          </p:nvSpPr>
          <p:spPr>
            <a:xfrm>
              <a:off x="3639898" y="2658954"/>
              <a:ext cx="1003748" cy="501874"/>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Bidirectional Search</a:t>
              </a:r>
              <a:endParaRPr sz="1400" b="0" i="0" u="none" strike="noStrike" cap="none">
                <a:solidFill>
                  <a:srgbClr val="000000"/>
                </a:solidFill>
                <a:latin typeface="Arial"/>
                <a:ea typeface="Arial"/>
                <a:cs typeface="Arial"/>
                <a:sym typeface="Arial"/>
              </a:endParaRPr>
            </a:p>
          </p:txBody>
        </p:sp>
        <p:sp>
          <p:nvSpPr>
            <p:cNvPr id="374" name="Google Shape;374;p20"/>
            <p:cNvSpPr/>
            <p:nvPr/>
          </p:nvSpPr>
          <p:spPr>
            <a:xfrm>
              <a:off x="5333997" y="903564"/>
              <a:ext cx="2934067" cy="398287"/>
            </a:xfrm>
            <a:prstGeom prst="rect">
              <a:avLst/>
            </a:prstGeom>
            <a:solidFill>
              <a:srgbClr val="F79646"/>
            </a:solidFill>
            <a:ln w="38100" cap="flat" cmpd="sng">
              <a:solidFill>
                <a:srgbClr val="F7964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 name="Google Shape;375;p20"/>
            <p:cNvSpPr txBox="1"/>
            <p:nvPr/>
          </p:nvSpPr>
          <p:spPr>
            <a:xfrm>
              <a:off x="5333997" y="903564"/>
              <a:ext cx="2934067" cy="398287"/>
            </a:xfrm>
            <a:prstGeom prst="rect">
              <a:avLst/>
            </a:prstGeom>
            <a:noFill/>
            <a:ln>
              <a:noFill/>
            </a:ln>
          </p:spPr>
          <p:txBody>
            <a:bodyPr spcFirstLastPara="1" wrap="square" lIns="10150" tIns="0" rIns="10150" bIns="0" anchor="ctr" anchorCtr="0">
              <a:noAutofit/>
            </a:bodyPr>
            <a:lstStyle/>
            <a:p>
              <a:pPr marL="0" marR="0" lvl="0" indent="0" algn="ctr" rtl="0">
                <a:lnSpc>
                  <a:spcPct val="90000"/>
                </a:lnSpc>
                <a:spcBef>
                  <a:spcPts val="0"/>
                </a:spcBef>
                <a:spcAft>
                  <a:spcPts val="0"/>
                </a:spcAft>
                <a:buClr>
                  <a:srgbClr val="000000"/>
                </a:buClr>
                <a:buSzPts val="1600"/>
                <a:buFont typeface="Arial"/>
                <a:buNone/>
              </a:pPr>
              <a:r>
                <a:rPr lang="en-US" sz="1600" b="0" i="0" u="none" strike="noStrike" cap="none">
                  <a:solidFill>
                    <a:schemeClr val="lt1"/>
                  </a:solidFill>
                  <a:latin typeface="Calibri"/>
                  <a:ea typeface="Calibri"/>
                  <a:cs typeface="Calibri"/>
                  <a:sym typeface="Calibri"/>
                </a:rPr>
                <a:t>Informed Search/ Heuristic Search</a:t>
              </a:r>
              <a:endParaRPr sz="1400" b="0" i="0" u="none" strike="noStrike" cap="none">
                <a:solidFill>
                  <a:srgbClr val="000000"/>
                </a:solidFill>
                <a:latin typeface="Arial"/>
                <a:ea typeface="Arial"/>
                <a:cs typeface="Arial"/>
                <a:sym typeface="Arial"/>
              </a:endParaRPr>
            </a:p>
          </p:txBody>
        </p:sp>
        <p:sp>
          <p:nvSpPr>
            <p:cNvPr id="376" name="Google Shape;376;p20"/>
            <p:cNvSpPr/>
            <p:nvPr/>
          </p:nvSpPr>
          <p:spPr>
            <a:xfrm>
              <a:off x="6019795" y="1512638"/>
              <a:ext cx="1789663" cy="501874"/>
            </a:xfrm>
            <a:prstGeom prst="rect">
              <a:avLst/>
            </a:prstGeom>
            <a:no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p20"/>
            <p:cNvSpPr txBox="1"/>
            <p:nvPr/>
          </p:nvSpPr>
          <p:spPr>
            <a:xfrm>
              <a:off x="6019795" y="1512638"/>
              <a:ext cx="1789663" cy="501874"/>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Best-first Search</a:t>
              </a:r>
              <a:endParaRPr sz="1400" b="0" i="0" u="none" strike="noStrike" cap="none">
                <a:solidFill>
                  <a:srgbClr val="000000"/>
                </a:solidFill>
                <a:latin typeface="Arial"/>
                <a:ea typeface="Arial"/>
                <a:cs typeface="Arial"/>
                <a:sym typeface="Arial"/>
              </a:endParaRPr>
            </a:p>
          </p:txBody>
        </p:sp>
        <p:sp>
          <p:nvSpPr>
            <p:cNvPr id="378" name="Google Shape;378;p20"/>
            <p:cNvSpPr/>
            <p:nvPr/>
          </p:nvSpPr>
          <p:spPr>
            <a:xfrm>
              <a:off x="6019795" y="2225300"/>
              <a:ext cx="1789663" cy="501874"/>
            </a:xfrm>
            <a:prstGeom prst="rect">
              <a:avLst/>
            </a:prstGeom>
            <a:no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p20"/>
            <p:cNvSpPr txBox="1"/>
            <p:nvPr/>
          </p:nvSpPr>
          <p:spPr>
            <a:xfrm>
              <a:off x="6019795" y="2225300"/>
              <a:ext cx="1789663" cy="501874"/>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Greedy Best-first Search</a:t>
              </a:r>
              <a:endParaRPr sz="1400" b="0" i="0" u="none" strike="noStrike" cap="none">
                <a:solidFill>
                  <a:srgbClr val="000000"/>
                </a:solidFill>
                <a:latin typeface="Arial"/>
                <a:ea typeface="Arial"/>
                <a:cs typeface="Arial"/>
                <a:sym typeface="Arial"/>
              </a:endParaRPr>
            </a:p>
          </p:txBody>
        </p:sp>
        <p:sp>
          <p:nvSpPr>
            <p:cNvPr id="380" name="Google Shape;380;p20"/>
            <p:cNvSpPr/>
            <p:nvPr/>
          </p:nvSpPr>
          <p:spPr>
            <a:xfrm>
              <a:off x="6096000" y="2985368"/>
              <a:ext cx="1789663" cy="501874"/>
            </a:xfrm>
            <a:prstGeom prst="rect">
              <a:avLst/>
            </a:prstGeom>
            <a:no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 name="Google Shape;381;p20"/>
            <p:cNvSpPr txBox="1"/>
            <p:nvPr/>
          </p:nvSpPr>
          <p:spPr>
            <a:xfrm>
              <a:off x="6096000" y="2985368"/>
              <a:ext cx="1789663" cy="501874"/>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A∗ Search</a:t>
              </a:r>
              <a:endParaRPr sz="1400" b="0" i="0" u="none" strike="noStrike" cap="none">
                <a:solidFill>
                  <a:srgbClr val="000000"/>
                </a:solidFill>
                <a:latin typeface="Arial"/>
                <a:ea typeface="Arial"/>
                <a:cs typeface="Arial"/>
                <a:sym typeface="Arial"/>
              </a:endParaRPr>
            </a:p>
          </p:txBody>
        </p:sp>
        <p:sp>
          <p:nvSpPr>
            <p:cNvPr id="382" name="Google Shape;382;p20"/>
            <p:cNvSpPr/>
            <p:nvPr/>
          </p:nvSpPr>
          <p:spPr>
            <a:xfrm>
              <a:off x="6117206" y="3650623"/>
              <a:ext cx="2157216" cy="501874"/>
            </a:xfrm>
            <a:prstGeom prst="rect">
              <a:avLst/>
            </a:prstGeom>
            <a:no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p20"/>
            <p:cNvSpPr txBox="1"/>
            <p:nvPr/>
          </p:nvSpPr>
          <p:spPr>
            <a:xfrm>
              <a:off x="6117206" y="3650623"/>
              <a:ext cx="2157216" cy="501874"/>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Recursive Best-first Search</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2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800">
                <a:solidFill>
                  <a:srgbClr val="FFE1AD"/>
                </a:solidFill>
              </a:rPr>
              <a:t>2019</a:t>
            </a:r>
            <a:endParaRPr/>
          </a:p>
        </p:txBody>
      </p:sp>
      <p:sp>
        <p:nvSpPr>
          <p:cNvPr id="389" name="Google Shape;389;p2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800">
                <a:solidFill>
                  <a:srgbClr val="FFE1AD"/>
                </a:solidFill>
              </a:rPr>
              <a:t>MECQ1203: Artificial Intelligence</a:t>
            </a:r>
            <a:endParaRPr/>
          </a:p>
        </p:txBody>
      </p:sp>
      <p:sp>
        <p:nvSpPr>
          <p:cNvPr id="390" name="Google Shape;390;p2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rgbClr val="FFE1AD"/>
                </a:solidFill>
              </a:rPr>
              <a:t>21</a:t>
            </a:fld>
            <a:endParaRPr sz="900">
              <a:solidFill>
                <a:srgbClr val="FFE1AD"/>
              </a:solidFill>
            </a:endParaRPr>
          </a:p>
        </p:txBody>
      </p:sp>
      <p:sp>
        <p:nvSpPr>
          <p:cNvPr id="391" name="Google Shape;391;p21"/>
          <p:cNvSpPr/>
          <p:nvPr/>
        </p:nvSpPr>
        <p:spPr>
          <a:xfrm>
            <a:off x="105612" y="2201882"/>
            <a:ext cx="4313987" cy="397031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Uninformed search strategies use only the </a:t>
            </a:r>
            <a:r>
              <a:rPr lang="en-US" sz="1800" b="0" i="0" u="none" strike="noStrike" cap="none">
                <a:solidFill>
                  <a:srgbClr val="0070C0"/>
                </a:solidFill>
                <a:latin typeface="Calibri"/>
                <a:ea typeface="Calibri"/>
                <a:cs typeface="Calibri"/>
                <a:sym typeface="Calibri"/>
              </a:rPr>
              <a:t>information available in the problem definition</a:t>
            </a:r>
            <a:r>
              <a:rPr lang="en-US" sz="18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No additional information on the goal node other than the one provided in the problem definition</a:t>
            </a:r>
            <a:endParaRPr sz="14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The plans to reach the goal state from the start state differ only by the order and/or length of actions. </a:t>
            </a:r>
            <a:endParaRPr sz="14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Uninformed search is also called Blind search.</a:t>
            </a:r>
            <a:endParaRPr sz="1400" b="0" i="0" u="none" strike="noStrike" cap="none">
              <a:solidFill>
                <a:srgbClr val="000000"/>
              </a:solidFill>
              <a:latin typeface="Arial"/>
              <a:ea typeface="Arial"/>
              <a:cs typeface="Arial"/>
              <a:sym typeface="Arial"/>
            </a:endParaRPr>
          </a:p>
        </p:txBody>
      </p:sp>
      <p:sp>
        <p:nvSpPr>
          <p:cNvPr id="392" name="Google Shape;392;p21"/>
          <p:cNvSpPr/>
          <p:nvPr/>
        </p:nvSpPr>
        <p:spPr>
          <a:xfrm>
            <a:off x="4691100" y="2201882"/>
            <a:ext cx="4191000" cy="14772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Informed search strategies </a:t>
            </a:r>
            <a:r>
              <a:rPr lang="en-US" sz="1800" b="0" i="0" u="none" strike="noStrike" cap="none">
                <a:solidFill>
                  <a:srgbClr val="F79646"/>
                </a:solidFill>
                <a:latin typeface="Calibri"/>
                <a:ea typeface="Calibri"/>
                <a:cs typeface="Calibri"/>
                <a:sym typeface="Calibri"/>
              </a:rPr>
              <a:t>use other domain specific information</a:t>
            </a:r>
            <a:endParaRPr sz="14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a:solidFill>
                <a:srgbClr val="F79646"/>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The algorithms have </a:t>
            </a:r>
            <a:r>
              <a:rPr lang="en-US" sz="1800" b="0" i="0" u="none" strike="noStrike" cap="none">
                <a:solidFill>
                  <a:srgbClr val="F79646"/>
                </a:solidFill>
                <a:latin typeface="Calibri"/>
                <a:ea typeface="Calibri"/>
                <a:cs typeface="Calibri"/>
                <a:sym typeface="Calibri"/>
              </a:rPr>
              <a:t>information on the goal state</a:t>
            </a:r>
            <a:endParaRPr sz="1400" b="0" i="0" u="none" strike="noStrike" cap="none">
              <a:solidFill>
                <a:srgbClr val="000000"/>
              </a:solidFill>
              <a:latin typeface="Arial"/>
              <a:ea typeface="Arial"/>
              <a:cs typeface="Arial"/>
              <a:sym typeface="Arial"/>
            </a:endParaRPr>
          </a:p>
        </p:txBody>
      </p:sp>
      <p:graphicFrame>
        <p:nvGraphicFramePr>
          <p:cNvPr id="393" name="Google Shape;393;p21"/>
          <p:cNvGraphicFramePr/>
          <p:nvPr/>
        </p:nvGraphicFramePr>
        <p:xfrm>
          <a:off x="105610" y="1753646"/>
          <a:ext cx="3000000" cy="3000000"/>
        </p:xfrm>
        <a:graphic>
          <a:graphicData uri="http://schemas.openxmlformats.org/drawingml/2006/table">
            <a:tbl>
              <a:tblPr firstRow="1" bandRow="1">
                <a:noFill/>
                <a:tableStyleId>{38980CB2-7BF0-43EA-B497-3EFA4ACC9518}</a:tableStyleId>
              </a:tblPr>
              <a:tblGrid>
                <a:gridCol w="41616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3962400">
                  <a:extLst>
                    <a:ext uri="{9D8B030D-6E8A-4147-A177-3AD203B41FA5}">
                      <a16:colId xmlns:a16="http://schemas.microsoft.com/office/drawing/2014/main" val="20002"/>
                    </a:ext>
                  </a:extLst>
                </a:gridCol>
              </a:tblGrid>
              <a:tr h="370850">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Uninformed Search Algorithms</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2060"/>
                    </a:solidFill>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lt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u="none" strike="noStrike" cap="none"/>
                        <a:t>Informed Search Algorithms</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974806"/>
                    </a:solidFill>
                  </a:tcPr>
                </a:tc>
                <a:extLst>
                  <a:ext uri="{0D108BD9-81ED-4DB2-BD59-A6C34878D82A}">
                    <a16:rowId xmlns:a16="http://schemas.microsoft.com/office/drawing/2014/main" val="10000"/>
                  </a:ext>
                </a:extLst>
              </a:tr>
            </a:tbl>
          </a:graphicData>
        </a:graphic>
      </p:graphicFrame>
      <p:sp>
        <p:nvSpPr>
          <p:cNvPr id="394" name="Google Shape;394;p21"/>
          <p:cNvSpPr/>
          <p:nvPr/>
        </p:nvSpPr>
        <p:spPr>
          <a:xfrm>
            <a:off x="1066800" y="304800"/>
            <a:ext cx="8073273"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chemeClr val="dk1"/>
                </a:solidFill>
                <a:latin typeface="Roboto"/>
                <a:ea typeface="Roboto"/>
                <a:cs typeface="Roboto"/>
                <a:sym typeface="Roboto"/>
              </a:rPr>
              <a:t>Search Algorithm : </a:t>
            </a:r>
            <a:r>
              <a:rPr lang="en-US" sz="4000" b="1" i="0" u="none" strike="noStrike" cap="none">
                <a:solidFill>
                  <a:srgbClr val="C00000"/>
                </a:solidFill>
                <a:latin typeface="Roboto"/>
                <a:ea typeface="Roboto"/>
                <a:cs typeface="Roboto"/>
                <a:sym typeface="Roboto"/>
              </a:rPr>
              <a:t>Criteria</a:t>
            </a:r>
            <a:r>
              <a:rPr lang="en-US" sz="4000" b="1" i="0" u="none" strike="noStrike" cap="none">
                <a:solidFill>
                  <a:schemeClr val="dk1"/>
                </a:solidFill>
                <a:latin typeface="Roboto"/>
                <a:ea typeface="Roboto"/>
                <a:cs typeface="Roboto"/>
                <a:sym typeface="Roboto"/>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22"/>
          <p:cNvSpPr txBox="1">
            <a:spLocks noGrp="1"/>
          </p:cNvSpPr>
          <p:nvPr>
            <p:ph type="title"/>
          </p:nvPr>
        </p:nvSpPr>
        <p:spPr>
          <a:xfrm>
            <a:off x="457200" y="1447800"/>
            <a:ext cx="8229600" cy="609600"/>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C00000"/>
              </a:buClr>
              <a:buSzPts val="3200"/>
              <a:buFont typeface="Calibri"/>
              <a:buNone/>
            </a:pPr>
            <a:r>
              <a:rPr lang="en-US" sz="3200" b="1">
                <a:solidFill>
                  <a:srgbClr val="C00000"/>
                </a:solidFill>
                <a:latin typeface="Calibri"/>
                <a:ea typeface="Calibri"/>
                <a:cs typeface="Calibri"/>
                <a:sym typeface="Calibri"/>
              </a:rPr>
              <a:t>Data Driven </a:t>
            </a:r>
            <a:r>
              <a:rPr lang="en-US" sz="3200" b="1">
                <a:latin typeface="Calibri"/>
                <a:ea typeface="Calibri"/>
                <a:cs typeface="Calibri"/>
                <a:sym typeface="Calibri"/>
              </a:rPr>
              <a:t>&amp; </a:t>
            </a:r>
            <a:r>
              <a:rPr lang="en-US" sz="3200" b="1">
                <a:solidFill>
                  <a:srgbClr val="3898B2"/>
                </a:solidFill>
                <a:latin typeface="Calibri"/>
                <a:ea typeface="Calibri"/>
                <a:cs typeface="Calibri"/>
                <a:sym typeface="Calibri"/>
              </a:rPr>
              <a:t>Goal Driven </a:t>
            </a:r>
            <a:r>
              <a:rPr lang="en-US" sz="3200" b="1">
                <a:latin typeface="Calibri"/>
                <a:ea typeface="Calibri"/>
                <a:cs typeface="Calibri"/>
                <a:sym typeface="Calibri"/>
              </a:rPr>
              <a:t>Approach</a:t>
            </a:r>
            <a:r>
              <a:rPr lang="en-US" sz="3200" b="1">
                <a:solidFill>
                  <a:srgbClr val="C00000"/>
                </a:solidFill>
                <a:latin typeface="Calibri"/>
                <a:ea typeface="Calibri"/>
                <a:cs typeface="Calibri"/>
                <a:sym typeface="Calibri"/>
              </a:rPr>
              <a:t> </a:t>
            </a:r>
            <a:endParaRPr sz="3200" b="1">
              <a:latin typeface="Calibri"/>
              <a:ea typeface="Calibri"/>
              <a:cs typeface="Calibri"/>
              <a:sym typeface="Calibri"/>
            </a:endParaRPr>
          </a:p>
        </p:txBody>
      </p:sp>
      <p:sp>
        <p:nvSpPr>
          <p:cNvPr id="401" name="Google Shape;401;p22"/>
          <p:cNvSpPr/>
          <p:nvPr/>
        </p:nvSpPr>
        <p:spPr>
          <a:xfrm>
            <a:off x="0" y="457200"/>
            <a:ext cx="9144000" cy="685800"/>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Roboto"/>
                <a:ea typeface="Roboto"/>
                <a:cs typeface="Roboto"/>
                <a:sym typeface="Roboto"/>
              </a:rPr>
              <a:t>Selection of a Search Strategy : </a:t>
            </a:r>
            <a:r>
              <a:rPr lang="en-US" sz="3400" b="1" i="0" u="none" strike="noStrike" cap="none">
                <a:solidFill>
                  <a:srgbClr val="C00000"/>
                </a:solidFill>
                <a:latin typeface="Roboto"/>
                <a:ea typeface="Roboto"/>
                <a:cs typeface="Roboto"/>
                <a:sym typeface="Roboto"/>
              </a:rPr>
              <a:t>Intro</a:t>
            </a:r>
            <a:endParaRPr sz="1400" b="0" i="0" u="none" strike="noStrike" cap="none">
              <a:solidFill>
                <a:srgbClr val="000000"/>
              </a:solidFill>
              <a:latin typeface="Arial"/>
              <a:ea typeface="Arial"/>
              <a:cs typeface="Arial"/>
              <a:sym typeface="Arial"/>
            </a:endParaRPr>
          </a:p>
        </p:txBody>
      </p:sp>
      <p:sp>
        <p:nvSpPr>
          <p:cNvPr id="402" name="Google Shape;402;p22"/>
          <p:cNvSpPr/>
          <p:nvPr/>
        </p:nvSpPr>
        <p:spPr>
          <a:xfrm>
            <a:off x="609600" y="2209800"/>
            <a:ext cx="7772400" cy="25853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State space may be searched in two directions: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From given </a:t>
            </a:r>
            <a:r>
              <a:rPr lang="en-US" sz="1800" b="0" i="0" u="none" strike="noStrike" cap="none">
                <a:solidFill>
                  <a:srgbClr val="C00000"/>
                </a:solidFill>
                <a:latin typeface="Calibri"/>
                <a:ea typeface="Calibri"/>
                <a:cs typeface="Calibri"/>
                <a:sym typeface="Calibri"/>
              </a:rPr>
              <a:t>data</a:t>
            </a:r>
            <a:r>
              <a:rPr lang="en-US" sz="1800" b="0" i="0" u="none" strike="noStrike" cap="none">
                <a:solidFill>
                  <a:schemeClr val="dk1"/>
                </a:solidFill>
                <a:latin typeface="Calibri"/>
                <a:ea typeface="Calibri"/>
                <a:cs typeface="Calibri"/>
                <a:sym typeface="Calibri"/>
              </a:rPr>
              <a:t> of a problem instance towards a </a:t>
            </a:r>
            <a:r>
              <a:rPr lang="en-US" sz="1800" b="0" i="0" u="none" strike="noStrike" cap="none">
                <a:solidFill>
                  <a:srgbClr val="C00000"/>
                </a:solidFill>
                <a:latin typeface="Calibri"/>
                <a:ea typeface="Calibri"/>
                <a:cs typeface="Calibri"/>
                <a:sym typeface="Calibri"/>
              </a:rPr>
              <a:t>goal</a:t>
            </a:r>
            <a:r>
              <a:rPr lang="en-US" sz="18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Goal From a </a:t>
            </a:r>
            <a:r>
              <a:rPr lang="en-US" sz="1800" b="0" i="0" u="none" strike="noStrike" cap="none">
                <a:solidFill>
                  <a:srgbClr val="3898B2"/>
                </a:solidFill>
                <a:latin typeface="Calibri"/>
                <a:ea typeface="Calibri"/>
                <a:cs typeface="Calibri"/>
                <a:sym typeface="Calibri"/>
              </a:rPr>
              <a:t>goal</a:t>
            </a:r>
            <a:r>
              <a:rPr lang="en-US" sz="1800" b="0" i="0" u="none" strike="noStrike" cap="none">
                <a:solidFill>
                  <a:schemeClr val="dk1"/>
                </a:solidFill>
                <a:latin typeface="Calibri"/>
                <a:ea typeface="Calibri"/>
                <a:cs typeface="Calibri"/>
                <a:sym typeface="Calibri"/>
              </a:rPr>
              <a:t> back to the </a:t>
            </a:r>
            <a:r>
              <a:rPr lang="en-US" sz="1800" b="0" i="0" u="none" strike="noStrike" cap="none">
                <a:solidFill>
                  <a:srgbClr val="3898B2"/>
                </a:solidFill>
                <a:latin typeface="Calibri"/>
                <a:ea typeface="Calibri"/>
                <a:cs typeface="Calibri"/>
                <a:sym typeface="Calibri"/>
              </a:rPr>
              <a:t>data </a:t>
            </a:r>
            <a:endParaRPr sz="1400" b="0" i="0" u="none" strike="noStrike" cap="none">
              <a:solidFill>
                <a:srgbClr val="000000"/>
              </a:solidFill>
              <a:latin typeface="Arial"/>
              <a:ea typeface="Arial"/>
              <a:cs typeface="Arial"/>
              <a:sym typeface="Arial"/>
            </a:endParaRPr>
          </a:p>
        </p:txBody>
      </p:sp>
      <p:grpSp>
        <p:nvGrpSpPr>
          <p:cNvPr id="403" name="Google Shape;403;p22"/>
          <p:cNvGrpSpPr/>
          <p:nvPr/>
        </p:nvGrpSpPr>
        <p:grpSpPr>
          <a:xfrm>
            <a:off x="1340981" y="3521511"/>
            <a:ext cx="5358609" cy="357604"/>
            <a:chOff x="1324567" y="3333750"/>
            <a:chExt cx="5358609" cy="357604"/>
          </a:xfrm>
        </p:grpSpPr>
        <p:grpSp>
          <p:nvGrpSpPr>
            <p:cNvPr id="404" name="Google Shape;404;p22"/>
            <p:cNvGrpSpPr/>
            <p:nvPr/>
          </p:nvGrpSpPr>
          <p:grpSpPr>
            <a:xfrm>
              <a:off x="3009900" y="3352800"/>
              <a:ext cx="3124200" cy="304800"/>
              <a:chOff x="2209800" y="3276600"/>
              <a:chExt cx="3124200" cy="304800"/>
            </a:xfrm>
          </p:grpSpPr>
          <p:sp>
            <p:nvSpPr>
              <p:cNvPr id="405" name="Google Shape;405;p22"/>
              <p:cNvSpPr/>
              <p:nvPr/>
            </p:nvSpPr>
            <p:spPr>
              <a:xfrm>
                <a:off x="2209800" y="3276600"/>
                <a:ext cx="304800" cy="304800"/>
              </a:xfrm>
              <a:prstGeom prst="flowChartConnector">
                <a:avLst/>
              </a:prstGeom>
              <a:solidFill>
                <a:srgbClr val="9D3B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6" name="Google Shape;406;p22"/>
              <p:cNvSpPr/>
              <p:nvPr/>
            </p:nvSpPr>
            <p:spPr>
              <a:xfrm>
                <a:off x="5029200" y="3276600"/>
                <a:ext cx="304800" cy="304800"/>
              </a:xfrm>
              <a:prstGeom prst="flowChartConnector">
                <a:avLst/>
              </a:prstGeom>
              <a:solidFill>
                <a:srgbClr val="9D3B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407" name="Google Shape;407;p22"/>
              <p:cNvCxnSpPr>
                <a:stCxn id="405" idx="6"/>
                <a:endCxn id="406" idx="2"/>
              </p:cNvCxnSpPr>
              <p:nvPr/>
            </p:nvCxnSpPr>
            <p:spPr>
              <a:xfrm>
                <a:off x="2514600" y="3429000"/>
                <a:ext cx="2514600" cy="0"/>
              </a:xfrm>
              <a:prstGeom prst="straightConnector1">
                <a:avLst/>
              </a:prstGeom>
              <a:noFill/>
              <a:ln w="57150" cap="flat" cmpd="sng">
                <a:solidFill>
                  <a:srgbClr val="9D3B38"/>
                </a:solidFill>
                <a:prstDash val="solid"/>
                <a:round/>
                <a:headEnd type="none" w="sm" len="sm"/>
                <a:tailEnd type="triangle" w="med" len="med"/>
              </a:ln>
            </p:spPr>
          </p:cxnSp>
        </p:grpSp>
        <p:sp>
          <p:nvSpPr>
            <p:cNvPr id="408" name="Google Shape;408;p22"/>
            <p:cNvSpPr/>
            <p:nvPr/>
          </p:nvSpPr>
          <p:spPr>
            <a:xfrm>
              <a:off x="1324567" y="3352800"/>
              <a:ext cx="1685333"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1" u="none" strike="noStrike" cap="none">
                  <a:solidFill>
                    <a:schemeClr val="dk1"/>
                  </a:solidFill>
                  <a:latin typeface="Calibri"/>
                  <a:ea typeface="Calibri"/>
                  <a:cs typeface="Calibri"/>
                  <a:sym typeface="Calibri"/>
                </a:rPr>
                <a:t>Data of a problem</a:t>
              </a:r>
              <a:endParaRPr sz="1600" b="0" i="1" u="none" strike="noStrike" cap="none">
                <a:solidFill>
                  <a:schemeClr val="dk1"/>
                </a:solidFill>
                <a:latin typeface="Calibri"/>
                <a:ea typeface="Calibri"/>
                <a:cs typeface="Calibri"/>
                <a:sym typeface="Calibri"/>
              </a:endParaRPr>
            </a:p>
          </p:txBody>
        </p:sp>
        <p:sp>
          <p:nvSpPr>
            <p:cNvPr id="409" name="Google Shape;409;p22"/>
            <p:cNvSpPr/>
            <p:nvPr/>
          </p:nvSpPr>
          <p:spPr>
            <a:xfrm>
              <a:off x="6110583" y="3333750"/>
              <a:ext cx="572593"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1" u="none" strike="noStrike" cap="none">
                  <a:solidFill>
                    <a:schemeClr val="dk1"/>
                  </a:solidFill>
                  <a:latin typeface="Calibri"/>
                  <a:ea typeface="Calibri"/>
                  <a:cs typeface="Calibri"/>
                  <a:sym typeface="Calibri"/>
                </a:rPr>
                <a:t>Goal</a:t>
              </a:r>
              <a:endParaRPr sz="1600" b="0" i="1" u="none" strike="noStrike" cap="none">
                <a:solidFill>
                  <a:schemeClr val="dk1"/>
                </a:solidFill>
                <a:latin typeface="Calibri"/>
                <a:ea typeface="Calibri"/>
                <a:cs typeface="Calibri"/>
                <a:sym typeface="Calibri"/>
              </a:endParaRPr>
            </a:p>
          </p:txBody>
        </p:sp>
      </p:grpSp>
      <p:grpSp>
        <p:nvGrpSpPr>
          <p:cNvPr id="410" name="Google Shape;410;p22"/>
          <p:cNvGrpSpPr/>
          <p:nvPr/>
        </p:nvGrpSpPr>
        <p:grpSpPr>
          <a:xfrm>
            <a:off x="2479327" y="4691211"/>
            <a:ext cx="4220263" cy="357604"/>
            <a:chOff x="2479327" y="4691211"/>
            <a:chExt cx="4220263" cy="357604"/>
          </a:xfrm>
        </p:grpSpPr>
        <p:grpSp>
          <p:nvGrpSpPr>
            <p:cNvPr id="411" name="Google Shape;411;p22"/>
            <p:cNvGrpSpPr/>
            <p:nvPr/>
          </p:nvGrpSpPr>
          <p:grpSpPr>
            <a:xfrm>
              <a:off x="3009900" y="4710261"/>
              <a:ext cx="3124200" cy="304800"/>
              <a:chOff x="2209800" y="3276600"/>
              <a:chExt cx="3124200" cy="304800"/>
            </a:xfrm>
          </p:grpSpPr>
          <p:sp>
            <p:nvSpPr>
              <p:cNvPr id="412" name="Google Shape;412;p22"/>
              <p:cNvSpPr/>
              <p:nvPr/>
            </p:nvSpPr>
            <p:spPr>
              <a:xfrm>
                <a:off x="2209800" y="3276600"/>
                <a:ext cx="304800" cy="304800"/>
              </a:xfrm>
              <a:prstGeom prst="flowChartConnector">
                <a:avLst/>
              </a:prstGeom>
              <a:solidFill>
                <a:srgbClr val="3898B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3" name="Google Shape;413;p22"/>
              <p:cNvSpPr/>
              <p:nvPr/>
            </p:nvSpPr>
            <p:spPr>
              <a:xfrm>
                <a:off x="5029200" y="3276600"/>
                <a:ext cx="304800" cy="304800"/>
              </a:xfrm>
              <a:prstGeom prst="flowChartConnector">
                <a:avLst/>
              </a:prstGeom>
              <a:solidFill>
                <a:srgbClr val="3898B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414" name="Google Shape;414;p22"/>
              <p:cNvCxnSpPr>
                <a:stCxn id="412" idx="6"/>
                <a:endCxn id="413" idx="2"/>
              </p:cNvCxnSpPr>
              <p:nvPr/>
            </p:nvCxnSpPr>
            <p:spPr>
              <a:xfrm>
                <a:off x="2514600" y="3429000"/>
                <a:ext cx="2514600" cy="0"/>
              </a:xfrm>
              <a:prstGeom prst="straightConnector1">
                <a:avLst/>
              </a:prstGeom>
              <a:noFill/>
              <a:ln w="57150" cap="flat" cmpd="sng">
                <a:solidFill>
                  <a:srgbClr val="3898B2"/>
                </a:solidFill>
                <a:prstDash val="solid"/>
                <a:round/>
                <a:headEnd type="none" w="sm" len="sm"/>
                <a:tailEnd type="triangle" w="med" len="med"/>
              </a:ln>
            </p:spPr>
          </p:cxnSp>
        </p:grpSp>
        <p:sp>
          <p:nvSpPr>
            <p:cNvPr id="415" name="Google Shape;415;p22"/>
            <p:cNvSpPr/>
            <p:nvPr/>
          </p:nvSpPr>
          <p:spPr>
            <a:xfrm>
              <a:off x="2479327" y="4710261"/>
              <a:ext cx="572593"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1" u="none" strike="noStrike" cap="none">
                  <a:solidFill>
                    <a:schemeClr val="dk1"/>
                  </a:solidFill>
                  <a:latin typeface="Calibri"/>
                  <a:ea typeface="Calibri"/>
                  <a:cs typeface="Calibri"/>
                  <a:sym typeface="Calibri"/>
                </a:rPr>
                <a:t>Goal</a:t>
              </a:r>
              <a:endParaRPr sz="1600" b="0" i="1" u="none" strike="noStrike" cap="none">
                <a:solidFill>
                  <a:schemeClr val="dk1"/>
                </a:solidFill>
                <a:latin typeface="Calibri"/>
                <a:ea typeface="Calibri"/>
                <a:cs typeface="Calibri"/>
                <a:sym typeface="Calibri"/>
              </a:endParaRPr>
            </a:p>
          </p:txBody>
        </p:sp>
        <p:sp>
          <p:nvSpPr>
            <p:cNvPr id="416" name="Google Shape;416;p22"/>
            <p:cNvSpPr/>
            <p:nvPr/>
          </p:nvSpPr>
          <p:spPr>
            <a:xfrm>
              <a:off x="6110583" y="4691211"/>
              <a:ext cx="589007"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1" u="none" strike="noStrike" cap="none">
                  <a:solidFill>
                    <a:schemeClr val="dk1"/>
                  </a:solidFill>
                  <a:latin typeface="Calibri"/>
                  <a:ea typeface="Calibri"/>
                  <a:cs typeface="Calibri"/>
                  <a:sym typeface="Calibri"/>
                </a:rPr>
                <a:t>Data</a:t>
              </a:r>
              <a:endParaRPr sz="1600" b="0" i="1" u="none" strike="noStrike" cap="none">
                <a:solidFill>
                  <a:schemeClr val="dk1"/>
                </a:solidFill>
                <a:latin typeface="Calibri"/>
                <a:ea typeface="Calibri"/>
                <a:cs typeface="Calibri"/>
                <a:sym typeface="Calibri"/>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23"/>
          <p:cNvSpPr/>
          <p:nvPr/>
        </p:nvSpPr>
        <p:spPr>
          <a:xfrm>
            <a:off x="0" y="457200"/>
            <a:ext cx="9144000" cy="685800"/>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Roboto"/>
                <a:ea typeface="Roboto"/>
                <a:cs typeface="Roboto"/>
                <a:sym typeface="Roboto"/>
              </a:rPr>
              <a:t>Selection of a Search Strategy</a:t>
            </a:r>
            <a:endParaRPr sz="3400" b="1" i="0" u="none" strike="noStrike" cap="none">
              <a:solidFill>
                <a:srgbClr val="C00000"/>
              </a:solidFill>
              <a:latin typeface="Roboto"/>
              <a:ea typeface="Roboto"/>
              <a:cs typeface="Roboto"/>
              <a:sym typeface="Roboto"/>
            </a:endParaRPr>
          </a:p>
        </p:txBody>
      </p:sp>
      <p:sp>
        <p:nvSpPr>
          <p:cNvPr id="422" name="Google Shape;422;p23"/>
          <p:cNvSpPr/>
          <p:nvPr/>
        </p:nvSpPr>
        <p:spPr>
          <a:xfrm>
            <a:off x="228599" y="1806615"/>
            <a:ext cx="8686801" cy="443044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Also called as </a:t>
            </a:r>
            <a:r>
              <a:rPr lang="en-US" sz="2000" b="0" i="0" u="none" strike="noStrike" cap="none">
                <a:solidFill>
                  <a:srgbClr val="9D3B38"/>
                </a:solidFill>
                <a:latin typeface="Calibri"/>
                <a:ea typeface="Calibri"/>
                <a:cs typeface="Calibri"/>
                <a:sym typeface="Calibri"/>
              </a:rPr>
              <a:t>data-directed search, forward chaining</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The problem solver begins with given facts of the problem and a set of legal moves or rules for changing states.</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a:p>
            <a:pPr marL="285750" marR="0" lvl="0" indent="-285750" algn="l" rtl="0">
              <a:lnSpc>
                <a:spcPct val="15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Search proceeds as follows:- </a:t>
            </a:r>
            <a:endParaRPr sz="1400" b="0" i="0" u="none" strike="noStrike" cap="none">
              <a:solidFill>
                <a:srgbClr val="000000"/>
              </a:solidFill>
              <a:latin typeface="Arial"/>
              <a:ea typeface="Arial"/>
              <a:cs typeface="Arial"/>
              <a:sym typeface="Arial"/>
            </a:endParaRPr>
          </a:p>
          <a:p>
            <a:pPr marL="742950" marR="0" lvl="1" indent="-285750" algn="l" rtl="0">
              <a:lnSpc>
                <a:spcPct val="15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Applying rules to facts to produce new facts.</a:t>
            </a:r>
            <a:endParaRPr sz="1400" b="0" i="0" u="none" strike="noStrike" cap="none">
              <a:solidFill>
                <a:srgbClr val="000000"/>
              </a:solidFill>
              <a:latin typeface="Arial"/>
              <a:ea typeface="Arial"/>
              <a:cs typeface="Arial"/>
              <a:sym typeface="Arial"/>
            </a:endParaRPr>
          </a:p>
          <a:p>
            <a:pPr marL="742950" marR="0" lvl="1" indent="-285750" algn="l" rtl="0">
              <a:lnSpc>
                <a:spcPct val="15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New facts are used by rules to produce more new facts. </a:t>
            </a:r>
            <a:endParaRPr sz="1400" b="0" i="0" u="none" strike="noStrike" cap="none">
              <a:solidFill>
                <a:srgbClr val="000000"/>
              </a:solidFill>
              <a:latin typeface="Arial"/>
              <a:ea typeface="Arial"/>
              <a:cs typeface="Arial"/>
              <a:sym typeface="Arial"/>
            </a:endParaRPr>
          </a:p>
          <a:p>
            <a:pPr marL="742950" marR="0" lvl="1" indent="-285750" algn="l" rtl="0">
              <a:lnSpc>
                <a:spcPct val="15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Process continues until it generates a path that satisfies the goal condition. </a:t>
            </a:r>
            <a:endParaRPr sz="1400" b="0" i="0" u="none" strike="noStrike" cap="none">
              <a:solidFill>
                <a:srgbClr val="000000"/>
              </a:solidFill>
              <a:latin typeface="Arial"/>
              <a:ea typeface="Arial"/>
              <a:cs typeface="Arial"/>
              <a:sym typeface="Arial"/>
            </a:endParaRPr>
          </a:p>
          <a:p>
            <a:pPr marL="742950" marR="0" lvl="1" indent="-285750" algn="l" rtl="0">
              <a:lnSpc>
                <a:spcPct val="15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Data driven search uses the knowledge and constraints found in the given data of a problem to guide search along lines known to be true</a:t>
            </a:r>
            <a:endParaRPr sz="1400" b="0" i="0" u="none" strike="noStrike" cap="none">
              <a:solidFill>
                <a:srgbClr val="000000"/>
              </a:solidFill>
              <a:latin typeface="Arial"/>
              <a:ea typeface="Arial"/>
              <a:cs typeface="Arial"/>
              <a:sym typeface="Arial"/>
            </a:endParaRPr>
          </a:p>
        </p:txBody>
      </p:sp>
      <p:sp>
        <p:nvSpPr>
          <p:cNvPr id="423" name="Google Shape;423;p23"/>
          <p:cNvSpPr txBox="1"/>
          <p:nvPr/>
        </p:nvSpPr>
        <p:spPr>
          <a:xfrm>
            <a:off x="457200" y="1388962"/>
            <a:ext cx="8229600" cy="397397"/>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0">
            <a:normAutofit fontScale="75000" lnSpcReduction="20000"/>
          </a:bodyPr>
          <a:lstStyle/>
          <a:p>
            <a:pPr marL="0" marR="0" lvl="0" indent="0" algn="ctr" rtl="0">
              <a:lnSpc>
                <a:spcPct val="100000"/>
              </a:lnSpc>
              <a:spcBef>
                <a:spcPts val="0"/>
              </a:spcBef>
              <a:spcAft>
                <a:spcPts val="0"/>
              </a:spcAft>
              <a:buClr>
                <a:srgbClr val="C00000"/>
              </a:buClr>
              <a:buSzPct val="100000"/>
              <a:buFont typeface="Calibri"/>
              <a:buNone/>
            </a:pPr>
            <a:r>
              <a:rPr lang="en-US" sz="3200" b="1" i="0" u="none" strike="noStrike" cap="none">
                <a:solidFill>
                  <a:srgbClr val="C00000"/>
                </a:solidFill>
                <a:latin typeface="Calibri"/>
                <a:ea typeface="Calibri"/>
                <a:cs typeface="Calibri"/>
                <a:sym typeface="Calibri"/>
              </a:rPr>
              <a:t>Data-Driven </a:t>
            </a:r>
            <a:r>
              <a:rPr lang="en-US" sz="3200" b="1" i="0" u="none" strike="noStrike" cap="none">
                <a:solidFill>
                  <a:schemeClr val="dk1"/>
                </a:solidFill>
                <a:latin typeface="Calibri"/>
                <a:ea typeface="Calibri"/>
                <a:cs typeface="Calibri"/>
                <a:sym typeface="Calibri"/>
              </a:rPr>
              <a:t>Approach</a:t>
            </a:r>
            <a:endParaRPr sz="3200" b="1"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24"/>
          <p:cNvSpPr txBox="1">
            <a:spLocks noGrp="1"/>
          </p:cNvSpPr>
          <p:nvPr>
            <p:ph type="title"/>
          </p:nvPr>
        </p:nvSpPr>
        <p:spPr>
          <a:xfrm>
            <a:off x="457200" y="1447800"/>
            <a:ext cx="8229600" cy="609600"/>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C00000"/>
              </a:buClr>
              <a:buSzPts val="3200"/>
              <a:buFont typeface="Calibri"/>
              <a:buNone/>
            </a:pPr>
            <a:r>
              <a:rPr lang="en-US" sz="3200" b="1">
                <a:solidFill>
                  <a:srgbClr val="C00000"/>
                </a:solidFill>
                <a:latin typeface="Calibri"/>
                <a:ea typeface="Calibri"/>
                <a:cs typeface="Calibri"/>
                <a:sym typeface="Calibri"/>
              </a:rPr>
              <a:t>Data-Driven </a:t>
            </a:r>
            <a:r>
              <a:rPr lang="en-US" sz="3200" b="1"/>
              <a:t>Approach</a:t>
            </a:r>
            <a:endParaRPr sz="3200" b="1">
              <a:latin typeface="Calibri"/>
              <a:ea typeface="Calibri"/>
              <a:cs typeface="Calibri"/>
              <a:sym typeface="Calibri"/>
            </a:endParaRPr>
          </a:p>
        </p:txBody>
      </p:sp>
      <p:pic>
        <p:nvPicPr>
          <p:cNvPr id="429" name="Google Shape;429;p24"/>
          <p:cNvPicPr preferRelativeResize="0">
            <a:picLocks noGrp="1"/>
          </p:cNvPicPr>
          <p:nvPr>
            <p:ph type="body" idx="1"/>
          </p:nvPr>
        </p:nvPicPr>
        <p:blipFill rotWithShape="1">
          <a:blip r:embed="rId3">
            <a:alphaModFix/>
          </a:blip>
          <a:srcRect l="15710" t="8324" b="7279"/>
          <a:stretch/>
        </p:blipFill>
        <p:spPr>
          <a:xfrm>
            <a:off x="1811999" y="2057400"/>
            <a:ext cx="6774128" cy="3990240"/>
          </a:xfrm>
          <a:prstGeom prst="rect">
            <a:avLst/>
          </a:prstGeom>
          <a:noFill/>
          <a:ln>
            <a:noFill/>
          </a:ln>
        </p:spPr>
      </p:pic>
      <p:sp>
        <p:nvSpPr>
          <p:cNvPr id="430" name="Google Shape;430;p24"/>
          <p:cNvSpPr/>
          <p:nvPr/>
        </p:nvSpPr>
        <p:spPr>
          <a:xfrm>
            <a:off x="0" y="457200"/>
            <a:ext cx="9144000" cy="685800"/>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Roboto"/>
                <a:ea typeface="Roboto"/>
                <a:cs typeface="Roboto"/>
                <a:sym typeface="Roboto"/>
              </a:rPr>
              <a:t>Selection of a Search Strategy</a:t>
            </a:r>
            <a:endParaRPr sz="3400" b="1" i="0" u="none" strike="noStrike" cap="none">
              <a:solidFill>
                <a:srgbClr val="C00000"/>
              </a:solidFill>
              <a:latin typeface="Roboto"/>
              <a:ea typeface="Roboto"/>
              <a:cs typeface="Roboto"/>
              <a:sym typeface="Roboto"/>
            </a:endParaRPr>
          </a:p>
        </p:txBody>
      </p:sp>
      <p:grpSp>
        <p:nvGrpSpPr>
          <p:cNvPr id="431" name="Google Shape;431;p24"/>
          <p:cNvGrpSpPr/>
          <p:nvPr/>
        </p:nvGrpSpPr>
        <p:grpSpPr>
          <a:xfrm>
            <a:off x="1135328" y="2057400"/>
            <a:ext cx="845872" cy="3877183"/>
            <a:chOff x="1135328" y="2057400"/>
            <a:chExt cx="845872" cy="3877183"/>
          </a:xfrm>
        </p:grpSpPr>
        <p:sp>
          <p:nvSpPr>
            <p:cNvPr id="432" name="Google Shape;432;p24"/>
            <p:cNvSpPr/>
            <p:nvPr/>
          </p:nvSpPr>
          <p:spPr>
            <a:xfrm rot="10800000" flipH="1">
              <a:off x="1179596" y="2570654"/>
              <a:ext cx="660375" cy="2722718"/>
            </a:xfrm>
            <a:prstGeom prst="downArrow">
              <a:avLst>
                <a:gd name="adj1" fmla="val 50000"/>
                <a:gd name="adj2" fmla="val 110989"/>
              </a:avLst>
            </a:prstGeom>
            <a:solidFill>
              <a:srgbClr val="9D3B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3" name="Google Shape;433;p24"/>
            <p:cNvSpPr txBox="1"/>
            <p:nvPr/>
          </p:nvSpPr>
          <p:spPr>
            <a:xfrm>
              <a:off x="1135328" y="2057400"/>
              <a:ext cx="845872" cy="369332"/>
            </a:xfrm>
            <a:prstGeom prst="rect">
              <a:avLst/>
            </a:prstGeom>
            <a:solidFill>
              <a:srgbClr val="9D3B38"/>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Goal</a:t>
              </a:r>
              <a:endParaRPr sz="1800" b="1" i="0" u="none" strike="noStrike" cap="none">
                <a:solidFill>
                  <a:schemeClr val="lt1"/>
                </a:solidFill>
                <a:latin typeface="Calibri"/>
                <a:ea typeface="Calibri"/>
                <a:cs typeface="Calibri"/>
                <a:sym typeface="Calibri"/>
              </a:endParaRPr>
            </a:p>
          </p:txBody>
        </p:sp>
        <p:sp>
          <p:nvSpPr>
            <p:cNvPr id="434" name="Google Shape;434;p24"/>
            <p:cNvSpPr txBox="1"/>
            <p:nvPr/>
          </p:nvSpPr>
          <p:spPr>
            <a:xfrm>
              <a:off x="1135328" y="5565251"/>
              <a:ext cx="845871" cy="369332"/>
            </a:xfrm>
            <a:prstGeom prst="rect">
              <a:avLst/>
            </a:prstGeom>
            <a:solidFill>
              <a:srgbClr val="9D3B38"/>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Data</a:t>
              </a:r>
              <a:endParaRPr sz="1800" b="1" i="0" u="none" strike="noStrike" cap="none">
                <a:solidFill>
                  <a:schemeClr val="lt1"/>
                </a:solidFill>
                <a:latin typeface="Calibri"/>
                <a:ea typeface="Calibri"/>
                <a:cs typeface="Calibri"/>
                <a:sym typeface="Calibri"/>
              </a:endParaRPr>
            </a:p>
          </p:txBody>
        </p:sp>
        <p:sp>
          <p:nvSpPr>
            <p:cNvPr id="435" name="Google Shape;435;p24"/>
            <p:cNvSpPr txBox="1"/>
            <p:nvPr/>
          </p:nvSpPr>
          <p:spPr>
            <a:xfrm rot="-5400000">
              <a:off x="240180" y="3751937"/>
              <a:ext cx="253920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rgbClr val="FFFF00"/>
                  </a:solidFill>
                  <a:latin typeface="Calibri"/>
                  <a:ea typeface="Calibri"/>
                  <a:cs typeface="Calibri"/>
                  <a:sym typeface="Calibri"/>
                </a:rPr>
                <a:t>Direction of reasoning</a:t>
              </a:r>
              <a:endParaRPr sz="1800" b="0" i="1" u="none" strike="noStrike" cap="none">
                <a:solidFill>
                  <a:srgbClr val="FFFF00"/>
                </a:solidFill>
                <a:latin typeface="Calibri"/>
                <a:ea typeface="Calibri"/>
                <a:cs typeface="Calibri"/>
                <a:sym typeface="Calibri"/>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25"/>
          <p:cNvSpPr txBox="1">
            <a:spLocks noGrp="1"/>
          </p:cNvSpPr>
          <p:nvPr>
            <p:ph type="title"/>
          </p:nvPr>
        </p:nvSpPr>
        <p:spPr>
          <a:xfrm>
            <a:off x="457200" y="1388962"/>
            <a:ext cx="8229600" cy="397397"/>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rgbClr val="3898B2"/>
              </a:buClr>
              <a:buSzPct val="100000"/>
              <a:buFont typeface="Calibri"/>
              <a:buNone/>
            </a:pPr>
            <a:r>
              <a:rPr lang="en-US" sz="3200" b="1">
                <a:solidFill>
                  <a:srgbClr val="3898B2"/>
                </a:solidFill>
                <a:latin typeface="Calibri"/>
                <a:ea typeface="Calibri"/>
                <a:cs typeface="Calibri"/>
                <a:sym typeface="Calibri"/>
              </a:rPr>
              <a:t>Goal-Driven</a:t>
            </a:r>
            <a:r>
              <a:rPr lang="en-US" sz="3200" b="1">
                <a:solidFill>
                  <a:srgbClr val="C00000"/>
                </a:solidFill>
                <a:latin typeface="Calibri"/>
                <a:ea typeface="Calibri"/>
                <a:cs typeface="Calibri"/>
                <a:sym typeface="Calibri"/>
              </a:rPr>
              <a:t> </a:t>
            </a:r>
            <a:r>
              <a:rPr lang="en-US" sz="3200" b="1"/>
              <a:t>Approach</a:t>
            </a:r>
            <a:endParaRPr sz="3200" b="1">
              <a:latin typeface="Calibri"/>
              <a:ea typeface="Calibri"/>
              <a:cs typeface="Calibri"/>
              <a:sym typeface="Calibri"/>
            </a:endParaRPr>
          </a:p>
        </p:txBody>
      </p:sp>
      <p:sp>
        <p:nvSpPr>
          <p:cNvPr id="441" name="Google Shape;441;p25"/>
          <p:cNvSpPr/>
          <p:nvPr/>
        </p:nvSpPr>
        <p:spPr>
          <a:xfrm>
            <a:off x="0" y="457200"/>
            <a:ext cx="9144000" cy="685800"/>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Roboto"/>
                <a:ea typeface="Roboto"/>
                <a:cs typeface="Roboto"/>
                <a:sym typeface="Roboto"/>
              </a:rPr>
              <a:t>Selection of a Search Strategy</a:t>
            </a:r>
            <a:endParaRPr sz="3400" b="1" i="0" u="none" strike="noStrike" cap="none">
              <a:solidFill>
                <a:srgbClr val="C00000"/>
              </a:solidFill>
              <a:latin typeface="Roboto"/>
              <a:ea typeface="Roboto"/>
              <a:cs typeface="Roboto"/>
              <a:sym typeface="Roboto"/>
            </a:endParaRPr>
          </a:p>
        </p:txBody>
      </p:sp>
      <p:sp>
        <p:nvSpPr>
          <p:cNvPr id="442" name="Google Shape;442;p25"/>
          <p:cNvSpPr/>
          <p:nvPr/>
        </p:nvSpPr>
        <p:spPr>
          <a:xfrm>
            <a:off x="228600" y="1766103"/>
            <a:ext cx="8458200" cy="466127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Also called as </a:t>
            </a:r>
            <a:r>
              <a:rPr lang="en-US" sz="2000" b="0" i="0" u="none" strike="noStrike" cap="none">
                <a:solidFill>
                  <a:srgbClr val="358BA2"/>
                </a:solidFill>
                <a:latin typeface="Calibri"/>
                <a:ea typeface="Calibri"/>
                <a:cs typeface="Calibri"/>
                <a:sym typeface="Calibri"/>
              </a:rPr>
              <a:t>goal-directed search, backward chaining</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Take the goal that we want to solve and see what rules or legal moves could be used to generate this goal. Also determine what conditions must be true to use them. </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These conditions become the new goals or subgoals for the search. Reaching subgoals, determining new subgoals and so on..</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Search continues, working backward through successive subgoals until it works back to the facts of the problem. </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Goal driven search thus uses knowledge of the desired goal to guide the search through relevant rules and eliminate branches of the space.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26"/>
          <p:cNvSpPr txBox="1">
            <a:spLocks noGrp="1"/>
          </p:cNvSpPr>
          <p:nvPr>
            <p:ph type="title"/>
          </p:nvPr>
        </p:nvSpPr>
        <p:spPr>
          <a:xfrm>
            <a:off x="457200" y="1447800"/>
            <a:ext cx="8229600" cy="609600"/>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3898B2"/>
              </a:buClr>
              <a:buSzPts val="3200"/>
              <a:buFont typeface="Calibri"/>
              <a:buNone/>
            </a:pPr>
            <a:r>
              <a:rPr lang="en-US" sz="3200" b="1">
                <a:solidFill>
                  <a:srgbClr val="3898B2"/>
                </a:solidFill>
                <a:latin typeface="Calibri"/>
                <a:ea typeface="Calibri"/>
                <a:cs typeface="Calibri"/>
                <a:sym typeface="Calibri"/>
              </a:rPr>
              <a:t>Goal-Driven</a:t>
            </a:r>
            <a:r>
              <a:rPr lang="en-US" sz="3200" b="1">
                <a:solidFill>
                  <a:srgbClr val="C00000"/>
                </a:solidFill>
                <a:latin typeface="Calibri"/>
                <a:ea typeface="Calibri"/>
                <a:cs typeface="Calibri"/>
                <a:sym typeface="Calibri"/>
              </a:rPr>
              <a:t> </a:t>
            </a:r>
            <a:r>
              <a:rPr lang="en-US" sz="3200" b="1"/>
              <a:t>Approach</a:t>
            </a:r>
            <a:endParaRPr sz="3200" b="1">
              <a:latin typeface="Calibri"/>
              <a:ea typeface="Calibri"/>
              <a:cs typeface="Calibri"/>
              <a:sym typeface="Calibri"/>
            </a:endParaRPr>
          </a:p>
        </p:txBody>
      </p:sp>
      <p:pic>
        <p:nvPicPr>
          <p:cNvPr id="448" name="Google Shape;448;p26"/>
          <p:cNvPicPr preferRelativeResize="0">
            <a:picLocks noGrp="1"/>
          </p:cNvPicPr>
          <p:nvPr>
            <p:ph type="body" idx="1"/>
          </p:nvPr>
        </p:nvPicPr>
        <p:blipFill rotWithShape="1">
          <a:blip r:embed="rId3">
            <a:alphaModFix/>
          </a:blip>
          <a:srcRect l="15710" t="8324" b="7279"/>
          <a:stretch/>
        </p:blipFill>
        <p:spPr>
          <a:xfrm>
            <a:off x="1811999" y="2057400"/>
            <a:ext cx="6774128" cy="3990240"/>
          </a:xfrm>
          <a:prstGeom prst="rect">
            <a:avLst/>
          </a:prstGeom>
          <a:noFill/>
          <a:ln>
            <a:noFill/>
          </a:ln>
        </p:spPr>
      </p:pic>
      <p:sp>
        <p:nvSpPr>
          <p:cNvPr id="449" name="Google Shape;449;p26"/>
          <p:cNvSpPr/>
          <p:nvPr/>
        </p:nvSpPr>
        <p:spPr>
          <a:xfrm>
            <a:off x="0" y="457200"/>
            <a:ext cx="9144000" cy="685800"/>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Roboto"/>
                <a:ea typeface="Roboto"/>
                <a:cs typeface="Roboto"/>
                <a:sym typeface="Roboto"/>
              </a:rPr>
              <a:t>Selection of a Search Strategy</a:t>
            </a:r>
            <a:endParaRPr sz="3400" b="1" i="0" u="none" strike="noStrike" cap="none">
              <a:solidFill>
                <a:srgbClr val="C00000"/>
              </a:solidFill>
              <a:latin typeface="Roboto"/>
              <a:ea typeface="Roboto"/>
              <a:cs typeface="Roboto"/>
              <a:sym typeface="Roboto"/>
            </a:endParaRPr>
          </a:p>
        </p:txBody>
      </p:sp>
      <p:grpSp>
        <p:nvGrpSpPr>
          <p:cNvPr id="450" name="Google Shape;450;p26"/>
          <p:cNvGrpSpPr/>
          <p:nvPr/>
        </p:nvGrpSpPr>
        <p:grpSpPr>
          <a:xfrm>
            <a:off x="1135328" y="2057400"/>
            <a:ext cx="845872" cy="3877183"/>
            <a:chOff x="1135328" y="2057400"/>
            <a:chExt cx="845872" cy="3877183"/>
          </a:xfrm>
        </p:grpSpPr>
        <p:sp>
          <p:nvSpPr>
            <p:cNvPr id="451" name="Google Shape;451;p26"/>
            <p:cNvSpPr/>
            <p:nvPr/>
          </p:nvSpPr>
          <p:spPr>
            <a:xfrm>
              <a:off x="1179596" y="2570654"/>
              <a:ext cx="660375" cy="2722718"/>
            </a:xfrm>
            <a:prstGeom prst="downArrow">
              <a:avLst>
                <a:gd name="adj1" fmla="val 50000"/>
                <a:gd name="adj2" fmla="val 110989"/>
              </a:avLst>
            </a:prstGeom>
            <a:solidFill>
              <a:srgbClr val="358B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2" name="Google Shape;452;p26"/>
            <p:cNvSpPr txBox="1"/>
            <p:nvPr/>
          </p:nvSpPr>
          <p:spPr>
            <a:xfrm>
              <a:off x="1135328" y="2057400"/>
              <a:ext cx="845872" cy="369332"/>
            </a:xfrm>
            <a:prstGeom prst="rect">
              <a:avLst/>
            </a:prstGeom>
            <a:solidFill>
              <a:srgbClr val="358BA2"/>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Goal</a:t>
              </a:r>
              <a:endParaRPr sz="1800" b="1" i="0" u="none" strike="noStrike" cap="none">
                <a:solidFill>
                  <a:schemeClr val="lt1"/>
                </a:solidFill>
                <a:latin typeface="Calibri"/>
                <a:ea typeface="Calibri"/>
                <a:cs typeface="Calibri"/>
                <a:sym typeface="Calibri"/>
              </a:endParaRPr>
            </a:p>
          </p:txBody>
        </p:sp>
        <p:sp>
          <p:nvSpPr>
            <p:cNvPr id="453" name="Google Shape;453;p26"/>
            <p:cNvSpPr txBox="1"/>
            <p:nvPr/>
          </p:nvSpPr>
          <p:spPr>
            <a:xfrm>
              <a:off x="1135328" y="5565251"/>
              <a:ext cx="845871" cy="369332"/>
            </a:xfrm>
            <a:prstGeom prst="rect">
              <a:avLst/>
            </a:prstGeom>
            <a:solidFill>
              <a:srgbClr val="358BA2"/>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Data</a:t>
              </a:r>
              <a:endParaRPr sz="1800" b="1" i="0" u="none" strike="noStrike" cap="none">
                <a:solidFill>
                  <a:schemeClr val="lt1"/>
                </a:solidFill>
                <a:latin typeface="Calibri"/>
                <a:ea typeface="Calibri"/>
                <a:cs typeface="Calibri"/>
                <a:sym typeface="Calibri"/>
              </a:endParaRPr>
            </a:p>
          </p:txBody>
        </p:sp>
        <p:sp>
          <p:nvSpPr>
            <p:cNvPr id="454" name="Google Shape;454;p26"/>
            <p:cNvSpPr txBox="1"/>
            <p:nvPr/>
          </p:nvSpPr>
          <p:spPr>
            <a:xfrm rot="-5400000">
              <a:off x="243558" y="3441995"/>
              <a:ext cx="253920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rgbClr val="FFFF00"/>
                  </a:solidFill>
                  <a:latin typeface="Calibri"/>
                  <a:ea typeface="Calibri"/>
                  <a:cs typeface="Calibri"/>
                  <a:sym typeface="Calibri"/>
                </a:rPr>
                <a:t>Direction of reasoning</a:t>
              </a:r>
              <a:endParaRPr sz="1800" b="0" i="1" u="none" strike="noStrike" cap="none">
                <a:solidFill>
                  <a:srgbClr val="FFFF00"/>
                </a:solidFill>
                <a:latin typeface="Calibri"/>
                <a:ea typeface="Calibri"/>
                <a:cs typeface="Calibri"/>
                <a:sym typeface="Calibri"/>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27"/>
          <p:cNvSpPr/>
          <p:nvPr/>
        </p:nvSpPr>
        <p:spPr>
          <a:xfrm>
            <a:off x="457200" y="1600200"/>
            <a:ext cx="8229600" cy="4495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hlink"/>
              </a:buClr>
              <a:buSzPts val="2400"/>
              <a:buFont typeface="Calibri"/>
              <a:buChar char="•"/>
            </a:pPr>
            <a:r>
              <a:rPr lang="en-US" sz="2400" b="0" i="0" u="none" strike="noStrike" cap="none">
                <a:solidFill>
                  <a:schemeClr val="dk1"/>
                </a:solidFill>
                <a:latin typeface="Calibri"/>
                <a:ea typeface="Calibri"/>
                <a:cs typeface="Calibri"/>
                <a:sym typeface="Calibri"/>
              </a:rPr>
              <a:t>Both </a:t>
            </a:r>
            <a:r>
              <a:rPr lang="en-US" sz="2400" b="0" i="0" u="none" strike="noStrike" cap="none">
                <a:solidFill>
                  <a:srgbClr val="C00000"/>
                </a:solidFill>
                <a:latin typeface="Calibri"/>
                <a:ea typeface="Calibri"/>
                <a:cs typeface="Calibri"/>
                <a:sym typeface="Calibri"/>
              </a:rPr>
              <a:t>goal-driven</a:t>
            </a:r>
            <a:r>
              <a:rPr lang="en-US" sz="2400" b="0" i="0" u="none" strike="noStrike" cap="none">
                <a:solidFill>
                  <a:schemeClr val="dk1"/>
                </a:solidFill>
                <a:latin typeface="Calibri"/>
                <a:ea typeface="Calibri"/>
                <a:cs typeface="Calibri"/>
                <a:sym typeface="Calibri"/>
              </a:rPr>
              <a:t> and </a:t>
            </a:r>
            <a:r>
              <a:rPr lang="en-US" sz="2400" b="0" i="0" u="none" strike="noStrike" cap="none">
                <a:solidFill>
                  <a:srgbClr val="C00000"/>
                </a:solidFill>
                <a:latin typeface="Calibri"/>
                <a:ea typeface="Calibri"/>
                <a:cs typeface="Calibri"/>
                <a:sym typeface="Calibri"/>
              </a:rPr>
              <a:t>data-driven approaches</a:t>
            </a:r>
            <a:r>
              <a:rPr lang="en-US" sz="2400" b="0" i="0" u="none" strike="noStrike" cap="none">
                <a:solidFill>
                  <a:schemeClr val="dk1"/>
                </a:solidFill>
                <a:latin typeface="Calibri"/>
                <a:ea typeface="Calibri"/>
                <a:cs typeface="Calibri"/>
                <a:sym typeface="Calibri"/>
              </a:rPr>
              <a:t> search the </a:t>
            </a:r>
            <a:r>
              <a:rPr lang="en-US" sz="2400" b="0" i="0" u="none" strike="noStrike" cap="none">
                <a:solidFill>
                  <a:srgbClr val="C00000"/>
                </a:solidFill>
                <a:latin typeface="Calibri"/>
                <a:ea typeface="Calibri"/>
                <a:cs typeface="Calibri"/>
                <a:sym typeface="Calibri"/>
              </a:rPr>
              <a:t>same</a:t>
            </a:r>
            <a:r>
              <a:rPr lang="en-US" sz="2400" b="0" i="0" u="none" strike="noStrike" cap="none">
                <a:solidFill>
                  <a:schemeClr val="dk1"/>
                </a:solidFill>
                <a:latin typeface="Calibri"/>
                <a:ea typeface="Calibri"/>
                <a:cs typeface="Calibri"/>
                <a:sym typeface="Calibri"/>
              </a:rPr>
              <a:t> state space graph</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80"/>
              </a:spcBef>
              <a:spcAft>
                <a:spcPts val="0"/>
              </a:spcAft>
              <a:buClr>
                <a:schemeClr val="hlink"/>
              </a:buClr>
              <a:buSzPts val="2400"/>
              <a:buFont typeface="Calibri"/>
              <a:buChar char="•"/>
            </a:pPr>
            <a:r>
              <a:rPr lang="en-US" sz="2400" b="0" i="0" u="none" strike="noStrike" cap="none">
                <a:solidFill>
                  <a:schemeClr val="dk1"/>
                </a:solidFill>
                <a:latin typeface="Calibri"/>
                <a:ea typeface="Calibri"/>
                <a:cs typeface="Calibri"/>
                <a:sym typeface="Calibri"/>
              </a:rPr>
              <a:t>Order and number of states are </a:t>
            </a:r>
            <a:r>
              <a:rPr lang="en-US" sz="2400" b="0" i="0" u="none" strike="noStrike" cap="none">
                <a:solidFill>
                  <a:srgbClr val="C00000"/>
                </a:solidFill>
                <a:latin typeface="Calibri"/>
                <a:ea typeface="Calibri"/>
                <a:cs typeface="Calibri"/>
                <a:sym typeface="Calibri"/>
              </a:rPr>
              <a:t>different</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80"/>
              </a:spcBef>
              <a:spcAft>
                <a:spcPts val="0"/>
              </a:spcAft>
              <a:buClr>
                <a:schemeClr val="hlink"/>
              </a:buClr>
              <a:buSzPts val="2400"/>
              <a:buFont typeface="Calibri"/>
              <a:buChar char="•"/>
            </a:pPr>
            <a:r>
              <a:rPr lang="en-US" sz="2400" b="0" i="0" u="none" strike="noStrike" cap="none">
                <a:solidFill>
                  <a:schemeClr val="dk1"/>
                </a:solidFill>
                <a:latin typeface="Calibri"/>
                <a:ea typeface="Calibri"/>
                <a:cs typeface="Calibri"/>
                <a:sym typeface="Calibri"/>
              </a:rPr>
              <a:t>Preferred strategy is determined by:</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8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Complexity of the rules</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8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Shape of state space</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8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Availability of problem data</a:t>
            </a:r>
            <a:endParaRPr sz="1400" b="0" i="0" u="none" strike="noStrike" cap="none">
              <a:solidFill>
                <a:srgbClr val="000000"/>
              </a:solidFill>
              <a:latin typeface="Arial"/>
              <a:ea typeface="Arial"/>
              <a:cs typeface="Arial"/>
              <a:sym typeface="Arial"/>
            </a:endParaRPr>
          </a:p>
        </p:txBody>
      </p:sp>
      <p:sp>
        <p:nvSpPr>
          <p:cNvPr id="461" name="Google Shape;461;p27"/>
          <p:cNvSpPr/>
          <p:nvPr/>
        </p:nvSpPr>
        <p:spPr>
          <a:xfrm>
            <a:off x="0" y="457200"/>
            <a:ext cx="9144000" cy="685800"/>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Roboto"/>
                <a:ea typeface="Roboto"/>
                <a:cs typeface="Roboto"/>
                <a:sym typeface="Roboto"/>
              </a:rPr>
              <a:t>Selection of a Search Strategy</a:t>
            </a:r>
            <a:endParaRPr sz="3400" b="1" i="0" u="none" strike="noStrike" cap="none">
              <a:solidFill>
                <a:srgbClr val="C00000"/>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28"/>
          <p:cNvSpPr/>
          <p:nvPr/>
        </p:nvSpPr>
        <p:spPr>
          <a:xfrm>
            <a:off x="0" y="457200"/>
            <a:ext cx="9144000" cy="685800"/>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Roboto"/>
                <a:ea typeface="Roboto"/>
                <a:cs typeface="Roboto"/>
                <a:sym typeface="Roboto"/>
              </a:rPr>
              <a:t>Selection of a Search Strategy : </a:t>
            </a:r>
            <a:r>
              <a:rPr lang="en-US" sz="3400" b="1" i="0" u="none" strike="noStrike" cap="none">
                <a:solidFill>
                  <a:srgbClr val="C00000"/>
                </a:solidFill>
                <a:latin typeface="Roboto"/>
                <a:ea typeface="Roboto"/>
                <a:cs typeface="Roboto"/>
                <a:sym typeface="Roboto"/>
              </a:rPr>
              <a:t>Summary</a:t>
            </a:r>
            <a:endParaRPr sz="1400" b="0" i="0" u="none" strike="noStrike" cap="none">
              <a:solidFill>
                <a:srgbClr val="000000"/>
              </a:solidFill>
              <a:latin typeface="Arial"/>
              <a:ea typeface="Arial"/>
              <a:cs typeface="Arial"/>
              <a:sym typeface="Arial"/>
            </a:endParaRPr>
          </a:p>
        </p:txBody>
      </p:sp>
      <p:grpSp>
        <p:nvGrpSpPr>
          <p:cNvPr id="468" name="Google Shape;468;p28"/>
          <p:cNvGrpSpPr/>
          <p:nvPr/>
        </p:nvGrpSpPr>
        <p:grpSpPr>
          <a:xfrm>
            <a:off x="-309615" y="1603808"/>
            <a:ext cx="8490873" cy="4717182"/>
            <a:chOff x="-274446" y="3608"/>
            <a:chExt cx="8490873" cy="4717182"/>
          </a:xfrm>
        </p:grpSpPr>
        <p:sp>
          <p:nvSpPr>
            <p:cNvPr id="469" name="Google Shape;469;p28"/>
            <p:cNvSpPr/>
            <p:nvPr/>
          </p:nvSpPr>
          <p:spPr>
            <a:xfrm>
              <a:off x="2473570" y="3672528"/>
              <a:ext cx="229220" cy="873552"/>
            </a:xfrm>
            <a:custGeom>
              <a:avLst/>
              <a:gdLst/>
              <a:ahLst/>
              <a:cxnLst/>
              <a:rect l="l" t="t" r="r" b="b"/>
              <a:pathLst>
                <a:path w="120000" h="120000" extrusionOk="0">
                  <a:moveTo>
                    <a:pt x="0" y="0"/>
                  </a:moveTo>
                  <a:lnTo>
                    <a:pt x="60000" y="0"/>
                  </a:lnTo>
                  <a:lnTo>
                    <a:pt x="60000" y="120000"/>
                  </a:lnTo>
                  <a:lnTo>
                    <a:pt x="120000" y="120000"/>
                  </a:lnTo>
                </a:path>
              </a:pathLst>
            </a:custGeom>
            <a:noFill/>
            <a:ln w="254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 name="Google Shape;470;p28"/>
            <p:cNvSpPr txBox="1"/>
            <p:nvPr/>
          </p:nvSpPr>
          <p:spPr>
            <a:xfrm>
              <a:off x="2565602" y="4086726"/>
              <a:ext cx="45156" cy="45156"/>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chemeClr val="dk1"/>
                </a:solidFill>
                <a:latin typeface="Calibri"/>
                <a:ea typeface="Calibri"/>
                <a:cs typeface="Calibri"/>
                <a:sym typeface="Calibri"/>
              </a:endParaRPr>
            </a:p>
          </p:txBody>
        </p:sp>
        <p:sp>
          <p:nvSpPr>
            <p:cNvPr id="471" name="Google Shape;471;p28"/>
            <p:cNvSpPr/>
            <p:nvPr/>
          </p:nvSpPr>
          <p:spPr>
            <a:xfrm>
              <a:off x="2473570" y="3672528"/>
              <a:ext cx="229220" cy="436776"/>
            </a:xfrm>
            <a:custGeom>
              <a:avLst/>
              <a:gdLst/>
              <a:ahLst/>
              <a:cxnLst/>
              <a:rect l="l" t="t" r="r" b="b"/>
              <a:pathLst>
                <a:path w="120000" h="120000" extrusionOk="0">
                  <a:moveTo>
                    <a:pt x="0" y="0"/>
                  </a:moveTo>
                  <a:lnTo>
                    <a:pt x="60000" y="0"/>
                  </a:lnTo>
                  <a:lnTo>
                    <a:pt x="60000" y="120000"/>
                  </a:lnTo>
                  <a:lnTo>
                    <a:pt x="120000" y="120000"/>
                  </a:lnTo>
                </a:path>
              </a:pathLst>
            </a:custGeom>
            <a:noFill/>
            <a:ln w="254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2" name="Google Shape;472;p28"/>
            <p:cNvSpPr txBox="1"/>
            <p:nvPr/>
          </p:nvSpPr>
          <p:spPr>
            <a:xfrm>
              <a:off x="2575848" y="3878584"/>
              <a:ext cx="24663" cy="24663"/>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chemeClr val="dk1"/>
                </a:solidFill>
                <a:latin typeface="Calibri"/>
                <a:ea typeface="Calibri"/>
                <a:cs typeface="Calibri"/>
                <a:sym typeface="Calibri"/>
              </a:endParaRPr>
            </a:p>
          </p:txBody>
        </p:sp>
        <p:sp>
          <p:nvSpPr>
            <p:cNvPr id="473" name="Google Shape;473;p28"/>
            <p:cNvSpPr/>
            <p:nvPr/>
          </p:nvSpPr>
          <p:spPr>
            <a:xfrm>
              <a:off x="2473570" y="3626808"/>
              <a:ext cx="229220" cy="91440"/>
            </a:xfrm>
            <a:custGeom>
              <a:avLst/>
              <a:gdLst/>
              <a:ahLst/>
              <a:cxnLst/>
              <a:rect l="l" t="t" r="r" b="b"/>
              <a:pathLst>
                <a:path w="120000" h="120000" extrusionOk="0">
                  <a:moveTo>
                    <a:pt x="0" y="60000"/>
                  </a:moveTo>
                  <a:lnTo>
                    <a:pt x="120000" y="60000"/>
                  </a:lnTo>
                </a:path>
              </a:pathLst>
            </a:custGeom>
            <a:noFill/>
            <a:ln w="254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4" name="Google Shape;474;p28"/>
            <p:cNvSpPr txBox="1"/>
            <p:nvPr/>
          </p:nvSpPr>
          <p:spPr>
            <a:xfrm>
              <a:off x="2582449" y="3666797"/>
              <a:ext cx="11461" cy="11461"/>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chemeClr val="dk1"/>
                </a:solidFill>
                <a:latin typeface="Calibri"/>
                <a:ea typeface="Calibri"/>
                <a:cs typeface="Calibri"/>
                <a:sym typeface="Calibri"/>
              </a:endParaRPr>
            </a:p>
          </p:txBody>
        </p:sp>
        <p:sp>
          <p:nvSpPr>
            <p:cNvPr id="475" name="Google Shape;475;p28"/>
            <p:cNvSpPr/>
            <p:nvPr/>
          </p:nvSpPr>
          <p:spPr>
            <a:xfrm>
              <a:off x="2473570" y="3235752"/>
              <a:ext cx="229220" cy="436776"/>
            </a:xfrm>
            <a:custGeom>
              <a:avLst/>
              <a:gdLst/>
              <a:ahLst/>
              <a:cxnLst/>
              <a:rect l="l" t="t" r="r" b="b"/>
              <a:pathLst>
                <a:path w="120000" h="120000" extrusionOk="0">
                  <a:moveTo>
                    <a:pt x="0" y="120000"/>
                  </a:moveTo>
                  <a:lnTo>
                    <a:pt x="60000" y="120000"/>
                  </a:lnTo>
                  <a:lnTo>
                    <a:pt x="60000" y="0"/>
                  </a:lnTo>
                  <a:lnTo>
                    <a:pt x="120000" y="0"/>
                  </a:lnTo>
                </a:path>
              </a:pathLst>
            </a:custGeom>
            <a:noFill/>
            <a:ln w="254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6" name="Google Shape;476;p28"/>
            <p:cNvSpPr txBox="1"/>
            <p:nvPr/>
          </p:nvSpPr>
          <p:spPr>
            <a:xfrm>
              <a:off x="2575848" y="3441808"/>
              <a:ext cx="24663" cy="24663"/>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chemeClr val="dk1"/>
                </a:solidFill>
                <a:latin typeface="Calibri"/>
                <a:ea typeface="Calibri"/>
                <a:cs typeface="Calibri"/>
                <a:sym typeface="Calibri"/>
              </a:endParaRPr>
            </a:p>
          </p:txBody>
        </p:sp>
        <p:sp>
          <p:nvSpPr>
            <p:cNvPr id="477" name="Google Shape;477;p28"/>
            <p:cNvSpPr/>
            <p:nvPr/>
          </p:nvSpPr>
          <p:spPr>
            <a:xfrm>
              <a:off x="2473570" y="2798976"/>
              <a:ext cx="229220" cy="873552"/>
            </a:xfrm>
            <a:custGeom>
              <a:avLst/>
              <a:gdLst/>
              <a:ahLst/>
              <a:cxnLst/>
              <a:rect l="l" t="t" r="r" b="b"/>
              <a:pathLst>
                <a:path w="120000" h="120000" extrusionOk="0">
                  <a:moveTo>
                    <a:pt x="0" y="120000"/>
                  </a:moveTo>
                  <a:lnTo>
                    <a:pt x="60000" y="120000"/>
                  </a:lnTo>
                  <a:lnTo>
                    <a:pt x="60000" y="0"/>
                  </a:lnTo>
                  <a:lnTo>
                    <a:pt x="120000" y="0"/>
                  </a:lnTo>
                </a:path>
              </a:pathLst>
            </a:custGeom>
            <a:noFill/>
            <a:ln w="254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8" name="Google Shape;478;p28"/>
            <p:cNvSpPr txBox="1"/>
            <p:nvPr/>
          </p:nvSpPr>
          <p:spPr>
            <a:xfrm>
              <a:off x="2565602" y="3213174"/>
              <a:ext cx="45156" cy="45156"/>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chemeClr val="dk1"/>
                </a:solidFill>
                <a:latin typeface="Calibri"/>
                <a:ea typeface="Calibri"/>
                <a:cs typeface="Calibri"/>
                <a:sym typeface="Calibri"/>
              </a:endParaRPr>
            </a:p>
          </p:txBody>
        </p:sp>
        <p:sp>
          <p:nvSpPr>
            <p:cNvPr id="479" name="Google Shape;479;p28"/>
            <p:cNvSpPr/>
            <p:nvPr/>
          </p:nvSpPr>
          <p:spPr>
            <a:xfrm>
              <a:off x="819792" y="2466289"/>
              <a:ext cx="229220" cy="1206238"/>
            </a:xfrm>
            <a:custGeom>
              <a:avLst/>
              <a:gdLst/>
              <a:ahLst/>
              <a:cxnLst/>
              <a:rect l="l" t="t" r="r" b="b"/>
              <a:pathLst>
                <a:path w="120000" h="120000" extrusionOk="0">
                  <a:moveTo>
                    <a:pt x="0" y="0"/>
                  </a:moveTo>
                  <a:lnTo>
                    <a:pt x="60000" y="0"/>
                  </a:lnTo>
                  <a:lnTo>
                    <a:pt x="60000" y="120000"/>
                  </a:lnTo>
                  <a:lnTo>
                    <a:pt x="120000" y="120000"/>
                  </a:lnTo>
                </a:path>
              </a:pathLst>
            </a:custGeom>
            <a:no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0" name="Google Shape;480;p28"/>
            <p:cNvSpPr txBox="1"/>
            <p:nvPr/>
          </p:nvSpPr>
          <p:spPr>
            <a:xfrm>
              <a:off x="903707" y="3038713"/>
              <a:ext cx="61391" cy="61391"/>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chemeClr val="dk1"/>
                </a:solidFill>
                <a:latin typeface="Calibri"/>
                <a:ea typeface="Calibri"/>
                <a:cs typeface="Calibri"/>
                <a:sym typeface="Calibri"/>
              </a:endParaRPr>
            </a:p>
          </p:txBody>
        </p:sp>
        <p:sp>
          <p:nvSpPr>
            <p:cNvPr id="481" name="Google Shape;481;p28"/>
            <p:cNvSpPr/>
            <p:nvPr/>
          </p:nvSpPr>
          <p:spPr>
            <a:xfrm>
              <a:off x="2473570" y="1270259"/>
              <a:ext cx="229220" cy="1091940"/>
            </a:xfrm>
            <a:custGeom>
              <a:avLst/>
              <a:gdLst/>
              <a:ahLst/>
              <a:cxnLst/>
              <a:rect l="l" t="t" r="r" b="b"/>
              <a:pathLst>
                <a:path w="120000" h="120000" extrusionOk="0">
                  <a:moveTo>
                    <a:pt x="0" y="0"/>
                  </a:moveTo>
                  <a:lnTo>
                    <a:pt x="60000" y="0"/>
                  </a:lnTo>
                  <a:lnTo>
                    <a:pt x="60000" y="120000"/>
                  </a:lnTo>
                  <a:lnTo>
                    <a:pt x="120000" y="120000"/>
                  </a:lnTo>
                </a:path>
              </a:pathLst>
            </a:custGeom>
            <a:noFill/>
            <a:ln w="25400" cap="flat" cmpd="sng">
              <a:solidFill>
                <a:srgbClr val="E36C0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2" name="Google Shape;482;p28"/>
            <p:cNvSpPr txBox="1"/>
            <p:nvPr/>
          </p:nvSpPr>
          <p:spPr>
            <a:xfrm>
              <a:off x="2560286" y="1788336"/>
              <a:ext cx="55786" cy="55786"/>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chemeClr val="dk1"/>
                </a:solidFill>
                <a:latin typeface="Calibri"/>
                <a:ea typeface="Calibri"/>
                <a:cs typeface="Calibri"/>
                <a:sym typeface="Calibri"/>
              </a:endParaRPr>
            </a:p>
          </p:txBody>
        </p:sp>
        <p:sp>
          <p:nvSpPr>
            <p:cNvPr id="483" name="Google Shape;483;p28"/>
            <p:cNvSpPr/>
            <p:nvPr/>
          </p:nvSpPr>
          <p:spPr>
            <a:xfrm>
              <a:off x="2473570" y="1270259"/>
              <a:ext cx="229220" cy="655164"/>
            </a:xfrm>
            <a:custGeom>
              <a:avLst/>
              <a:gdLst/>
              <a:ahLst/>
              <a:cxnLst/>
              <a:rect l="l" t="t" r="r" b="b"/>
              <a:pathLst>
                <a:path w="120000" h="120000" extrusionOk="0">
                  <a:moveTo>
                    <a:pt x="0" y="0"/>
                  </a:moveTo>
                  <a:lnTo>
                    <a:pt x="60000" y="0"/>
                  </a:lnTo>
                  <a:lnTo>
                    <a:pt x="60000" y="120000"/>
                  </a:lnTo>
                  <a:lnTo>
                    <a:pt x="120000" y="120000"/>
                  </a:lnTo>
                </a:path>
              </a:pathLst>
            </a:custGeom>
            <a:noFill/>
            <a:ln w="25400" cap="flat" cmpd="sng">
              <a:solidFill>
                <a:srgbClr val="E36C0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4" name="Google Shape;484;p28"/>
            <p:cNvSpPr txBox="1"/>
            <p:nvPr/>
          </p:nvSpPr>
          <p:spPr>
            <a:xfrm>
              <a:off x="2570827" y="1580489"/>
              <a:ext cx="34705" cy="347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chemeClr val="dk1"/>
                </a:solidFill>
                <a:latin typeface="Calibri"/>
                <a:ea typeface="Calibri"/>
                <a:cs typeface="Calibri"/>
                <a:sym typeface="Calibri"/>
              </a:endParaRPr>
            </a:p>
          </p:txBody>
        </p:sp>
        <p:sp>
          <p:nvSpPr>
            <p:cNvPr id="485" name="Google Shape;485;p28"/>
            <p:cNvSpPr/>
            <p:nvPr/>
          </p:nvSpPr>
          <p:spPr>
            <a:xfrm>
              <a:off x="2473570" y="1270259"/>
              <a:ext cx="229220" cy="218388"/>
            </a:xfrm>
            <a:custGeom>
              <a:avLst/>
              <a:gdLst/>
              <a:ahLst/>
              <a:cxnLst/>
              <a:rect l="l" t="t" r="r" b="b"/>
              <a:pathLst>
                <a:path w="120000" h="120000" extrusionOk="0">
                  <a:moveTo>
                    <a:pt x="0" y="0"/>
                  </a:moveTo>
                  <a:lnTo>
                    <a:pt x="60000" y="0"/>
                  </a:lnTo>
                  <a:lnTo>
                    <a:pt x="60000" y="120000"/>
                  </a:lnTo>
                  <a:lnTo>
                    <a:pt x="120000" y="120000"/>
                  </a:lnTo>
                </a:path>
              </a:pathLst>
            </a:custGeom>
            <a:noFill/>
            <a:ln w="25400" cap="flat" cmpd="sng">
              <a:solidFill>
                <a:srgbClr val="E36C0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6" name="Google Shape;486;p28"/>
            <p:cNvSpPr txBox="1"/>
            <p:nvPr/>
          </p:nvSpPr>
          <p:spPr>
            <a:xfrm>
              <a:off x="2580265" y="1371538"/>
              <a:ext cx="15829" cy="15829"/>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chemeClr val="dk1"/>
                </a:solidFill>
                <a:latin typeface="Calibri"/>
                <a:ea typeface="Calibri"/>
                <a:cs typeface="Calibri"/>
                <a:sym typeface="Calibri"/>
              </a:endParaRPr>
            </a:p>
          </p:txBody>
        </p:sp>
        <p:sp>
          <p:nvSpPr>
            <p:cNvPr id="487" name="Google Shape;487;p28"/>
            <p:cNvSpPr/>
            <p:nvPr/>
          </p:nvSpPr>
          <p:spPr>
            <a:xfrm>
              <a:off x="2473570" y="1051871"/>
              <a:ext cx="229220" cy="218388"/>
            </a:xfrm>
            <a:custGeom>
              <a:avLst/>
              <a:gdLst/>
              <a:ahLst/>
              <a:cxnLst/>
              <a:rect l="l" t="t" r="r" b="b"/>
              <a:pathLst>
                <a:path w="120000" h="120000" extrusionOk="0">
                  <a:moveTo>
                    <a:pt x="0" y="120000"/>
                  </a:moveTo>
                  <a:lnTo>
                    <a:pt x="60000" y="120000"/>
                  </a:lnTo>
                  <a:lnTo>
                    <a:pt x="60000" y="0"/>
                  </a:lnTo>
                  <a:lnTo>
                    <a:pt x="120000" y="0"/>
                  </a:lnTo>
                </a:path>
              </a:pathLst>
            </a:custGeom>
            <a:noFill/>
            <a:ln w="25400" cap="flat" cmpd="sng">
              <a:solidFill>
                <a:srgbClr val="E36C0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8" name="Google Shape;488;p28"/>
            <p:cNvSpPr txBox="1"/>
            <p:nvPr/>
          </p:nvSpPr>
          <p:spPr>
            <a:xfrm>
              <a:off x="2580265" y="1153150"/>
              <a:ext cx="15829" cy="15829"/>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chemeClr val="dk1"/>
                </a:solidFill>
                <a:latin typeface="Calibri"/>
                <a:ea typeface="Calibri"/>
                <a:cs typeface="Calibri"/>
                <a:sym typeface="Calibri"/>
              </a:endParaRPr>
            </a:p>
          </p:txBody>
        </p:sp>
        <p:sp>
          <p:nvSpPr>
            <p:cNvPr id="489" name="Google Shape;489;p28"/>
            <p:cNvSpPr/>
            <p:nvPr/>
          </p:nvSpPr>
          <p:spPr>
            <a:xfrm>
              <a:off x="2473570" y="615095"/>
              <a:ext cx="229220" cy="655164"/>
            </a:xfrm>
            <a:custGeom>
              <a:avLst/>
              <a:gdLst/>
              <a:ahLst/>
              <a:cxnLst/>
              <a:rect l="l" t="t" r="r" b="b"/>
              <a:pathLst>
                <a:path w="120000" h="120000" extrusionOk="0">
                  <a:moveTo>
                    <a:pt x="0" y="120000"/>
                  </a:moveTo>
                  <a:lnTo>
                    <a:pt x="60000" y="120000"/>
                  </a:lnTo>
                  <a:lnTo>
                    <a:pt x="60000" y="0"/>
                  </a:lnTo>
                  <a:lnTo>
                    <a:pt x="120000" y="0"/>
                  </a:lnTo>
                </a:path>
              </a:pathLst>
            </a:custGeom>
            <a:noFill/>
            <a:ln w="25400" cap="flat" cmpd="sng">
              <a:solidFill>
                <a:srgbClr val="E36C0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0" name="Google Shape;490;p28"/>
            <p:cNvSpPr txBox="1"/>
            <p:nvPr/>
          </p:nvSpPr>
          <p:spPr>
            <a:xfrm>
              <a:off x="2570827" y="925324"/>
              <a:ext cx="34705" cy="34705"/>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chemeClr val="dk1"/>
                </a:solidFill>
                <a:latin typeface="Calibri"/>
                <a:ea typeface="Calibri"/>
                <a:cs typeface="Calibri"/>
                <a:sym typeface="Calibri"/>
              </a:endParaRPr>
            </a:p>
          </p:txBody>
        </p:sp>
        <p:sp>
          <p:nvSpPr>
            <p:cNvPr id="491" name="Google Shape;491;p28"/>
            <p:cNvSpPr/>
            <p:nvPr/>
          </p:nvSpPr>
          <p:spPr>
            <a:xfrm>
              <a:off x="2473570" y="178319"/>
              <a:ext cx="229220" cy="1091940"/>
            </a:xfrm>
            <a:custGeom>
              <a:avLst/>
              <a:gdLst/>
              <a:ahLst/>
              <a:cxnLst/>
              <a:rect l="l" t="t" r="r" b="b"/>
              <a:pathLst>
                <a:path w="120000" h="120000" extrusionOk="0">
                  <a:moveTo>
                    <a:pt x="0" y="120000"/>
                  </a:moveTo>
                  <a:lnTo>
                    <a:pt x="60000" y="120000"/>
                  </a:lnTo>
                  <a:lnTo>
                    <a:pt x="60000" y="0"/>
                  </a:lnTo>
                  <a:lnTo>
                    <a:pt x="120000" y="0"/>
                  </a:lnTo>
                </a:path>
              </a:pathLst>
            </a:custGeom>
            <a:noFill/>
            <a:ln w="25400" cap="flat" cmpd="sng">
              <a:solidFill>
                <a:srgbClr val="E36C0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2" name="Google Shape;492;p28"/>
            <p:cNvSpPr txBox="1"/>
            <p:nvPr/>
          </p:nvSpPr>
          <p:spPr>
            <a:xfrm>
              <a:off x="2560286" y="696396"/>
              <a:ext cx="55786" cy="55786"/>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chemeClr val="dk1"/>
                </a:solidFill>
                <a:latin typeface="Calibri"/>
                <a:ea typeface="Calibri"/>
                <a:cs typeface="Calibri"/>
                <a:sym typeface="Calibri"/>
              </a:endParaRPr>
            </a:p>
          </p:txBody>
        </p:sp>
        <p:sp>
          <p:nvSpPr>
            <p:cNvPr id="493" name="Google Shape;493;p28"/>
            <p:cNvSpPr/>
            <p:nvPr/>
          </p:nvSpPr>
          <p:spPr>
            <a:xfrm>
              <a:off x="819792" y="1270259"/>
              <a:ext cx="229220" cy="1196030"/>
            </a:xfrm>
            <a:custGeom>
              <a:avLst/>
              <a:gdLst/>
              <a:ahLst/>
              <a:cxnLst/>
              <a:rect l="l" t="t" r="r" b="b"/>
              <a:pathLst>
                <a:path w="120000" h="120000" extrusionOk="0">
                  <a:moveTo>
                    <a:pt x="0" y="120000"/>
                  </a:moveTo>
                  <a:lnTo>
                    <a:pt x="60000" y="120000"/>
                  </a:lnTo>
                  <a:lnTo>
                    <a:pt x="60000" y="0"/>
                  </a:lnTo>
                  <a:lnTo>
                    <a:pt x="120000" y="0"/>
                  </a:lnTo>
                </a:path>
              </a:pathLst>
            </a:custGeom>
            <a:no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4" name="Google Shape;494;p28"/>
            <p:cNvSpPr txBox="1"/>
            <p:nvPr/>
          </p:nvSpPr>
          <p:spPr>
            <a:xfrm>
              <a:off x="903958" y="1837829"/>
              <a:ext cx="60889" cy="60889"/>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rgbClr val="000000"/>
                </a:buClr>
                <a:buSzPts val="500"/>
                <a:buFont typeface="Arial"/>
                <a:buNone/>
              </a:pPr>
              <a:endParaRPr sz="500" b="0" i="0" u="none" strike="noStrike" cap="none">
                <a:solidFill>
                  <a:schemeClr val="dk1"/>
                </a:solidFill>
                <a:latin typeface="Calibri"/>
                <a:ea typeface="Calibri"/>
                <a:cs typeface="Calibri"/>
                <a:sym typeface="Calibri"/>
              </a:endParaRPr>
            </a:p>
          </p:txBody>
        </p:sp>
        <p:sp>
          <p:nvSpPr>
            <p:cNvPr id="495" name="Google Shape;495;p28"/>
            <p:cNvSpPr/>
            <p:nvPr/>
          </p:nvSpPr>
          <p:spPr>
            <a:xfrm rot="-5400000">
              <a:off x="-274446" y="2291579"/>
              <a:ext cx="1839057" cy="349420"/>
            </a:xfrm>
            <a:prstGeom prst="rect">
              <a:avLst/>
            </a:prstGeom>
            <a:solidFill>
              <a:schemeClr val="dk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6" name="Google Shape;496;p28"/>
            <p:cNvSpPr txBox="1"/>
            <p:nvPr/>
          </p:nvSpPr>
          <p:spPr>
            <a:xfrm rot="10800000">
              <a:off x="-274446" y="2291579"/>
              <a:ext cx="1839057" cy="349420"/>
            </a:xfrm>
            <a:prstGeom prst="rect">
              <a:avLst/>
            </a:prstGeom>
            <a:noFill/>
            <a:ln>
              <a:noFill/>
            </a:ln>
          </p:spPr>
          <p:txBody>
            <a:bodyPr spcFirstLastPara="1" wrap="square" lIns="12700" tIns="12700" rIns="12700" bIns="127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n-US" sz="2000" b="0" i="0" u="none" strike="noStrike" cap="none">
                  <a:solidFill>
                    <a:schemeClr val="lt1"/>
                  </a:solidFill>
                  <a:latin typeface="Calibri"/>
                  <a:ea typeface="Calibri"/>
                  <a:cs typeface="Calibri"/>
                  <a:sym typeface="Calibri"/>
                </a:rPr>
                <a:t>Strategies</a:t>
              </a:r>
              <a:endParaRPr sz="1400" b="0" i="0" u="none" strike="noStrike" cap="none">
                <a:solidFill>
                  <a:srgbClr val="000000"/>
                </a:solidFill>
                <a:latin typeface="Arial"/>
                <a:ea typeface="Arial"/>
                <a:cs typeface="Arial"/>
                <a:sym typeface="Arial"/>
              </a:endParaRPr>
            </a:p>
          </p:txBody>
        </p:sp>
        <p:sp>
          <p:nvSpPr>
            <p:cNvPr id="497" name="Google Shape;497;p28"/>
            <p:cNvSpPr/>
            <p:nvPr/>
          </p:nvSpPr>
          <p:spPr>
            <a:xfrm>
              <a:off x="1049013" y="787920"/>
              <a:ext cx="1424557" cy="964677"/>
            </a:xfrm>
            <a:prstGeom prst="rect">
              <a:avLst/>
            </a:prstGeom>
            <a:solidFill>
              <a:srgbClr val="C000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8" name="Google Shape;498;p28"/>
            <p:cNvSpPr txBox="1"/>
            <p:nvPr/>
          </p:nvSpPr>
          <p:spPr>
            <a:xfrm>
              <a:off x="1049013" y="787920"/>
              <a:ext cx="1424557" cy="96467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Data-Driven Approach </a:t>
              </a:r>
              <a:endParaRPr sz="1800" b="0" i="0" u="none" strike="noStrike" cap="none">
                <a:solidFill>
                  <a:schemeClr val="lt1"/>
                </a:solidFill>
                <a:latin typeface="Calibri"/>
                <a:ea typeface="Calibri"/>
                <a:cs typeface="Calibri"/>
                <a:sym typeface="Calibri"/>
              </a:endParaRPr>
            </a:p>
          </p:txBody>
        </p:sp>
        <p:sp>
          <p:nvSpPr>
            <p:cNvPr id="499" name="Google Shape;499;p28"/>
            <p:cNvSpPr/>
            <p:nvPr/>
          </p:nvSpPr>
          <p:spPr>
            <a:xfrm>
              <a:off x="2702790" y="3608"/>
              <a:ext cx="5513637" cy="349420"/>
            </a:xfrm>
            <a:prstGeom prst="rect">
              <a:avLst/>
            </a:prstGeom>
            <a:solidFill>
              <a:srgbClr val="974806"/>
            </a:solidFill>
            <a:ln w="25400" cap="flat" cmpd="sng">
              <a:solidFill>
                <a:srgbClr val="98480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0" name="Google Shape;500;p28"/>
            <p:cNvSpPr txBox="1"/>
            <p:nvPr/>
          </p:nvSpPr>
          <p:spPr>
            <a:xfrm>
              <a:off x="2702790" y="3608"/>
              <a:ext cx="5513637" cy="349420"/>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lt1"/>
                  </a:solidFill>
                  <a:latin typeface="Calibri"/>
                  <a:ea typeface="Calibri"/>
                  <a:cs typeface="Calibri"/>
                  <a:sym typeface="Calibri"/>
                </a:rPr>
                <a:t>From a given data of a problem toward a goal</a:t>
              </a:r>
              <a:endParaRPr sz="1400" b="0" i="0" u="none" strike="noStrike" cap="none">
                <a:solidFill>
                  <a:srgbClr val="000000"/>
                </a:solidFill>
                <a:latin typeface="Arial"/>
                <a:ea typeface="Arial"/>
                <a:cs typeface="Arial"/>
                <a:sym typeface="Arial"/>
              </a:endParaRPr>
            </a:p>
          </p:txBody>
        </p:sp>
        <p:sp>
          <p:nvSpPr>
            <p:cNvPr id="501" name="Google Shape;501;p28"/>
            <p:cNvSpPr/>
            <p:nvPr/>
          </p:nvSpPr>
          <p:spPr>
            <a:xfrm>
              <a:off x="2702790" y="440385"/>
              <a:ext cx="5513637" cy="349420"/>
            </a:xfrm>
            <a:prstGeom prst="rect">
              <a:avLst/>
            </a:prstGeom>
            <a:solidFill>
              <a:srgbClr val="974806"/>
            </a:solidFill>
            <a:ln w="25400" cap="flat" cmpd="sng">
              <a:solidFill>
                <a:srgbClr val="98480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2" name="Google Shape;502;p28"/>
            <p:cNvSpPr txBox="1"/>
            <p:nvPr/>
          </p:nvSpPr>
          <p:spPr>
            <a:xfrm>
              <a:off x="2702790" y="440385"/>
              <a:ext cx="5513637" cy="349420"/>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lt1"/>
                  </a:solidFill>
                  <a:latin typeface="Calibri"/>
                  <a:ea typeface="Calibri"/>
                  <a:cs typeface="Calibri"/>
                  <a:sym typeface="Calibri"/>
                </a:rPr>
                <a:t>Also called forward chaining</a:t>
              </a:r>
              <a:endParaRPr sz="1400" b="0" i="0" u="none" strike="noStrike" cap="none">
                <a:solidFill>
                  <a:srgbClr val="000000"/>
                </a:solidFill>
                <a:latin typeface="Arial"/>
                <a:ea typeface="Arial"/>
                <a:cs typeface="Arial"/>
                <a:sym typeface="Arial"/>
              </a:endParaRPr>
            </a:p>
          </p:txBody>
        </p:sp>
        <p:sp>
          <p:nvSpPr>
            <p:cNvPr id="503" name="Google Shape;503;p28"/>
            <p:cNvSpPr/>
            <p:nvPr/>
          </p:nvSpPr>
          <p:spPr>
            <a:xfrm>
              <a:off x="2702790" y="877161"/>
              <a:ext cx="5513637" cy="349420"/>
            </a:xfrm>
            <a:prstGeom prst="rect">
              <a:avLst/>
            </a:prstGeom>
            <a:solidFill>
              <a:srgbClr val="974806"/>
            </a:solidFill>
            <a:ln w="25400" cap="flat" cmpd="sng">
              <a:solidFill>
                <a:srgbClr val="98480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4" name="Google Shape;504;p28"/>
            <p:cNvSpPr txBox="1"/>
            <p:nvPr/>
          </p:nvSpPr>
          <p:spPr>
            <a:xfrm>
              <a:off x="2702790" y="877161"/>
              <a:ext cx="5513637" cy="349420"/>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lt1"/>
                  </a:solidFill>
                  <a:latin typeface="Calibri"/>
                  <a:ea typeface="Calibri"/>
                  <a:cs typeface="Calibri"/>
                  <a:sym typeface="Calibri"/>
                </a:rPr>
                <a:t>Given facts, rules</a:t>
              </a:r>
              <a:endParaRPr sz="1400" b="0" i="0" u="none" strike="noStrike" cap="none">
                <a:solidFill>
                  <a:srgbClr val="000000"/>
                </a:solidFill>
                <a:latin typeface="Arial"/>
                <a:ea typeface="Arial"/>
                <a:cs typeface="Arial"/>
                <a:sym typeface="Arial"/>
              </a:endParaRPr>
            </a:p>
          </p:txBody>
        </p:sp>
        <p:sp>
          <p:nvSpPr>
            <p:cNvPr id="505" name="Google Shape;505;p28"/>
            <p:cNvSpPr/>
            <p:nvPr/>
          </p:nvSpPr>
          <p:spPr>
            <a:xfrm>
              <a:off x="2702790" y="1313937"/>
              <a:ext cx="5513637" cy="349420"/>
            </a:xfrm>
            <a:prstGeom prst="rect">
              <a:avLst/>
            </a:prstGeom>
            <a:solidFill>
              <a:srgbClr val="974806"/>
            </a:solidFill>
            <a:ln w="25400" cap="flat" cmpd="sng">
              <a:solidFill>
                <a:srgbClr val="98480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6" name="Google Shape;506;p28"/>
            <p:cNvSpPr txBox="1"/>
            <p:nvPr/>
          </p:nvSpPr>
          <p:spPr>
            <a:xfrm>
              <a:off x="2702790" y="1313937"/>
              <a:ext cx="5513637" cy="349420"/>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lt1"/>
                  </a:solidFill>
                  <a:latin typeface="Calibri"/>
                  <a:ea typeface="Calibri"/>
                  <a:cs typeface="Calibri"/>
                  <a:sym typeface="Calibri"/>
                </a:rPr>
                <a:t>Apply rules to facts to produce new facts</a:t>
              </a:r>
              <a:endParaRPr sz="1400" b="0" i="0" u="none" strike="noStrike" cap="none">
                <a:solidFill>
                  <a:srgbClr val="000000"/>
                </a:solidFill>
                <a:latin typeface="Arial"/>
                <a:ea typeface="Arial"/>
                <a:cs typeface="Arial"/>
                <a:sym typeface="Arial"/>
              </a:endParaRPr>
            </a:p>
          </p:txBody>
        </p:sp>
        <p:sp>
          <p:nvSpPr>
            <p:cNvPr id="507" name="Google Shape;507;p28"/>
            <p:cNvSpPr/>
            <p:nvPr/>
          </p:nvSpPr>
          <p:spPr>
            <a:xfrm>
              <a:off x="2702790" y="1750713"/>
              <a:ext cx="5513637" cy="349420"/>
            </a:xfrm>
            <a:prstGeom prst="rect">
              <a:avLst/>
            </a:prstGeom>
            <a:solidFill>
              <a:srgbClr val="974806"/>
            </a:solidFill>
            <a:ln w="25400" cap="flat" cmpd="sng">
              <a:solidFill>
                <a:srgbClr val="98480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8" name="Google Shape;508;p28"/>
            <p:cNvSpPr txBox="1"/>
            <p:nvPr/>
          </p:nvSpPr>
          <p:spPr>
            <a:xfrm>
              <a:off x="2702790" y="1750713"/>
              <a:ext cx="5513637" cy="349420"/>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lt1"/>
                  </a:solidFill>
                  <a:latin typeface="Calibri"/>
                  <a:ea typeface="Calibri"/>
                  <a:cs typeface="Calibri"/>
                  <a:sym typeface="Calibri"/>
                </a:rPr>
                <a:t>Rules use new facts to produce more new facts</a:t>
              </a:r>
              <a:endParaRPr sz="1400" b="0" i="0" u="none" strike="noStrike" cap="none">
                <a:solidFill>
                  <a:srgbClr val="000000"/>
                </a:solidFill>
                <a:latin typeface="Arial"/>
                <a:ea typeface="Arial"/>
                <a:cs typeface="Arial"/>
                <a:sym typeface="Arial"/>
              </a:endParaRPr>
            </a:p>
          </p:txBody>
        </p:sp>
        <p:sp>
          <p:nvSpPr>
            <p:cNvPr id="509" name="Google Shape;509;p28"/>
            <p:cNvSpPr/>
            <p:nvPr/>
          </p:nvSpPr>
          <p:spPr>
            <a:xfrm>
              <a:off x="2702790" y="2187489"/>
              <a:ext cx="5513637" cy="349420"/>
            </a:xfrm>
            <a:prstGeom prst="rect">
              <a:avLst/>
            </a:prstGeom>
            <a:solidFill>
              <a:srgbClr val="974806"/>
            </a:solidFill>
            <a:ln w="25400" cap="flat" cmpd="sng">
              <a:solidFill>
                <a:srgbClr val="98480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0" name="Google Shape;510;p28"/>
            <p:cNvSpPr txBox="1"/>
            <p:nvPr/>
          </p:nvSpPr>
          <p:spPr>
            <a:xfrm>
              <a:off x="2702790" y="2187489"/>
              <a:ext cx="5513637" cy="349420"/>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lt1"/>
                  </a:solidFill>
                  <a:latin typeface="Calibri"/>
                  <a:ea typeface="Calibri"/>
                  <a:cs typeface="Calibri"/>
                  <a:sym typeface="Calibri"/>
                </a:rPr>
                <a:t>Search continues until a path that satisfies goal is generated</a:t>
              </a:r>
              <a:endParaRPr sz="1400" b="0" i="0" u="none" strike="noStrike" cap="none">
                <a:solidFill>
                  <a:srgbClr val="000000"/>
                </a:solidFill>
                <a:latin typeface="Arial"/>
                <a:ea typeface="Arial"/>
                <a:cs typeface="Arial"/>
                <a:sym typeface="Arial"/>
              </a:endParaRPr>
            </a:p>
          </p:txBody>
        </p:sp>
        <p:sp>
          <p:nvSpPr>
            <p:cNvPr id="511" name="Google Shape;511;p28"/>
            <p:cNvSpPr/>
            <p:nvPr/>
          </p:nvSpPr>
          <p:spPr>
            <a:xfrm>
              <a:off x="1049013" y="3200397"/>
              <a:ext cx="1424557" cy="944261"/>
            </a:xfrm>
            <a:prstGeom prst="rect">
              <a:avLst/>
            </a:prstGeom>
            <a:solidFill>
              <a:schemeClr val="accent5"/>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2" name="Google Shape;512;p28"/>
            <p:cNvSpPr txBox="1"/>
            <p:nvPr/>
          </p:nvSpPr>
          <p:spPr>
            <a:xfrm>
              <a:off x="1049013" y="3200397"/>
              <a:ext cx="1424557" cy="944261"/>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rgbClr val="000000"/>
                </a:buClr>
                <a:buSzPts val="1800"/>
                <a:buFont typeface="Arial"/>
                <a:buNone/>
              </a:pPr>
              <a:r>
                <a:rPr lang="en-US" sz="1800" b="1" i="0" u="none" strike="noStrike" cap="none">
                  <a:solidFill>
                    <a:schemeClr val="lt1"/>
                  </a:solidFill>
                  <a:latin typeface="Calibri"/>
                  <a:ea typeface="Calibri"/>
                  <a:cs typeface="Calibri"/>
                  <a:sym typeface="Calibri"/>
                </a:rPr>
                <a:t>Goal-Driven Approach </a:t>
              </a:r>
              <a:endParaRPr sz="1400" b="0" i="0" u="none" strike="noStrike" cap="none">
                <a:solidFill>
                  <a:srgbClr val="000000"/>
                </a:solidFill>
                <a:latin typeface="Arial"/>
                <a:ea typeface="Arial"/>
                <a:cs typeface="Arial"/>
                <a:sym typeface="Arial"/>
              </a:endParaRPr>
            </a:p>
          </p:txBody>
        </p:sp>
        <p:sp>
          <p:nvSpPr>
            <p:cNvPr id="513" name="Google Shape;513;p28"/>
            <p:cNvSpPr/>
            <p:nvPr/>
          </p:nvSpPr>
          <p:spPr>
            <a:xfrm>
              <a:off x="2702790" y="2624265"/>
              <a:ext cx="5513637" cy="349420"/>
            </a:xfrm>
            <a:prstGeom prst="rect">
              <a:avLst/>
            </a:prstGeom>
            <a:solidFill>
              <a:srgbClr val="0070C0"/>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4" name="Google Shape;514;p28"/>
            <p:cNvSpPr txBox="1"/>
            <p:nvPr/>
          </p:nvSpPr>
          <p:spPr>
            <a:xfrm>
              <a:off x="2702790" y="2624265"/>
              <a:ext cx="5513637" cy="349420"/>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lt1"/>
                  </a:solidFill>
                  <a:latin typeface="Calibri"/>
                  <a:ea typeface="Calibri"/>
                  <a:cs typeface="Calibri"/>
                  <a:sym typeface="Calibri"/>
                </a:rPr>
                <a:t>From a goal back to data</a:t>
              </a:r>
              <a:endParaRPr sz="1400" b="0" i="0" u="none" strike="noStrike" cap="none">
                <a:solidFill>
                  <a:srgbClr val="000000"/>
                </a:solidFill>
                <a:latin typeface="Arial"/>
                <a:ea typeface="Arial"/>
                <a:cs typeface="Arial"/>
                <a:sym typeface="Arial"/>
              </a:endParaRPr>
            </a:p>
          </p:txBody>
        </p:sp>
        <p:sp>
          <p:nvSpPr>
            <p:cNvPr id="515" name="Google Shape;515;p28"/>
            <p:cNvSpPr/>
            <p:nvPr/>
          </p:nvSpPr>
          <p:spPr>
            <a:xfrm>
              <a:off x="2702790" y="3061041"/>
              <a:ext cx="5513637" cy="349420"/>
            </a:xfrm>
            <a:prstGeom prst="rect">
              <a:avLst/>
            </a:prstGeom>
            <a:solidFill>
              <a:srgbClr val="0070C0"/>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6" name="Google Shape;516;p28"/>
            <p:cNvSpPr txBox="1"/>
            <p:nvPr/>
          </p:nvSpPr>
          <p:spPr>
            <a:xfrm>
              <a:off x="2702790" y="3061041"/>
              <a:ext cx="5513637" cy="349420"/>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lt1"/>
                  </a:solidFill>
                  <a:latin typeface="Calibri"/>
                  <a:ea typeface="Calibri"/>
                  <a:cs typeface="Calibri"/>
                  <a:sym typeface="Calibri"/>
                </a:rPr>
                <a:t>Also called backward chaining</a:t>
              </a:r>
              <a:endParaRPr sz="1400" b="0" i="0" u="none" strike="noStrike" cap="none">
                <a:solidFill>
                  <a:srgbClr val="000000"/>
                </a:solidFill>
                <a:latin typeface="Arial"/>
                <a:ea typeface="Arial"/>
                <a:cs typeface="Arial"/>
                <a:sym typeface="Arial"/>
              </a:endParaRPr>
            </a:p>
          </p:txBody>
        </p:sp>
        <p:sp>
          <p:nvSpPr>
            <p:cNvPr id="517" name="Google Shape;517;p28"/>
            <p:cNvSpPr/>
            <p:nvPr/>
          </p:nvSpPr>
          <p:spPr>
            <a:xfrm>
              <a:off x="2702790" y="3497817"/>
              <a:ext cx="5513637" cy="349420"/>
            </a:xfrm>
            <a:prstGeom prst="rect">
              <a:avLst/>
            </a:prstGeom>
            <a:solidFill>
              <a:srgbClr val="0070C0"/>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8" name="Google Shape;518;p28"/>
            <p:cNvSpPr txBox="1"/>
            <p:nvPr/>
          </p:nvSpPr>
          <p:spPr>
            <a:xfrm>
              <a:off x="2702790" y="3497817"/>
              <a:ext cx="5513637" cy="349420"/>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lt1"/>
                  </a:solidFill>
                  <a:latin typeface="Calibri"/>
                  <a:ea typeface="Calibri"/>
                  <a:cs typeface="Calibri"/>
                  <a:sym typeface="Calibri"/>
                </a:rPr>
                <a:t>Take the goal, see what rules apply and which conditions are true to use</a:t>
              </a:r>
              <a:endParaRPr sz="1400" b="0" i="0" u="none" strike="noStrike" cap="none">
                <a:solidFill>
                  <a:srgbClr val="000000"/>
                </a:solidFill>
                <a:latin typeface="Arial"/>
                <a:ea typeface="Arial"/>
                <a:cs typeface="Arial"/>
                <a:sym typeface="Arial"/>
              </a:endParaRPr>
            </a:p>
          </p:txBody>
        </p:sp>
        <p:sp>
          <p:nvSpPr>
            <p:cNvPr id="519" name="Google Shape;519;p28"/>
            <p:cNvSpPr/>
            <p:nvPr/>
          </p:nvSpPr>
          <p:spPr>
            <a:xfrm>
              <a:off x="2702790" y="3934594"/>
              <a:ext cx="5513637" cy="349420"/>
            </a:xfrm>
            <a:prstGeom prst="rect">
              <a:avLst/>
            </a:prstGeom>
            <a:solidFill>
              <a:srgbClr val="0070C0"/>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0" name="Google Shape;520;p28"/>
            <p:cNvSpPr txBox="1"/>
            <p:nvPr/>
          </p:nvSpPr>
          <p:spPr>
            <a:xfrm>
              <a:off x="2702790" y="3934594"/>
              <a:ext cx="5513637" cy="349420"/>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lt1"/>
                  </a:solidFill>
                  <a:latin typeface="Calibri"/>
                  <a:ea typeface="Calibri"/>
                  <a:cs typeface="Calibri"/>
                  <a:sym typeface="Calibri"/>
                </a:rPr>
                <a:t>The condition becomes subgoal</a:t>
              </a:r>
              <a:endParaRPr sz="1400" b="0" i="0" u="none" strike="noStrike" cap="none">
                <a:solidFill>
                  <a:schemeClr val="lt1"/>
                </a:solidFill>
                <a:latin typeface="Calibri"/>
                <a:ea typeface="Calibri"/>
                <a:cs typeface="Calibri"/>
                <a:sym typeface="Calibri"/>
              </a:endParaRPr>
            </a:p>
          </p:txBody>
        </p:sp>
        <p:sp>
          <p:nvSpPr>
            <p:cNvPr id="521" name="Google Shape;521;p28"/>
            <p:cNvSpPr/>
            <p:nvPr/>
          </p:nvSpPr>
          <p:spPr>
            <a:xfrm>
              <a:off x="2702790" y="4371370"/>
              <a:ext cx="5513637" cy="349420"/>
            </a:xfrm>
            <a:prstGeom prst="rect">
              <a:avLst/>
            </a:prstGeom>
            <a:solidFill>
              <a:srgbClr val="0070C0"/>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2" name="Google Shape;522;p28"/>
            <p:cNvSpPr txBox="1"/>
            <p:nvPr/>
          </p:nvSpPr>
          <p:spPr>
            <a:xfrm>
              <a:off x="2702790" y="4371370"/>
              <a:ext cx="5513637" cy="349420"/>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US" sz="1400" b="0" i="0" u="none" strike="noStrike" cap="none">
                  <a:solidFill>
                    <a:schemeClr val="lt1"/>
                  </a:solidFill>
                  <a:latin typeface="Calibri"/>
                  <a:ea typeface="Calibri"/>
                  <a:cs typeface="Calibri"/>
                  <a:sym typeface="Calibri"/>
                </a:rPr>
                <a:t>Search continues backward through rules and subgoals to the given facts</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29"/>
          <p:cNvSpPr/>
          <p:nvPr/>
        </p:nvSpPr>
        <p:spPr>
          <a:xfrm>
            <a:off x="0" y="457200"/>
            <a:ext cx="9144000" cy="685800"/>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Roboto"/>
                <a:ea typeface="Roboto"/>
                <a:cs typeface="Roboto"/>
                <a:sym typeface="Roboto"/>
              </a:rPr>
              <a:t>Selection of a Search Strategy</a:t>
            </a:r>
            <a:endParaRPr sz="3400" b="1" i="0" u="none" strike="noStrike" cap="none">
              <a:solidFill>
                <a:srgbClr val="C00000"/>
              </a:solidFill>
              <a:latin typeface="Roboto"/>
              <a:ea typeface="Roboto"/>
              <a:cs typeface="Roboto"/>
              <a:sym typeface="Roboto"/>
            </a:endParaRPr>
          </a:p>
        </p:txBody>
      </p:sp>
      <p:sp>
        <p:nvSpPr>
          <p:cNvPr id="529" name="Google Shape;529;p29"/>
          <p:cNvSpPr/>
          <p:nvPr/>
        </p:nvSpPr>
        <p:spPr>
          <a:xfrm>
            <a:off x="533400" y="1600200"/>
            <a:ext cx="8382000" cy="470898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C00000"/>
                </a:solidFill>
                <a:latin typeface="Calibri"/>
                <a:ea typeface="Calibri"/>
                <a:cs typeface="Calibri"/>
                <a:sym typeface="Calibri"/>
              </a:rPr>
              <a:t>Data-driven search </a:t>
            </a:r>
            <a:r>
              <a:rPr lang="en-US" sz="2000" b="0" i="0" u="none" strike="noStrike" cap="none">
                <a:solidFill>
                  <a:schemeClr val="dk1"/>
                </a:solidFill>
                <a:latin typeface="Calibri"/>
                <a:ea typeface="Calibri"/>
                <a:cs typeface="Calibri"/>
                <a:sym typeface="Calibri"/>
              </a:rPr>
              <a:t>will by preferred for problems in which: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All are most of the data are given in the initial problem statement</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There are a large number of potential goals, but there are only a few ways to use the facts and given information of a particular problem instance</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It is difficult to form a goal or hypothesis. </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3898B2"/>
                </a:solidFill>
                <a:latin typeface="Calibri"/>
                <a:ea typeface="Calibri"/>
                <a:cs typeface="Calibri"/>
                <a:sym typeface="Calibri"/>
              </a:rPr>
              <a:t>Goal-driven search</a:t>
            </a:r>
            <a:r>
              <a:rPr lang="en-US" sz="2000" b="0" i="0" u="none" strike="noStrike" cap="none">
                <a:solidFill>
                  <a:schemeClr val="dk1"/>
                </a:solidFill>
                <a:latin typeface="Calibri"/>
                <a:ea typeface="Calibri"/>
                <a:cs typeface="Calibri"/>
                <a:sym typeface="Calibri"/>
              </a:rPr>
              <a:t> will be preferred for problems in which:</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A goal or hypothesis is given in the initial problem statement or can easily be formulated</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There are a large number of rules that match the facts of the problem and thus produce an increasing number of conclusions or goals. Early selection of a goal can eliminate most of these branches, making goal driven search more effective</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Problem data are not given but must be acquired by the problem solver. In this case goal driven search can help guide data acquisition. </a:t>
            </a: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3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535" name="Google Shape;535;p3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536" name="Google Shape;536;p3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30</a:t>
            </a:fld>
            <a:endParaRPr/>
          </a:p>
        </p:txBody>
      </p:sp>
      <p:sp>
        <p:nvSpPr>
          <p:cNvPr id="537" name="Google Shape;537;p30"/>
          <p:cNvSpPr/>
          <p:nvPr/>
        </p:nvSpPr>
        <p:spPr>
          <a:xfrm>
            <a:off x="0" y="457200"/>
            <a:ext cx="9144000" cy="685800"/>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Roboto"/>
                <a:ea typeface="Roboto"/>
                <a:cs typeface="Roboto"/>
                <a:sym typeface="Roboto"/>
              </a:rPr>
              <a:t>Implementation of Graph Search : </a:t>
            </a:r>
            <a:r>
              <a:rPr lang="en-US" sz="3400" b="1" i="0" u="none" strike="noStrike" cap="none">
                <a:solidFill>
                  <a:srgbClr val="C00000"/>
                </a:solidFill>
                <a:latin typeface="Roboto"/>
                <a:ea typeface="Roboto"/>
                <a:cs typeface="Roboto"/>
                <a:sym typeface="Roboto"/>
              </a:rPr>
              <a:t>Intro</a:t>
            </a:r>
            <a:endParaRPr sz="1400" b="0" i="0" u="none" strike="noStrike" cap="none">
              <a:solidFill>
                <a:srgbClr val="000000"/>
              </a:solidFill>
              <a:latin typeface="Arial"/>
              <a:ea typeface="Arial"/>
              <a:cs typeface="Arial"/>
              <a:sym typeface="Arial"/>
            </a:endParaRPr>
          </a:p>
        </p:txBody>
      </p:sp>
      <p:sp>
        <p:nvSpPr>
          <p:cNvPr id="538" name="Google Shape;538;p30"/>
          <p:cNvSpPr/>
          <p:nvPr/>
        </p:nvSpPr>
        <p:spPr>
          <a:xfrm>
            <a:off x="602877" y="2016894"/>
            <a:ext cx="7924800" cy="304698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In solving a problem using either </a:t>
            </a:r>
            <a:r>
              <a:rPr lang="en-US" sz="2400" b="0" i="0" u="none" strike="noStrike" cap="none">
                <a:solidFill>
                  <a:srgbClr val="C00000"/>
                </a:solidFill>
                <a:latin typeface="Calibri"/>
                <a:ea typeface="Calibri"/>
                <a:cs typeface="Calibri"/>
                <a:sym typeface="Calibri"/>
              </a:rPr>
              <a:t>Data-driven</a:t>
            </a:r>
            <a:r>
              <a:rPr lang="en-US" sz="2400" b="0" i="0" u="none" strike="noStrike" cap="none">
                <a:solidFill>
                  <a:schemeClr val="dk1"/>
                </a:solidFill>
                <a:latin typeface="Calibri"/>
                <a:ea typeface="Calibri"/>
                <a:cs typeface="Calibri"/>
                <a:sym typeface="Calibri"/>
              </a:rPr>
              <a:t> or </a:t>
            </a:r>
            <a:r>
              <a:rPr lang="en-US" sz="2400" b="0" i="0" u="none" strike="noStrike" cap="none">
                <a:solidFill>
                  <a:srgbClr val="3898B2"/>
                </a:solidFill>
                <a:latin typeface="Calibri"/>
                <a:ea typeface="Calibri"/>
                <a:cs typeface="Calibri"/>
                <a:sym typeface="Calibri"/>
              </a:rPr>
              <a:t>Goal-driven</a:t>
            </a:r>
            <a:r>
              <a:rPr lang="en-US" sz="2400" b="0" i="0" u="none" strike="noStrike" cap="none">
                <a:solidFill>
                  <a:schemeClr val="dk1"/>
                </a:solidFill>
                <a:latin typeface="Calibri"/>
                <a:ea typeface="Calibri"/>
                <a:cs typeface="Calibri"/>
                <a:sym typeface="Calibri"/>
              </a:rPr>
              <a:t> approaches, a problem solver must find a path from a start to a goal through the state space graph.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120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The sequence of the arcs in this path corresponds to the ordered steps of the solution.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120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A problem solver must consider different paths until it finds a goal.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3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544" name="Google Shape;544;p3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545" name="Google Shape;545;p3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31</a:t>
            </a:fld>
            <a:endParaRPr/>
          </a:p>
        </p:txBody>
      </p:sp>
      <p:sp>
        <p:nvSpPr>
          <p:cNvPr id="546" name="Google Shape;546;p31"/>
          <p:cNvSpPr/>
          <p:nvPr/>
        </p:nvSpPr>
        <p:spPr>
          <a:xfrm>
            <a:off x="0" y="457200"/>
            <a:ext cx="9144000" cy="685800"/>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chemeClr val="dk1"/>
                </a:solidFill>
                <a:latin typeface="Roboto"/>
                <a:ea typeface="Roboto"/>
                <a:cs typeface="Roboto"/>
                <a:sym typeface="Roboto"/>
              </a:rPr>
              <a:t>Implementation of Graph Search : </a:t>
            </a:r>
            <a:r>
              <a:rPr lang="en-US" sz="3200" b="1" i="0" u="none" strike="noStrike" cap="none">
                <a:solidFill>
                  <a:srgbClr val="C00000"/>
                </a:solidFill>
                <a:latin typeface="Roboto"/>
                <a:ea typeface="Roboto"/>
                <a:cs typeface="Roboto"/>
                <a:sym typeface="Roboto"/>
              </a:rPr>
              <a:t>Backtracking</a:t>
            </a:r>
            <a:endParaRPr sz="1400" b="0" i="0" u="none" strike="noStrike" cap="none">
              <a:solidFill>
                <a:srgbClr val="000000"/>
              </a:solidFill>
              <a:latin typeface="Arial"/>
              <a:ea typeface="Arial"/>
              <a:cs typeface="Arial"/>
              <a:sym typeface="Arial"/>
            </a:endParaRPr>
          </a:p>
        </p:txBody>
      </p:sp>
      <p:sp>
        <p:nvSpPr>
          <p:cNvPr id="547" name="Google Shape;547;p31"/>
          <p:cNvSpPr/>
          <p:nvPr/>
        </p:nvSpPr>
        <p:spPr>
          <a:xfrm>
            <a:off x="457200" y="1524000"/>
            <a:ext cx="8382000" cy="4555093"/>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The algorithm begins at start state, pursue a path until reaches either a goal or a dead end</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If it finds a goal, it returns the path</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It finds a </a:t>
            </a:r>
            <a:r>
              <a:rPr lang="en-US" sz="2000" b="0" i="0" u="none" strike="noStrike" cap="none">
                <a:solidFill>
                  <a:srgbClr val="FF0000"/>
                </a:solidFill>
                <a:latin typeface="Calibri"/>
                <a:ea typeface="Calibri"/>
                <a:cs typeface="Calibri"/>
                <a:sym typeface="Calibri"/>
              </a:rPr>
              <a:t>dead end</a:t>
            </a:r>
            <a:r>
              <a:rPr lang="en-US" sz="20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It backtracks to the most recent node on the path (node S)</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Pursue a new path along one of unexamined child of node S</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If the backtrack does not find a goal in this subgraph. Repeat the procedure for all siblings of node S</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If none of the siblings leads to a goal. Then backtrack to the parent node of node S</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The procedure may be applied to all siblings of node S, and so 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3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553" name="Google Shape;553;p3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554" name="Google Shape;554;p3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32</a:t>
            </a:fld>
            <a:endParaRPr/>
          </a:p>
        </p:txBody>
      </p:sp>
      <p:sp>
        <p:nvSpPr>
          <p:cNvPr id="555" name="Google Shape;555;p32"/>
          <p:cNvSpPr/>
          <p:nvPr/>
        </p:nvSpPr>
        <p:spPr>
          <a:xfrm>
            <a:off x="0" y="457200"/>
            <a:ext cx="9144000" cy="685800"/>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Roboto"/>
                <a:ea typeface="Roboto"/>
                <a:cs typeface="Roboto"/>
                <a:sym typeface="Roboto"/>
              </a:rPr>
              <a:t>Implementation of Graph Search</a:t>
            </a:r>
            <a:endParaRPr sz="3400" b="1" i="0" u="none" strike="noStrike" cap="none">
              <a:solidFill>
                <a:srgbClr val="C00000"/>
              </a:solidFill>
              <a:latin typeface="Roboto"/>
              <a:ea typeface="Roboto"/>
              <a:cs typeface="Roboto"/>
              <a:sym typeface="Roboto"/>
            </a:endParaRPr>
          </a:p>
        </p:txBody>
      </p:sp>
      <p:sp>
        <p:nvSpPr>
          <p:cNvPr id="556" name="Google Shape;556;p32"/>
          <p:cNvSpPr/>
          <p:nvPr/>
        </p:nvSpPr>
        <p:spPr>
          <a:xfrm>
            <a:off x="190500" y="1458754"/>
            <a:ext cx="8763000" cy="517064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An algorithm which performs a backtrack search uses three lists to keep track of nodes in the state space. It begins search at start state and continues until it reaches a GOAL or ‘</a:t>
            </a:r>
            <a:r>
              <a:rPr lang="en-US" sz="2000" b="0" i="0" u="none" strike="noStrike" cap="none">
                <a:solidFill>
                  <a:srgbClr val="FF0000"/>
                </a:solidFill>
                <a:latin typeface="Calibri"/>
                <a:ea typeface="Calibri"/>
                <a:cs typeface="Calibri"/>
                <a:sym typeface="Calibri"/>
              </a:rPr>
              <a:t>DEAD END</a:t>
            </a:r>
            <a:r>
              <a:rPr lang="en-US" sz="20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If found GOAL, it quits and return solution path. If found dead-end, it backtracks to the most recent unvisited nodes.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Use lists to keep track nodes in state space: </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rgbClr val="008000"/>
              </a:buClr>
              <a:buSzPts val="2000"/>
              <a:buFont typeface="Arial"/>
              <a:buChar char="•"/>
            </a:pPr>
            <a:r>
              <a:rPr lang="en-US" sz="2000" b="0" i="0" u="none" strike="noStrike" cap="none">
                <a:solidFill>
                  <a:srgbClr val="008000"/>
                </a:solidFill>
                <a:latin typeface="Calibri"/>
                <a:ea typeface="Calibri"/>
                <a:cs typeface="Calibri"/>
                <a:sym typeface="Calibri"/>
              </a:rPr>
              <a:t>STATE LIST(SL): </a:t>
            </a:r>
            <a:r>
              <a:rPr lang="en-US" sz="2000" b="0" i="0" u="none" strike="noStrike" cap="none">
                <a:solidFill>
                  <a:schemeClr val="dk1"/>
                </a:solidFill>
                <a:latin typeface="Calibri"/>
                <a:ea typeface="Calibri"/>
                <a:cs typeface="Calibri"/>
                <a:sym typeface="Calibri"/>
              </a:rPr>
              <a:t>current path tried</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rgbClr val="3898B2"/>
              </a:buClr>
              <a:buSzPts val="2000"/>
              <a:buFont typeface="Arial"/>
              <a:buChar char="•"/>
            </a:pPr>
            <a:r>
              <a:rPr lang="en-US" sz="2000" b="0" i="0" u="none" strike="noStrike" cap="none">
                <a:solidFill>
                  <a:srgbClr val="3898B2"/>
                </a:solidFill>
                <a:latin typeface="Calibri"/>
                <a:ea typeface="Calibri"/>
                <a:cs typeface="Calibri"/>
                <a:sym typeface="Calibri"/>
              </a:rPr>
              <a:t>NEW STATE LIST(NSTL): </a:t>
            </a:r>
            <a:r>
              <a:rPr lang="en-US" sz="2000" b="0" i="0" u="none" strike="noStrike" cap="none">
                <a:solidFill>
                  <a:schemeClr val="dk1"/>
                </a:solidFill>
                <a:latin typeface="Calibri"/>
                <a:ea typeface="Calibri"/>
                <a:cs typeface="Calibri"/>
                <a:sym typeface="Calibri"/>
              </a:rPr>
              <a:t>nodes to be visited</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rgbClr val="E36C09"/>
              </a:buClr>
              <a:buSzPts val="2000"/>
              <a:buFont typeface="Arial"/>
              <a:buChar char="•"/>
            </a:pPr>
            <a:r>
              <a:rPr lang="en-US" sz="2000" b="0" i="0" u="none" strike="noStrike" cap="none">
                <a:solidFill>
                  <a:srgbClr val="E36C09"/>
                </a:solidFill>
                <a:latin typeface="Calibri"/>
                <a:ea typeface="Calibri"/>
                <a:cs typeface="Calibri"/>
                <a:sym typeface="Calibri"/>
              </a:rPr>
              <a:t>DEAD END (DE): </a:t>
            </a:r>
            <a:r>
              <a:rPr lang="en-US" sz="2000" b="0" i="0" u="none" strike="noStrike" cap="none">
                <a:solidFill>
                  <a:schemeClr val="dk1"/>
                </a:solidFill>
                <a:latin typeface="Calibri"/>
                <a:ea typeface="Calibri"/>
                <a:cs typeface="Calibri"/>
                <a:sym typeface="Calibri"/>
              </a:rPr>
              <a:t>states failed nodes and eliminated from evaluation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To avoid re-entry of a state already occurred (to avoid loops), each newly generated state is tested for membership in above lists. If new state belongs to any of these lists, it has already been visited so may be ignored.</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10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Advantage: keep track states in search; breadth-first, depth-first and best-first exploits this idea in backtracking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3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562" name="Google Shape;562;p3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563" name="Google Shape;563;p3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33</a:t>
            </a:fld>
            <a:endParaRPr/>
          </a:p>
        </p:txBody>
      </p:sp>
      <p:sp>
        <p:nvSpPr>
          <p:cNvPr id="564" name="Google Shape;564;p33"/>
          <p:cNvSpPr/>
          <p:nvPr/>
        </p:nvSpPr>
        <p:spPr>
          <a:xfrm>
            <a:off x="0" y="457200"/>
            <a:ext cx="9144000" cy="685800"/>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Roboto"/>
                <a:ea typeface="Roboto"/>
                <a:cs typeface="Roboto"/>
                <a:sym typeface="Roboto"/>
              </a:rPr>
              <a:t>Implementation of Graph Search</a:t>
            </a:r>
            <a:endParaRPr sz="3400" b="1" i="0" u="none" strike="noStrike" cap="none">
              <a:solidFill>
                <a:srgbClr val="C00000"/>
              </a:solidFill>
              <a:latin typeface="Roboto"/>
              <a:ea typeface="Roboto"/>
              <a:cs typeface="Roboto"/>
              <a:sym typeface="Roboto"/>
            </a:endParaRPr>
          </a:p>
        </p:txBody>
      </p:sp>
      <p:pic>
        <p:nvPicPr>
          <p:cNvPr id="565" name="Google Shape;565;p33"/>
          <p:cNvPicPr preferRelativeResize="0"/>
          <p:nvPr/>
        </p:nvPicPr>
        <p:blipFill rotWithShape="1">
          <a:blip r:embed="rId3">
            <a:alphaModFix/>
          </a:blip>
          <a:srcRect/>
          <a:stretch/>
        </p:blipFill>
        <p:spPr>
          <a:xfrm>
            <a:off x="183777" y="1480111"/>
            <a:ext cx="4693023" cy="4875803"/>
          </a:xfrm>
          <a:prstGeom prst="rect">
            <a:avLst/>
          </a:prstGeom>
          <a:noFill/>
          <a:ln>
            <a:noFill/>
          </a:ln>
        </p:spPr>
      </p:pic>
      <p:pic>
        <p:nvPicPr>
          <p:cNvPr id="566" name="Google Shape;566;p33"/>
          <p:cNvPicPr preferRelativeResize="0"/>
          <p:nvPr/>
        </p:nvPicPr>
        <p:blipFill rotWithShape="1">
          <a:blip r:embed="rId4">
            <a:alphaModFix/>
          </a:blip>
          <a:srcRect/>
          <a:stretch/>
        </p:blipFill>
        <p:spPr>
          <a:xfrm>
            <a:off x="5086350" y="1752600"/>
            <a:ext cx="4038600" cy="3937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3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572" name="Google Shape;572;p3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573" name="Google Shape;573;p3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34</a:t>
            </a:fld>
            <a:endParaRPr/>
          </a:p>
        </p:txBody>
      </p:sp>
      <p:sp>
        <p:nvSpPr>
          <p:cNvPr id="574" name="Google Shape;574;p34"/>
          <p:cNvSpPr/>
          <p:nvPr/>
        </p:nvSpPr>
        <p:spPr>
          <a:xfrm>
            <a:off x="0" y="457200"/>
            <a:ext cx="9144000" cy="685800"/>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Roboto"/>
                <a:ea typeface="Roboto"/>
                <a:cs typeface="Roboto"/>
                <a:sym typeface="Roboto"/>
              </a:rPr>
              <a:t>Implementation of Graph Search</a:t>
            </a:r>
            <a:endParaRPr sz="3400" b="1" i="0" u="none" strike="noStrike" cap="none">
              <a:solidFill>
                <a:srgbClr val="C00000"/>
              </a:solidFill>
              <a:latin typeface="Roboto"/>
              <a:ea typeface="Roboto"/>
              <a:cs typeface="Roboto"/>
              <a:sym typeface="Roboto"/>
            </a:endParaRPr>
          </a:p>
        </p:txBody>
      </p:sp>
      <p:sp>
        <p:nvSpPr>
          <p:cNvPr id="575" name="Google Shape;575;p34"/>
          <p:cNvSpPr txBox="1"/>
          <p:nvPr/>
        </p:nvSpPr>
        <p:spPr>
          <a:xfrm>
            <a:off x="0" y="1447800"/>
            <a:ext cx="9144000" cy="338554"/>
          </a:xfrm>
          <a:prstGeom prst="rect">
            <a:avLst/>
          </a:prstGeom>
          <a:noFill/>
          <a:ln>
            <a:noFill/>
          </a:ln>
        </p:spPr>
        <p:txBody>
          <a:bodyPr spcFirstLastPara="1" wrap="square" lIns="91425" tIns="45700" rIns="91425" bIns="45700" anchor="t" anchorCtr="0">
            <a:spAutoFit/>
          </a:bodyPr>
          <a:lstStyle/>
          <a:p>
            <a:pPr marL="1435100" marR="0" lvl="0" indent="-1435100" algn="l" rtl="0">
              <a:lnSpc>
                <a:spcPct val="100000"/>
              </a:lnSpc>
              <a:spcBef>
                <a:spcPts val="0"/>
              </a:spcBef>
              <a:spcAft>
                <a:spcPts val="0"/>
              </a:spcAft>
              <a:buClr>
                <a:srgbClr val="000000"/>
              </a:buClr>
              <a:buSzPts val="1600"/>
              <a:buFont typeface="Arial"/>
              <a:buNone/>
            </a:pPr>
            <a:r>
              <a:rPr lang="en-US" sz="1600" b="0" i="0" u="none" strike="noStrike" cap="none">
                <a:solidFill>
                  <a:srgbClr val="C00000"/>
                </a:solidFill>
                <a:latin typeface="Arial"/>
                <a:ea typeface="Arial"/>
                <a:cs typeface="Arial"/>
                <a:sym typeface="Arial"/>
              </a:rPr>
              <a:t>Backtracking search </a:t>
            </a:r>
            <a:r>
              <a:rPr lang="en-US" sz="1600" b="0" i="0" u="none" strike="noStrike" cap="none">
                <a:solidFill>
                  <a:schemeClr val="dk1"/>
                </a:solidFill>
                <a:latin typeface="Arial"/>
                <a:ea typeface="Arial"/>
                <a:cs typeface="Arial"/>
                <a:sym typeface="Arial"/>
              </a:rPr>
              <a:t>of a hypothetical state space.</a:t>
            </a:r>
            <a:endParaRPr sz="1400" b="0" i="0" u="none" strike="noStrike" cap="none">
              <a:solidFill>
                <a:srgbClr val="000000"/>
              </a:solidFill>
              <a:latin typeface="Arial"/>
              <a:ea typeface="Arial"/>
              <a:cs typeface="Arial"/>
              <a:sym typeface="Arial"/>
            </a:endParaRPr>
          </a:p>
        </p:txBody>
      </p:sp>
      <p:pic>
        <p:nvPicPr>
          <p:cNvPr id="576" name="Google Shape;576;p34"/>
          <p:cNvPicPr preferRelativeResize="0"/>
          <p:nvPr/>
        </p:nvPicPr>
        <p:blipFill rotWithShape="1">
          <a:blip r:embed="rId3">
            <a:alphaModFix/>
          </a:blip>
          <a:srcRect/>
          <a:stretch/>
        </p:blipFill>
        <p:spPr>
          <a:xfrm>
            <a:off x="76200" y="2072417"/>
            <a:ext cx="3810000" cy="4402643"/>
          </a:xfrm>
          <a:prstGeom prst="rect">
            <a:avLst/>
          </a:prstGeom>
          <a:noFill/>
          <a:ln>
            <a:noFill/>
          </a:ln>
        </p:spPr>
      </p:pic>
      <p:pic>
        <p:nvPicPr>
          <p:cNvPr id="577" name="Google Shape;577;p34"/>
          <p:cNvPicPr preferRelativeResize="0"/>
          <p:nvPr/>
        </p:nvPicPr>
        <p:blipFill rotWithShape="1">
          <a:blip r:embed="rId4">
            <a:alphaModFix/>
          </a:blip>
          <a:srcRect/>
          <a:stretch/>
        </p:blipFill>
        <p:spPr>
          <a:xfrm>
            <a:off x="4565277" y="1808394"/>
            <a:ext cx="4562475" cy="4666666"/>
          </a:xfrm>
          <a:prstGeom prst="rect">
            <a:avLst/>
          </a:prstGeom>
          <a:noFill/>
          <a:ln>
            <a:noFill/>
          </a:ln>
        </p:spPr>
      </p:pic>
      <p:grpSp>
        <p:nvGrpSpPr>
          <p:cNvPr id="578" name="Google Shape;578;p34"/>
          <p:cNvGrpSpPr/>
          <p:nvPr/>
        </p:nvGrpSpPr>
        <p:grpSpPr>
          <a:xfrm>
            <a:off x="5029200" y="2057400"/>
            <a:ext cx="1447800" cy="525645"/>
            <a:chOff x="5562600" y="2072417"/>
            <a:chExt cx="1447800" cy="525645"/>
          </a:xfrm>
        </p:grpSpPr>
        <p:sp>
          <p:nvSpPr>
            <p:cNvPr id="579" name="Google Shape;579;p34"/>
            <p:cNvSpPr/>
            <p:nvPr/>
          </p:nvSpPr>
          <p:spPr>
            <a:xfrm>
              <a:off x="5562600" y="2072417"/>
              <a:ext cx="1447800" cy="297046"/>
            </a:xfrm>
            <a:prstGeom prst="rect">
              <a:avLst/>
            </a:prstGeom>
            <a:solidFill>
              <a:srgbClr val="008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Current node</a:t>
              </a:r>
              <a:endParaRPr sz="1400" b="0" i="0" u="none" strike="noStrike" cap="none">
                <a:solidFill>
                  <a:srgbClr val="000000"/>
                </a:solidFill>
                <a:latin typeface="Arial"/>
                <a:ea typeface="Arial"/>
                <a:cs typeface="Arial"/>
                <a:sym typeface="Arial"/>
              </a:endParaRPr>
            </a:p>
          </p:txBody>
        </p:sp>
        <p:cxnSp>
          <p:nvCxnSpPr>
            <p:cNvPr id="580" name="Google Shape;580;p34"/>
            <p:cNvCxnSpPr/>
            <p:nvPr/>
          </p:nvCxnSpPr>
          <p:spPr>
            <a:xfrm>
              <a:off x="6400799" y="2286000"/>
              <a:ext cx="259978" cy="312062"/>
            </a:xfrm>
            <a:prstGeom prst="straightConnector1">
              <a:avLst/>
            </a:prstGeom>
            <a:noFill/>
            <a:ln w="38100" cap="flat" cmpd="sng">
              <a:solidFill>
                <a:srgbClr val="008000"/>
              </a:solidFill>
              <a:prstDash val="solid"/>
              <a:round/>
              <a:headEnd type="none" w="sm" len="sm"/>
              <a:tailEnd type="triangle" w="med" len="med"/>
            </a:ln>
          </p:spPr>
        </p:cxnSp>
      </p:grpSp>
      <p:grpSp>
        <p:nvGrpSpPr>
          <p:cNvPr id="581" name="Google Shape;581;p34"/>
          <p:cNvGrpSpPr/>
          <p:nvPr/>
        </p:nvGrpSpPr>
        <p:grpSpPr>
          <a:xfrm>
            <a:off x="7315200" y="2072417"/>
            <a:ext cx="1447800" cy="525646"/>
            <a:chOff x="7315200" y="2072417"/>
            <a:chExt cx="1447800" cy="525646"/>
          </a:xfrm>
        </p:grpSpPr>
        <p:sp>
          <p:nvSpPr>
            <p:cNvPr id="582" name="Google Shape;582;p34"/>
            <p:cNvSpPr/>
            <p:nvPr/>
          </p:nvSpPr>
          <p:spPr>
            <a:xfrm>
              <a:off x="7315200" y="2072417"/>
              <a:ext cx="1447800" cy="297046"/>
            </a:xfrm>
            <a:prstGeom prst="rect">
              <a:avLst/>
            </a:prstGeom>
            <a:solidFill>
              <a:srgbClr val="3898B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Node to visit</a:t>
              </a:r>
              <a:endParaRPr sz="1400" b="0" i="0" u="none" strike="noStrike" cap="none">
                <a:solidFill>
                  <a:srgbClr val="000000"/>
                </a:solidFill>
                <a:latin typeface="Arial"/>
                <a:ea typeface="Arial"/>
                <a:cs typeface="Arial"/>
                <a:sym typeface="Arial"/>
              </a:endParaRPr>
            </a:p>
          </p:txBody>
        </p:sp>
        <p:cxnSp>
          <p:nvCxnSpPr>
            <p:cNvPr id="583" name="Google Shape;583;p34"/>
            <p:cNvCxnSpPr/>
            <p:nvPr/>
          </p:nvCxnSpPr>
          <p:spPr>
            <a:xfrm flipH="1">
              <a:off x="7619999" y="2286000"/>
              <a:ext cx="387723" cy="312063"/>
            </a:xfrm>
            <a:prstGeom prst="straightConnector1">
              <a:avLst/>
            </a:prstGeom>
            <a:noFill/>
            <a:ln w="38100" cap="flat" cmpd="sng">
              <a:solidFill>
                <a:srgbClr val="3898B2"/>
              </a:solidFill>
              <a:prstDash val="solid"/>
              <a:round/>
              <a:headEnd type="none" w="sm" len="sm"/>
              <a:tailEnd type="triangle" w="med" len="med"/>
            </a:ln>
          </p:spPr>
        </p:cxnSp>
      </p:grpSp>
      <p:grpSp>
        <p:nvGrpSpPr>
          <p:cNvPr id="584" name="Google Shape;584;p34"/>
          <p:cNvGrpSpPr/>
          <p:nvPr/>
        </p:nvGrpSpPr>
        <p:grpSpPr>
          <a:xfrm>
            <a:off x="5247321" y="5807148"/>
            <a:ext cx="924879" cy="517452"/>
            <a:chOff x="5247321" y="5807148"/>
            <a:chExt cx="924879" cy="517452"/>
          </a:xfrm>
        </p:grpSpPr>
        <p:sp>
          <p:nvSpPr>
            <p:cNvPr id="585" name="Google Shape;585;p34"/>
            <p:cNvSpPr/>
            <p:nvPr/>
          </p:nvSpPr>
          <p:spPr>
            <a:xfrm>
              <a:off x="5247321" y="5807148"/>
              <a:ext cx="673868" cy="338592"/>
            </a:xfrm>
            <a:prstGeom prst="rect">
              <a:avLst/>
            </a:prstGeom>
            <a:solidFill>
              <a:srgbClr val="9D3B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Calibri"/>
                  <a:ea typeface="Calibri"/>
                  <a:cs typeface="Calibri"/>
                  <a:sym typeface="Calibri"/>
                </a:rPr>
                <a:t>Goal</a:t>
              </a:r>
              <a:endParaRPr sz="1400" b="0" i="0" u="none" strike="noStrike" cap="none">
                <a:solidFill>
                  <a:srgbClr val="000000"/>
                </a:solidFill>
                <a:latin typeface="Arial"/>
                <a:ea typeface="Arial"/>
                <a:cs typeface="Arial"/>
                <a:sym typeface="Arial"/>
              </a:endParaRPr>
            </a:p>
          </p:txBody>
        </p:sp>
        <p:cxnSp>
          <p:nvCxnSpPr>
            <p:cNvPr id="586" name="Google Shape;586;p34"/>
            <p:cNvCxnSpPr/>
            <p:nvPr/>
          </p:nvCxnSpPr>
          <p:spPr>
            <a:xfrm>
              <a:off x="5867400" y="6096000"/>
              <a:ext cx="304800" cy="228600"/>
            </a:xfrm>
            <a:prstGeom prst="straightConnector1">
              <a:avLst/>
            </a:prstGeom>
            <a:noFill/>
            <a:ln w="38100" cap="flat" cmpd="sng">
              <a:solidFill>
                <a:srgbClr val="9D3B38"/>
              </a:solidFill>
              <a:prstDash val="solid"/>
              <a:round/>
              <a:headEnd type="none" w="sm" len="sm"/>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3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592" name="Google Shape;592;p3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593" name="Google Shape;593;p3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35</a:t>
            </a:fld>
            <a:endParaRPr/>
          </a:p>
        </p:txBody>
      </p:sp>
      <p:sp>
        <p:nvSpPr>
          <p:cNvPr id="594" name="Google Shape;594;p35"/>
          <p:cNvSpPr/>
          <p:nvPr/>
        </p:nvSpPr>
        <p:spPr>
          <a:xfrm>
            <a:off x="0" y="457200"/>
            <a:ext cx="9144000" cy="685800"/>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Roboto"/>
                <a:ea typeface="Roboto"/>
                <a:cs typeface="Roboto"/>
                <a:sym typeface="Roboto"/>
              </a:rPr>
              <a:t>Implementation of Graph Search</a:t>
            </a:r>
            <a:endParaRPr sz="3400" b="1" i="0" u="none" strike="noStrike" cap="none">
              <a:solidFill>
                <a:srgbClr val="C00000"/>
              </a:solidFill>
              <a:latin typeface="Roboto"/>
              <a:ea typeface="Roboto"/>
              <a:cs typeface="Roboto"/>
              <a:sym typeface="Roboto"/>
            </a:endParaRPr>
          </a:p>
        </p:txBody>
      </p:sp>
      <p:sp>
        <p:nvSpPr>
          <p:cNvPr id="595" name="Google Shape;595;p35"/>
          <p:cNvSpPr/>
          <p:nvPr/>
        </p:nvSpPr>
        <p:spPr>
          <a:xfrm>
            <a:off x="0" y="1447800"/>
            <a:ext cx="9144000" cy="53860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US" sz="2900" b="1" i="0" u="none" strike="noStrike" cap="none">
                <a:solidFill>
                  <a:srgbClr val="008000"/>
                </a:solidFill>
                <a:latin typeface="Calibri"/>
                <a:ea typeface="Calibri"/>
                <a:cs typeface="Calibri"/>
                <a:sym typeface="Calibri"/>
              </a:rPr>
              <a:t>Depth-First</a:t>
            </a:r>
            <a:r>
              <a:rPr lang="en-US" sz="2900" b="1" i="0" u="none" strike="noStrike" cap="none">
                <a:solidFill>
                  <a:schemeClr val="dk1"/>
                </a:solidFill>
                <a:latin typeface="Calibri"/>
                <a:ea typeface="Calibri"/>
                <a:cs typeface="Calibri"/>
                <a:sym typeface="Calibri"/>
              </a:rPr>
              <a:t> and </a:t>
            </a:r>
            <a:r>
              <a:rPr lang="en-US" sz="2900" b="1" i="0" u="none" strike="noStrike" cap="none">
                <a:solidFill>
                  <a:srgbClr val="F79646"/>
                </a:solidFill>
                <a:latin typeface="Calibri"/>
                <a:ea typeface="Calibri"/>
                <a:cs typeface="Calibri"/>
                <a:sym typeface="Calibri"/>
              </a:rPr>
              <a:t>Breadth-First</a:t>
            </a:r>
            <a:r>
              <a:rPr lang="en-US" sz="2900" b="1" i="0" u="none" strike="noStrike" cap="none">
                <a:solidFill>
                  <a:schemeClr val="dk1"/>
                </a:solidFill>
                <a:latin typeface="Calibri"/>
                <a:ea typeface="Calibri"/>
                <a:cs typeface="Calibri"/>
                <a:sym typeface="Calibri"/>
              </a:rPr>
              <a:t> Search</a:t>
            </a:r>
            <a:r>
              <a:rPr lang="en-US" sz="1800" b="0" i="0" u="none" strike="noStrike" cap="none">
                <a:solidFill>
                  <a:schemeClr val="dk1"/>
                </a:solidFill>
                <a:latin typeface="Open Sans"/>
                <a:ea typeface="Open Sans"/>
                <a:cs typeface="Open Sans"/>
                <a:sym typeface="Open Sans"/>
              </a:rPr>
              <a:t> </a:t>
            </a:r>
            <a:endParaRPr sz="1800" b="0" i="0" u="none" strike="noStrike" cap="none">
              <a:solidFill>
                <a:schemeClr val="dk1"/>
              </a:solidFill>
              <a:latin typeface="Calibri"/>
              <a:ea typeface="Calibri"/>
              <a:cs typeface="Calibri"/>
              <a:sym typeface="Calibri"/>
            </a:endParaRPr>
          </a:p>
        </p:txBody>
      </p:sp>
      <p:sp>
        <p:nvSpPr>
          <p:cNvPr id="596" name="Google Shape;596;p35"/>
          <p:cNvSpPr/>
          <p:nvPr/>
        </p:nvSpPr>
        <p:spPr>
          <a:xfrm>
            <a:off x="457201" y="1986409"/>
            <a:ext cx="8305800" cy="4247317"/>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In addition to specifying a search direction (data-driven or goal- driven), a search algorithm must determine the order in which states are examined in the tree or the graph.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We will considers two possibilities for the order in which the nodes of the graph are considered:-</a:t>
            </a:r>
            <a:endParaRPr sz="1400" b="0" i="0" u="none" strike="noStrike" cap="none">
              <a:solidFill>
                <a:srgbClr val="000000"/>
              </a:solidFill>
              <a:latin typeface="Arial"/>
              <a:ea typeface="Arial"/>
              <a:cs typeface="Arial"/>
              <a:sym typeface="Arial"/>
            </a:endParaRPr>
          </a:p>
          <a:p>
            <a:pPr marL="800100" marR="0" lvl="1" indent="-342900" algn="l" rtl="0">
              <a:lnSpc>
                <a:spcPct val="100000"/>
              </a:lnSpc>
              <a:spcBef>
                <a:spcPts val="0"/>
              </a:spcBef>
              <a:spcAft>
                <a:spcPts val="0"/>
              </a:spcAft>
              <a:buClr>
                <a:srgbClr val="008000"/>
              </a:buClr>
              <a:buSzPts val="1800"/>
              <a:buFont typeface="Arial"/>
              <a:buChar char="•"/>
            </a:pPr>
            <a:r>
              <a:rPr lang="en-US" sz="1800" b="0" i="0" u="none" strike="noStrike" cap="none">
                <a:solidFill>
                  <a:srgbClr val="008000"/>
                </a:solidFill>
                <a:latin typeface="Calibri"/>
                <a:ea typeface="Calibri"/>
                <a:cs typeface="Calibri"/>
                <a:sym typeface="Calibri"/>
              </a:rPr>
              <a:t>Depth-first search </a:t>
            </a:r>
            <a:endParaRPr sz="1400" b="0" i="0" u="none" strike="noStrike" cap="none">
              <a:solidFill>
                <a:srgbClr val="000000"/>
              </a:solidFill>
              <a:latin typeface="Arial"/>
              <a:ea typeface="Arial"/>
              <a:cs typeface="Arial"/>
              <a:sym typeface="Arial"/>
            </a:endParaRPr>
          </a:p>
          <a:p>
            <a:pPr marL="800100" marR="0" lvl="1"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Breadth-first search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8000"/>
              </a:buClr>
              <a:buSzPts val="1800"/>
              <a:buFont typeface="Arial"/>
              <a:buChar char="•"/>
            </a:pPr>
            <a:r>
              <a:rPr lang="en-US" sz="1800" b="0" i="0" u="none" strike="noStrike" cap="none">
                <a:solidFill>
                  <a:srgbClr val="008000"/>
                </a:solidFill>
                <a:latin typeface="Calibri"/>
                <a:ea typeface="Calibri"/>
                <a:cs typeface="Calibri"/>
                <a:sym typeface="Calibri"/>
              </a:rPr>
              <a:t>Depth-first search</a:t>
            </a:r>
            <a:r>
              <a:rPr lang="en-US" sz="1800" b="0" i="0" u="none" strike="noStrike" cap="none">
                <a:solidFill>
                  <a:schemeClr val="dk1"/>
                </a:solidFill>
                <a:latin typeface="Calibri"/>
                <a:ea typeface="Calibri"/>
                <a:cs typeface="Calibri"/>
                <a:sym typeface="Calibri"/>
              </a:rPr>
              <a:t>, when a state is examined, all of its children and their descendants are examined before any of its siblings.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8000"/>
              </a:buClr>
              <a:buSzPts val="1800"/>
              <a:buFont typeface="Arial"/>
              <a:buChar char="•"/>
            </a:pPr>
            <a:r>
              <a:rPr lang="en-US" sz="1800" b="0" i="0" u="none" strike="noStrike" cap="none">
                <a:solidFill>
                  <a:srgbClr val="008000"/>
                </a:solidFill>
                <a:latin typeface="Calibri"/>
                <a:ea typeface="Calibri"/>
                <a:cs typeface="Calibri"/>
                <a:sym typeface="Calibri"/>
              </a:rPr>
              <a:t>Depth-first search </a:t>
            </a:r>
            <a:r>
              <a:rPr lang="en-US" sz="1800" b="0" i="0" u="none" strike="noStrike" cap="none">
                <a:solidFill>
                  <a:schemeClr val="dk1"/>
                </a:solidFill>
                <a:latin typeface="Calibri"/>
                <a:ea typeface="Calibri"/>
                <a:cs typeface="Calibri"/>
                <a:sym typeface="Calibri"/>
              </a:rPr>
              <a:t>goes deeper into the search space whenever this is possible. Only when no further descendants of a state can be found are its siblings considered.</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8000"/>
              </a:buClr>
              <a:buSzPts val="1800"/>
              <a:buFont typeface="Arial"/>
              <a:buChar char="•"/>
            </a:pPr>
            <a:r>
              <a:rPr lang="en-US" sz="1800" b="0" i="0" u="none" strike="noStrike" cap="none">
                <a:solidFill>
                  <a:srgbClr val="008000"/>
                </a:solidFill>
                <a:latin typeface="Calibri"/>
                <a:ea typeface="Calibri"/>
                <a:cs typeface="Calibri"/>
                <a:sym typeface="Calibri"/>
              </a:rPr>
              <a:t>Depth-first search </a:t>
            </a:r>
            <a:r>
              <a:rPr lang="en-US" sz="1800" b="0" i="0" u="none" strike="noStrike" cap="none">
                <a:solidFill>
                  <a:schemeClr val="dk1"/>
                </a:solidFill>
                <a:latin typeface="Calibri"/>
                <a:ea typeface="Calibri"/>
                <a:cs typeface="Calibri"/>
                <a:sym typeface="Calibri"/>
              </a:rPr>
              <a:t>examines the states in the graph of Figure, in the order A, B, E, K, S, L, T, F, M, C, G, N, H, O, P, U, D, I, Q, J, R.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This search can be implemented with backtrack algorithm.</a:t>
            </a:r>
            <a:r>
              <a:rPr lang="en-US" sz="1800" b="0" i="0" u="none" strike="noStrike" cap="none">
                <a:solidFill>
                  <a:srgbClr val="444444"/>
                </a:solidFill>
                <a:latin typeface="Open Sans"/>
                <a:ea typeface="Open Sans"/>
                <a:cs typeface="Open Sans"/>
                <a:sym typeface="Open Sans"/>
              </a:rPr>
              <a:t> </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3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602" name="Google Shape;602;p3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603" name="Google Shape;603;p3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36</a:t>
            </a:fld>
            <a:endParaRPr/>
          </a:p>
        </p:txBody>
      </p:sp>
      <p:sp>
        <p:nvSpPr>
          <p:cNvPr id="604" name="Google Shape;604;p36"/>
          <p:cNvSpPr/>
          <p:nvPr/>
        </p:nvSpPr>
        <p:spPr>
          <a:xfrm>
            <a:off x="0" y="457200"/>
            <a:ext cx="9144000" cy="685800"/>
          </a:xfrm>
          <a:prstGeom prst="rect">
            <a:avLst/>
          </a:prstGeom>
          <a:noFill/>
          <a:ln>
            <a:noFill/>
          </a:ln>
          <a:effectLst>
            <a:outerShdw dist="107763" dir="2700000" algn="ctr" rotWithShape="0">
              <a:schemeClr val="lt2"/>
            </a:outerShdw>
          </a:effectLst>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Roboto"/>
                <a:ea typeface="Roboto"/>
                <a:cs typeface="Roboto"/>
                <a:sym typeface="Roboto"/>
              </a:rPr>
              <a:t>Implementation of Graph Search</a:t>
            </a:r>
            <a:endParaRPr sz="3400" b="1" i="0" u="none" strike="noStrike" cap="none">
              <a:solidFill>
                <a:srgbClr val="C00000"/>
              </a:solidFill>
              <a:latin typeface="Roboto"/>
              <a:ea typeface="Roboto"/>
              <a:cs typeface="Roboto"/>
              <a:sym typeface="Roboto"/>
            </a:endParaRPr>
          </a:p>
        </p:txBody>
      </p:sp>
      <p:sp>
        <p:nvSpPr>
          <p:cNvPr id="605" name="Google Shape;605;p36"/>
          <p:cNvSpPr/>
          <p:nvPr/>
        </p:nvSpPr>
        <p:spPr>
          <a:xfrm>
            <a:off x="0" y="1447800"/>
            <a:ext cx="9144000" cy="53860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US" sz="2900" b="1" i="0" u="none" strike="noStrike" cap="none">
                <a:solidFill>
                  <a:srgbClr val="008000"/>
                </a:solidFill>
                <a:latin typeface="Calibri"/>
                <a:ea typeface="Calibri"/>
                <a:cs typeface="Calibri"/>
                <a:sym typeface="Calibri"/>
              </a:rPr>
              <a:t>Depth-First</a:t>
            </a:r>
            <a:r>
              <a:rPr lang="en-US" sz="2900" b="1" i="0" u="none" strike="noStrike" cap="none">
                <a:solidFill>
                  <a:schemeClr val="dk1"/>
                </a:solidFill>
                <a:latin typeface="Calibri"/>
                <a:ea typeface="Calibri"/>
                <a:cs typeface="Calibri"/>
                <a:sym typeface="Calibri"/>
              </a:rPr>
              <a:t> and </a:t>
            </a:r>
            <a:r>
              <a:rPr lang="en-US" sz="2900" b="1" i="0" u="none" strike="noStrike" cap="none">
                <a:solidFill>
                  <a:srgbClr val="F79646"/>
                </a:solidFill>
                <a:latin typeface="Calibri"/>
                <a:ea typeface="Calibri"/>
                <a:cs typeface="Calibri"/>
                <a:sym typeface="Calibri"/>
              </a:rPr>
              <a:t>Breadth-First</a:t>
            </a:r>
            <a:r>
              <a:rPr lang="en-US" sz="2900" b="1" i="0" u="none" strike="noStrike" cap="none">
                <a:solidFill>
                  <a:schemeClr val="dk1"/>
                </a:solidFill>
                <a:latin typeface="Calibri"/>
                <a:ea typeface="Calibri"/>
                <a:cs typeface="Calibri"/>
                <a:sym typeface="Calibri"/>
              </a:rPr>
              <a:t> Search</a:t>
            </a:r>
            <a:r>
              <a:rPr lang="en-US" sz="1800" b="0" i="0" u="none" strike="noStrike" cap="none">
                <a:solidFill>
                  <a:schemeClr val="dk1"/>
                </a:solidFill>
                <a:latin typeface="Open Sans"/>
                <a:ea typeface="Open Sans"/>
                <a:cs typeface="Open Sans"/>
                <a:sym typeface="Open Sans"/>
              </a:rPr>
              <a:t> </a:t>
            </a:r>
            <a:endParaRPr sz="1800" b="0" i="0" u="none" strike="noStrike" cap="none">
              <a:solidFill>
                <a:schemeClr val="dk1"/>
              </a:solidFill>
              <a:latin typeface="Calibri"/>
              <a:ea typeface="Calibri"/>
              <a:cs typeface="Calibri"/>
              <a:sym typeface="Calibri"/>
            </a:endParaRPr>
          </a:p>
        </p:txBody>
      </p:sp>
      <p:sp>
        <p:nvSpPr>
          <p:cNvPr id="606" name="Google Shape;606;p36"/>
          <p:cNvSpPr/>
          <p:nvPr/>
        </p:nvSpPr>
        <p:spPr>
          <a:xfrm>
            <a:off x="445851" y="2133600"/>
            <a:ext cx="8469549" cy="3754874"/>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F79646"/>
              </a:buClr>
              <a:buSzPts val="2000"/>
              <a:buFont typeface="Arial"/>
              <a:buChar char="•"/>
            </a:pPr>
            <a:r>
              <a:rPr lang="en-US" sz="2000" b="0" i="0" u="none" strike="noStrike" cap="none">
                <a:solidFill>
                  <a:srgbClr val="F79646"/>
                </a:solidFill>
                <a:latin typeface="Calibri"/>
                <a:ea typeface="Calibri"/>
                <a:cs typeface="Calibri"/>
                <a:sym typeface="Calibri"/>
              </a:rPr>
              <a:t>Breadth-first search</a:t>
            </a:r>
            <a:r>
              <a:rPr lang="en-US" sz="2000" b="0" i="0" u="none" strike="noStrike" cap="none">
                <a:solidFill>
                  <a:schemeClr val="dk1"/>
                </a:solidFill>
                <a:latin typeface="Calibri"/>
                <a:ea typeface="Calibri"/>
                <a:cs typeface="Calibri"/>
                <a:sym typeface="Calibri"/>
              </a:rPr>
              <a:t>, in contrast, explores the space in a level- by-level fashion.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Only when there are no more states to be explored at a given level does the algorithm move on to the next level.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A </a:t>
            </a:r>
            <a:r>
              <a:rPr lang="en-US" sz="2000" b="0" i="0" u="none" strike="noStrike" cap="none">
                <a:solidFill>
                  <a:srgbClr val="F79646"/>
                </a:solidFill>
                <a:latin typeface="Calibri"/>
                <a:ea typeface="Calibri"/>
                <a:cs typeface="Calibri"/>
                <a:sym typeface="Calibri"/>
              </a:rPr>
              <a:t>breadth-first search </a:t>
            </a:r>
            <a:r>
              <a:rPr lang="en-US" sz="2000" b="0" i="0" u="none" strike="noStrike" cap="none">
                <a:solidFill>
                  <a:schemeClr val="dk1"/>
                </a:solidFill>
                <a:latin typeface="Calibri"/>
                <a:ea typeface="Calibri"/>
                <a:cs typeface="Calibri"/>
                <a:sym typeface="Calibri"/>
              </a:rPr>
              <a:t>of the graph of Figure considers the states in the order A, B, C, D, E, F, G, H, I, J, K, L, M, N, O, P, Q, R, S, T, U.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We implement </a:t>
            </a:r>
            <a:r>
              <a:rPr lang="en-US" sz="2000" b="0" i="0" u="none" strike="noStrike" cap="none">
                <a:solidFill>
                  <a:srgbClr val="F79646"/>
                </a:solidFill>
                <a:latin typeface="Calibri"/>
                <a:ea typeface="Calibri"/>
                <a:cs typeface="Calibri"/>
                <a:sym typeface="Calibri"/>
              </a:rPr>
              <a:t>breadth-first search </a:t>
            </a:r>
            <a:r>
              <a:rPr lang="en-US" sz="2000" b="0" i="0" u="none" strike="noStrike" cap="none">
                <a:solidFill>
                  <a:schemeClr val="dk1"/>
                </a:solidFill>
                <a:latin typeface="Calibri"/>
                <a:ea typeface="Calibri"/>
                <a:cs typeface="Calibri"/>
                <a:sym typeface="Calibri"/>
              </a:rPr>
              <a:t>using lists, open and closed, to keep track of progress through the state space. Open, like NSL in backtrack, lists the states that have been generated but whose children have not been examined. The order in which states are removed from open determines the order of the search.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Closed records states that have already been examined. </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3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612" name="Google Shape;612;p3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613" name="Google Shape;613;p3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37</a:t>
            </a:fld>
            <a:endParaRPr/>
          </a:p>
        </p:txBody>
      </p:sp>
      <p:sp>
        <p:nvSpPr>
          <p:cNvPr id="614" name="Google Shape;614;p37"/>
          <p:cNvSpPr/>
          <p:nvPr/>
        </p:nvSpPr>
        <p:spPr>
          <a:xfrm>
            <a:off x="1066800" y="304800"/>
            <a:ext cx="8073273"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Roboto"/>
                <a:ea typeface="Roboto"/>
                <a:cs typeface="Roboto"/>
                <a:sym typeface="Roboto"/>
              </a:rPr>
              <a:t>Activity 3</a:t>
            </a:r>
            <a:endParaRPr sz="1400" b="0" i="0" u="none" strike="noStrike" cap="none">
              <a:solidFill>
                <a:srgbClr val="000000"/>
              </a:solidFill>
              <a:latin typeface="Arial"/>
              <a:ea typeface="Arial"/>
              <a:cs typeface="Arial"/>
              <a:sym typeface="Arial"/>
            </a:endParaRPr>
          </a:p>
        </p:txBody>
      </p:sp>
      <p:grpSp>
        <p:nvGrpSpPr>
          <p:cNvPr id="615" name="Google Shape;615;p37"/>
          <p:cNvGrpSpPr/>
          <p:nvPr/>
        </p:nvGrpSpPr>
        <p:grpSpPr>
          <a:xfrm>
            <a:off x="793377" y="2057400"/>
            <a:ext cx="7543800" cy="4412128"/>
            <a:chOff x="1522700" y="1611868"/>
            <a:chExt cx="7011701" cy="4107328"/>
          </a:xfrm>
        </p:grpSpPr>
        <p:grpSp>
          <p:nvGrpSpPr>
            <p:cNvPr id="616" name="Google Shape;616;p37"/>
            <p:cNvGrpSpPr/>
            <p:nvPr/>
          </p:nvGrpSpPr>
          <p:grpSpPr>
            <a:xfrm>
              <a:off x="1828800" y="1981200"/>
              <a:ext cx="6705601" cy="3657600"/>
              <a:chOff x="1981199" y="1600200"/>
              <a:chExt cx="5423584" cy="2611579"/>
            </a:xfrm>
          </p:grpSpPr>
          <p:sp>
            <p:nvSpPr>
              <p:cNvPr id="617" name="Google Shape;617;p37"/>
              <p:cNvSpPr/>
              <p:nvPr/>
            </p:nvSpPr>
            <p:spPr>
              <a:xfrm>
                <a:off x="4565277" y="1600200"/>
                <a:ext cx="159123" cy="152400"/>
              </a:xfrm>
              <a:prstGeom prst="flowChartConnector">
                <a:avLst/>
              </a:prstGeom>
              <a:solidFill>
                <a:srgbClr val="008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7"/>
              <p:cNvSpPr/>
              <p:nvPr/>
            </p:nvSpPr>
            <p:spPr>
              <a:xfrm>
                <a:off x="6016439" y="2209800"/>
                <a:ext cx="159123" cy="152400"/>
              </a:xfrm>
              <a:prstGeom prst="flowChartConnector">
                <a:avLst/>
              </a:prstGeom>
              <a:solidFill>
                <a:srgbClr val="9D3B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9" name="Google Shape;619;p37"/>
              <p:cNvSpPr/>
              <p:nvPr/>
            </p:nvSpPr>
            <p:spPr>
              <a:xfrm>
                <a:off x="4565277" y="2209800"/>
                <a:ext cx="159123" cy="152400"/>
              </a:xfrm>
              <a:prstGeom prst="flowChartConnector">
                <a:avLst/>
              </a:prstGeom>
              <a:solidFill>
                <a:srgbClr val="9D3B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0" name="Google Shape;620;p37"/>
              <p:cNvSpPr/>
              <p:nvPr/>
            </p:nvSpPr>
            <p:spPr>
              <a:xfrm>
                <a:off x="3114115" y="2209800"/>
                <a:ext cx="159123" cy="152400"/>
              </a:xfrm>
              <a:prstGeom prst="flowChartConnector">
                <a:avLst/>
              </a:prstGeom>
              <a:solidFill>
                <a:srgbClr val="9D3B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7"/>
              <p:cNvSpPr/>
              <p:nvPr/>
            </p:nvSpPr>
            <p:spPr>
              <a:xfrm>
                <a:off x="3117540" y="2885806"/>
                <a:ext cx="159123" cy="152400"/>
              </a:xfrm>
              <a:prstGeom prst="flowChartConnector">
                <a:avLst/>
              </a:prstGeom>
              <a:solidFill>
                <a:srgbClr val="358B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7"/>
              <p:cNvSpPr/>
              <p:nvPr/>
            </p:nvSpPr>
            <p:spPr>
              <a:xfrm>
                <a:off x="2431677" y="2885806"/>
                <a:ext cx="159123" cy="152400"/>
              </a:xfrm>
              <a:prstGeom prst="flowChartConnector">
                <a:avLst/>
              </a:prstGeom>
              <a:solidFill>
                <a:srgbClr val="358B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7"/>
              <p:cNvSpPr/>
              <p:nvPr/>
            </p:nvSpPr>
            <p:spPr>
              <a:xfrm>
                <a:off x="4114800" y="2885806"/>
                <a:ext cx="159123" cy="152400"/>
              </a:xfrm>
              <a:prstGeom prst="flowChartConnector">
                <a:avLst/>
              </a:prstGeom>
              <a:solidFill>
                <a:srgbClr val="358B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7"/>
              <p:cNvSpPr/>
              <p:nvPr/>
            </p:nvSpPr>
            <p:spPr>
              <a:xfrm>
                <a:off x="5112060" y="2885806"/>
                <a:ext cx="159123" cy="152400"/>
              </a:xfrm>
              <a:prstGeom prst="flowChartConnector">
                <a:avLst/>
              </a:prstGeom>
              <a:solidFill>
                <a:srgbClr val="358B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7"/>
              <p:cNvSpPr/>
              <p:nvPr/>
            </p:nvSpPr>
            <p:spPr>
              <a:xfrm>
                <a:off x="6096000" y="2885806"/>
                <a:ext cx="159123" cy="152400"/>
              </a:xfrm>
              <a:prstGeom prst="flowChartConnector">
                <a:avLst/>
              </a:prstGeom>
              <a:solidFill>
                <a:srgbClr val="358B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7"/>
              <p:cNvSpPr/>
              <p:nvPr/>
            </p:nvSpPr>
            <p:spPr>
              <a:xfrm>
                <a:off x="6781800" y="2885806"/>
                <a:ext cx="159123" cy="152400"/>
              </a:xfrm>
              <a:prstGeom prst="flowChartConnector">
                <a:avLst/>
              </a:prstGeom>
              <a:solidFill>
                <a:srgbClr val="358B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7"/>
              <p:cNvSpPr/>
              <p:nvPr/>
            </p:nvSpPr>
            <p:spPr>
              <a:xfrm>
                <a:off x="1981200" y="3399303"/>
                <a:ext cx="159123" cy="152400"/>
              </a:xfrm>
              <a:prstGeom prst="flowChartConnector">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70C0"/>
                  </a:solidFill>
                  <a:latin typeface="Calibri"/>
                  <a:ea typeface="Calibri"/>
                  <a:cs typeface="Calibri"/>
                  <a:sym typeface="Calibri"/>
                </a:endParaRPr>
              </a:p>
            </p:txBody>
          </p:sp>
          <p:sp>
            <p:nvSpPr>
              <p:cNvPr id="628" name="Google Shape;628;p37"/>
              <p:cNvSpPr/>
              <p:nvPr/>
            </p:nvSpPr>
            <p:spPr>
              <a:xfrm>
                <a:off x="2743200" y="3407544"/>
                <a:ext cx="159123" cy="152400"/>
              </a:xfrm>
              <a:prstGeom prst="flowChartConnector">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70C0"/>
                  </a:solidFill>
                  <a:latin typeface="Calibri"/>
                  <a:ea typeface="Calibri"/>
                  <a:cs typeface="Calibri"/>
                  <a:sym typeface="Calibri"/>
                </a:endParaRPr>
              </a:p>
            </p:txBody>
          </p:sp>
          <p:sp>
            <p:nvSpPr>
              <p:cNvPr id="629" name="Google Shape;629;p37"/>
              <p:cNvSpPr/>
              <p:nvPr/>
            </p:nvSpPr>
            <p:spPr>
              <a:xfrm>
                <a:off x="3505200" y="3399222"/>
                <a:ext cx="159123" cy="152400"/>
              </a:xfrm>
              <a:prstGeom prst="flowChartConnector">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70C0"/>
                  </a:solidFill>
                  <a:latin typeface="Calibri"/>
                  <a:ea typeface="Calibri"/>
                  <a:cs typeface="Calibri"/>
                  <a:sym typeface="Calibri"/>
                </a:endParaRPr>
              </a:p>
            </p:txBody>
          </p:sp>
          <p:sp>
            <p:nvSpPr>
              <p:cNvPr id="630" name="Google Shape;630;p37"/>
              <p:cNvSpPr/>
              <p:nvPr/>
            </p:nvSpPr>
            <p:spPr>
              <a:xfrm>
                <a:off x="4114800" y="3407544"/>
                <a:ext cx="159123" cy="152400"/>
              </a:xfrm>
              <a:prstGeom prst="flowChartConnector">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70C0"/>
                  </a:solidFill>
                  <a:latin typeface="Calibri"/>
                  <a:ea typeface="Calibri"/>
                  <a:cs typeface="Calibri"/>
                  <a:sym typeface="Calibri"/>
                </a:endParaRPr>
              </a:p>
            </p:txBody>
          </p:sp>
          <p:sp>
            <p:nvSpPr>
              <p:cNvPr id="631" name="Google Shape;631;p37"/>
              <p:cNvSpPr/>
              <p:nvPr/>
            </p:nvSpPr>
            <p:spPr>
              <a:xfrm>
                <a:off x="5112060" y="3399222"/>
                <a:ext cx="159123" cy="152400"/>
              </a:xfrm>
              <a:prstGeom prst="flowChartConnector">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70C0"/>
                  </a:solidFill>
                  <a:latin typeface="Calibri"/>
                  <a:ea typeface="Calibri"/>
                  <a:cs typeface="Calibri"/>
                  <a:sym typeface="Calibri"/>
                </a:endParaRPr>
              </a:p>
            </p:txBody>
          </p:sp>
          <p:sp>
            <p:nvSpPr>
              <p:cNvPr id="632" name="Google Shape;632;p37"/>
              <p:cNvSpPr/>
              <p:nvPr/>
            </p:nvSpPr>
            <p:spPr>
              <a:xfrm>
                <a:off x="5721660" y="3429584"/>
                <a:ext cx="159123" cy="152400"/>
              </a:xfrm>
              <a:prstGeom prst="flowChartConnector">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70C0"/>
                  </a:solidFill>
                  <a:latin typeface="Calibri"/>
                  <a:ea typeface="Calibri"/>
                  <a:cs typeface="Calibri"/>
                  <a:sym typeface="Calibri"/>
                </a:endParaRPr>
              </a:p>
            </p:txBody>
          </p:sp>
          <p:sp>
            <p:nvSpPr>
              <p:cNvPr id="633" name="Google Shape;633;p37"/>
              <p:cNvSpPr/>
              <p:nvPr/>
            </p:nvSpPr>
            <p:spPr>
              <a:xfrm>
                <a:off x="6483660" y="3407544"/>
                <a:ext cx="159123" cy="152400"/>
              </a:xfrm>
              <a:prstGeom prst="flowChartConnector">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70C0"/>
                  </a:solidFill>
                  <a:latin typeface="Calibri"/>
                  <a:ea typeface="Calibri"/>
                  <a:cs typeface="Calibri"/>
                  <a:sym typeface="Calibri"/>
                </a:endParaRPr>
              </a:p>
            </p:txBody>
          </p:sp>
          <p:sp>
            <p:nvSpPr>
              <p:cNvPr id="634" name="Google Shape;634;p37"/>
              <p:cNvSpPr/>
              <p:nvPr/>
            </p:nvSpPr>
            <p:spPr>
              <a:xfrm>
                <a:off x="7245660" y="3425206"/>
                <a:ext cx="159123" cy="152400"/>
              </a:xfrm>
              <a:prstGeom prst="flowChartConnector">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70C0"/>
                  </a:solidFill>
                  <a:latin typeface="Calibri"/>
                  <a:ea typeface="Calibri"/>
                  <a:cs typeface="Calibri"/>
                  <a:sym typeface="Calibri"/>
                </a:endParaRPr>
              </a:p>
            </p:txBody>
          </p:sp>
          <p:sp>
            <p:nvSpPr>
              <p:cNvPr id="635" name="Google Shape;635;p37"/>
              <p:cNvSpPr/>
              <p:nvPr/>
            </p:nvSpPr>
            <p:spPr>
              <a:xfrm>
                <a:off x="1981199" y="4059379"/>
                <a:ext cx="159123" cy="152400"/>
              </a:xfrm>
              <a:prstGeom prst="flowChartConnector">
                <a:avLst/>
              </a:prstGeom>
              <a:solidFill>
                <a:srgbClr val="F796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70C0"/>
                  </a:solidFill>
                  <a:latin typeface="Calibri"/>
                  <a:ea typeface="Calibri"/>
                  <a:cs typeface="Calibri"/>
                  <a:sym typeface="Calibri"/>
                </a:endParaRPr>
              </a:p>
            </p:txBody>
          </p:sp>
          <p:sp>
            <p:nvSpPr>
              <p:cNvPr id="636" name="Google Shape;636;p37"/>
              <p:cNvSpPr/>
              <p:nvPr/>
            </p:nvSpPr>
            <p:spPr>
              <a:xfrm>
                <a:off x="2740583" y="4059379"/>
                <a:ext cx="159123" cy="152400"/>
              </a:xfrm>
              <a:prstGeom prst="flowChartConnector">
                <a:avLst/>
              </a:prstGeom>
              <a:solidFill>
                <a:srgbClr val="F796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70C0"/>
                  </a:solidFill>
                  <a:latin typeface="Calibri"/>
                  <a:ea typeface="Calibri"/>
                  <a:cs typeface="Calibri"/>
                  <a:sym typeface="Calibri"/>
                </a:endParaRPr>
              </a:p>
            </p:txBody>
          </p:sp>
          <p:sp>
            <p:nvSpPr>
              <p:cNvPr id="637" name="Google Shape;637;p37"/>
              <p:cNvSpPr/>
              <p:nvPr/>
            </p:nvSpPr>
            <p:spPr>
              <a:xfrm>
                <a:off x="5721660" y="4029390"/>
                <a:ext cx="159123" cy="152400"/>
              </a:xfrm>
              <a:prstGeom prst="flowChartConnector">
                <a:avLst/>
              </a:prstGeom>
              <a:solidFill>
                <a:srgbClr val="F7964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70C0"/>
                  </a:solidFill>
                  <a:latin typeface="Calibri"/>
                  <a:ea typeface="Calibri"/>
                  <a:cs typeface="Calibri"/>
                  <a:sym typeface="Calibri"/>
                </a:endParaRPr>
              </a:p>
            </p:txBody>
          </p:sp>
          <p:cxnSp>
            <p:nvCxnSpPr>
              <p:cNvPr id="638" name="Google Shape;638;p37"/>
              <p:cNvCxnSpPr>
                <a:stCxn id="617" idx="4"/>
                <a:endCxn id="620" idx="7"/>
              </p:cNvCxnSpPr>
              <p:nvPr/>
            </p:nvCxnSpPr>
            <p:spPr>
              <a:xfrm flipH="1">
                <a:off x="3249839" y="1752600"/>
                <a:ext cx="1395000" cy="479400"/>
              </a:xfrm>
              <a:prstGeom prst="straightConnector1">
                <a:avLst/>
              </a:prstGeom>
              <a:noFill/>
              <a:ln w="9525" cap="flat" cmpd="sng">
                <a:solidFill>
                  <a:schemeClr val="dk1"/>
                </a:solidFill>
                <a:prstDash val="solid"/>
                <a:round/>
                <a:headEnd type="none" w="sm" len="sm"/>
                <a:tailEnd type="triangle" w="med" len="med"/>
              </a:ln>
            </p:spPr>
          </p:cxnSp>
          <p:cxnSp>
            <p:nvCxnSpPr>
              <p:cNvPr id="639" name="Google Shape;639;p37"/>
              <p:cNvCxnSpPr>
                <a:stCxn id="617" idx="4"/>
                <a:endCxn id="618" idx="1"/>
              </p:cNvCxnSpPr>
              <p:nvPr/>
            </p:nvCxnSpPr>
            <p:spPr>
              <a:xfrm>
                <a:off x="4644839" y="1752600"/>
                <a:ext cx="1395000" cy="479400"/>
              </a:xfrm>
              <a:prstGeom prst="straightConnector1">
                <a:avLst/>
              </a:prstGeom>
              <a:noFill/>
              <a:ln w="9525" cap="flat" cmpd="sng">
                <a:solidFill>
                  <a:schemeClr val="dk1"/>
                </a:solidFill>
                <a:prstDash val="solid"/>
                <a:round/>
                <a:headEnd type="none" w="sm" len="sm"/>
                <a:tailEnd type="triangle" w="med" len="med"/>
              </a:ln>
            </p:spPr>
          </p:cxnSp>
          <p:cxnSp>
            <p:nvCxnSpPr>
              <p:cNvPr id="640" name="Google Shape;640;p37"/>
              <p:cNvCxnSpPr>
                <a:stCxn id="617" idx="4"/>
                <a:endCxn id="619" idx="0"/>
              </p:cNvCxnSpPr>
              <p:nvPr/>
            </p:nvCxnSpPr>
            <p:spPr>
              <a:xfrm>
                <a:off x="4644839" y="1752600"/>
                <a:ext cx="0" cy="457200"/>
              </a:xfrm>
              <a:prstGeom prst="straightConnector1">
                <a:avLst/>
              </a:prstGeom>
              <a:noFill/>
              <a:ln w="9525" cap="flat" cmpd="sng">
                <a:solidFill>
                  <a:schemeClr val="dk1"/>
                </a:solidFill>
                <a:prstDash val="solid"/>
                <a:round/>
                <a:headEnd type="none" w="sm" len="sm"/>
                <a:tailEnd type="triangle" w="med" len="med"/>
              </a:ln>
            </p:spPr>
          </p:cxnSp>
          <p:cxnSp>
            <p:nvCxnSpPr>
              <p:cNvPr id="641" name="Google Shape;641;p37"/>
              <p:cNvCxnSpPr>
                <a:stCxn id="620" idx="3"/>
                <a:endCxn id="622" idx="7"/>
              </p:cNvCxnSpPr>
              <p:nvPr/>
            </p:nvCxnSpPr>
            <p:spPr>
              <a:xfrm flipH="1">
                <a:off x="2567418" y="2339882"/>
                <a:ext cx="570000" cy="568200"/>
              </a:xfrm>
              <a:prstGeom prst="straightConnector1">
                <a:avLst/>
              </a:prstGeom>
              <a:noFill/>
              <a:ln w="9525" cap="flat" cmpd="sng">
                <a:solidFill>
                  <a:schemeClr val="dk1"/>
                </a:solidFill>
                <a:prstDash val="solid"/>
                <a:round/>
                <a:headEnd type="none" w="sm" len="sm"/>
                <a:tailEnd type="triangle" w="med" len="med"/>
              </a:ln>
            </p:spPr>
          </p:cxnSp>
          <p:cxnSp>
            <p:nvCxnSpPr>
              <p:cNvPr id="642" name="Google Shape;642;p37"/>
              <p:cNvCxnSpPr>
                <a:stCxn id="620" idx="4"/>
                <a:endCxn id="621" idx="0"/>
              </p:cNvCxnSpPr>
              <p:nvPr/>
            </p:nvCxnSpPr>
            <p:spPr>
              <a:xfrm>
                <a:off x="3193677" y="2362200"/>
                <a:ext cx="3300" cy="523500"/>
              </a:xfrm>
              <a:prstGeom prst="straightConnector1">
                <a:avLst/>
              </a:prstGeom>
              <a:noFill/>
              <a:ln w="9525" cap="flat" cmpd="sng">
                <a:solidFill>
                  <a:schemeClr val="dk1"/>
                </a:solidFill>
                <a:prstDash val="solid"/>
                <a:round/>
                <a:headEnd type="none" w="sm" len="sm"/>
                <a:tailEnd type="triangle" w="med" len="med"/>
              </a:ln>
            </p:spPr>
          </p:cxnSp>
          <p:cxnSp>
            <p:nvCxnSpPr>
              <p:cNvPr id="643" name="Google Shape;643;p37"/>
              <p:cNvCxnSpPr>
                <a:stCxn id="622" idx="4"/>
                <a:endCxn id="627" idx="7"/>
              </p:cNvCxnSpPr>
              <p:nvPr/>
            </p:nvCxnSpPr>
            <p:spPr>
              <a:xfrm flipH="1">
                <a:off x="2117039" y="3038206"/>
                <a:ext cx="394200" cy="383400"/>
              </a:xfrm>
              <a:prstGeom prst="straightConnector1">
                <a:avLst/>
              </a:prstGeom>
              <a:noFill/>
              <a:ln w="9525" cap="flat" cmpd="sng">
                <a:solidFill>
                  <a:schemeClr val="dk1"/>
                </a:solidFill>
                <a:prstDash val="solid"/>
                <a:round/>
                <a:headEnd type="none" w="sm" len="sm"/>
                <a:tailEnd type="triangle" w="med" len="med"/>
              </a:ln>
            </p:spPr>
          </p:cxnSp>
          <p:cxnSp>
            <p:nvCxnSpPr>
              <p:cNvPr id="644" name="Google Shape;644;p37"/>
              <p:cNvCxnSpPr>
                <a:stCxn id="622" idx="4"/>
                <a:endCxn id="628" idx="0"/>
              </p:cNvCxnSpPr>
              <p:nvPr/>
            </p:nvCxnSpPr>
            <p:spPr>
              <a:xfrm>
                <a:off x="2511239" y="3038206"/>
                <a:ext cx="311400" cy="369300"/>
              </a:xfrm>
              <a:prstGeom prst="straightConnector1">
                <a:avLst/>
              </a:prstGeom>
              <a:noFill/>
              <a:ln w="9525" cap="flat" cmpd="sng">
                <a:solidFill>
                  <a:schemeClr val="dk1"/>
                </a:solidFill>
                <a:prstDash val="solid"/>
                <a:round/>
                <a:headEnd type="none" w="sm" len="sm"/>
                <a:tailEnd type="triangle" w="med" len="med"/>
              </a:ln>
            </p:spPr>
          </p:cxnSp>
          <p:cxnSp>
            <p:nvCxnSpPr>
              <p:cNvPr id="645" name="Google Shape;645;p37"/>
              <p:cNvCxnSpPr>
                <a:stCxn id="627" idx="4"/>
                <a:endCxn id="635" idx="0"/>
              </p:cNvCxnSpPr>
              <p:nvPr/>
            </p:nvCxnSpPr>
            <p:spPr>
              <a:xfrm>
                <a:off x="2060762" y="3551703"/>
                <a:ext cx="0" cy="507600"/>
              </a:xfrm>
              <a:prstGeom prst="straightConnector1">
                <a:avLst/>
              </a:prstGeom>
              <a:noFill/>
              <a:ln w="9525" cap="flat" cmpd="sng">
                <a:solidFill>
                  <a:schemeClr val="dk1"/>
                </a:solidFill>
                <a:prstDash val="solid"/>
                <a:round/>
                <a:headEnd type="none" w="sm" len="sm"/>
                <a:tailEnd type="triangle" w="med" len="med"/>
              </a:ln>
            </p:spPr>
          </p:cxnSp>
          <p:cxnSp>
            <p:nvCxnSpPr>
              <p:cNvPr id="646" name="Google Shape;646;p37"/>
              <p:cNvCxnSpPr>
                <a:stCxn id="628" idx="4"/>
                <a:endCxn id="636" idx="0"/>
              </p:cNvCxnSpPr>
              <p:nvPr/>
            </p:nvCxnSpPr>
            <p:spPr>
              <a:xfrm flipH="1">
                <a:off x="2820062" y="3559944"/>
                <a:ext cx="2700" cy="499500"/>
              </a:xfrm>
              <a:prstGeom prst="straightConnector1">
                <a:avLst/>
              </a:prstGeom>
              <a:noFill/>
              <a:ln w="9525" cap="flat" cmpd="sng">
                <a:solidFill>
                  <a:schemeClr val="dk1"/>
                </a:solidFill>
                <a:prstDash val="solid"/>
                <a:round/>
                <a:headEnd type="none" w="sm" len="sm"/>
                <a:tailEnd type="triangle" w="med" len="med"/>
              </a:ln>
            </p:spPr>
          </p:cxnSp>
          <p:cxnSp>
            <p:nvCxnSpPr>
              <p:cNvPr id="647" name="Google Shape;647;p37"/>
              <p:cNvCxnSpPr>
                <a:stCxn id="619" idx="4"/>
                <a:endCxn id="623" idx="7"/>
              </p:cNvCxnSpPr>
              <p:nvPr/>
            </p:nvCxnSpPr>
            <p:spPr>
              <a:xfrm flipH="1">
                <a:off x="4250639" y="2362200"/>
                <a:ext cx="394200" cy="546000"/>
              </a:xfrm>
              <a:prstGeom prst="straightConnector1">
                <a:avLst/>
              </a:prstGeom>
              <a:noFill/>
              <a:ln w="9525" cap="flat" cmpd="sng">
                <a:solidFill>
                  <a:schemeClr val="dk1"/>
                </a:solidFill>
                <a:prstDash val="solid"/>
                <a:round/>
                <a:headEnd type="none" w="sm" len="sm"/>
                <a:tailEnd type="triangle" w="med" len="med"/>
              </a:ln>
            </p:spPr>
          </p:cxnSp>
          <p:cxnSp>
            <p:nvCxnSpPr>
              <p:cNvPr id="648" name="Google Shape;648;p37"/>
              <p:cNvCxnSpPr>
                <a:stCxn id="619" idx="4"/>
                <a:endCxn id="624" idx="1"/>
              </p:cNvCxnSpPr>
              <p:nvPr/>
            </p:nvCxnSpPr>
            <p:spPr>
              <a:xfrm>
                <a:off x="4644839" y="2362200"/>
                <a:ext cx="490500" cy="546000"/>
              </a:xfrm>
              <a:prstGeom prst="straightConnector1">
                <a:avLst/>
              </a:prstGeom>
              <a:noFill/>
              <a:ln w="9525" cap="flat" cmpd="sng">
                <a:solidFill>
                  <a:schemeClr val="dk1"/>
                </a:solidFill>
                <a:prstDash val="solid"/>
                <a:round/>
                <a:headEnd type="none" w="sm" len="sm"/>
                <a:tailEnd type="triangle" w="med" len="med"/>
              </a:ln>
            </p:spPr>
          </p:cxnSp>
          <p:cxnSp>
            <p:nvCxnSpPr>
              <p:cNvPr id="649" name="Google Shape;649;p37"/>
              <p:cNvCxnSpPr>
                <a:stCxn id="618" idx="5"/>
                <a:endCxn id="625" idx="0"/>
              </p:cNvCxnSpPr>
              <p:nvPr/>
            </p:nvCxnSpPr>
            <p:spPr>
              <a:xfrm>
                <a:off x="6152259" y="2339882"/>
                <a:ext cx="23400" cy="546000"/>
              </a:xfrm>
              <a:prstGeom prst="straightConnector1">
                <a:avLst/>
              </a:prstGeom>
              <a:noFill/>
              <a:ln w="9525" cap="flat" cmpd="sng">
                <a:solidFill>
                  <a:schemeClr val="dk1"/>
                </a:solidFill>
                <a:prstDash val="solid"/>
                <a:round/>
                <a:headEnd type="none" w="sm" len="sm"/>
                <a:tailEnd type="triangle" w="med" len="med"/>
              </a:ln>
            </p:spPr>
          </p:cxnSp>
          <p:cxnSp>
            <p:nvCxnSpPr>
              <p:cNvPr id="650" name="Google Shape;650;p37"/>
              <p:cNvCxnSpPr>
                <a:stCxn id="618" idx="5"/>
                <a:endCxn id="626" idx="1"/>
              </p:cNvCxnSpPr>
              <p:nvPr/>
            </p:nvCxnSpPr>
            <p:spPr>
              <a:xfrm>
                <a:off x="6152259" y="2339882"/>
                <a:ext cx="652800" cy="568200"/>
              </a:xfrm>
              <a:prstGeom prst="straightConnector1">
                <a:avLst/>
              </a:prstGeom>
              <a:noFill/>
              <a:ln w="9525" cap="flat" cmpd="sng">
                <a:solidFill>
                  <a:schemeClr val="dk1"/>
                </a:solidFill>
                <a:prstDash val="solid"/>
                <a:round/>
                <a:headEnd type="none" w="sm" len="sm"/>
                <a:tailEnd type="triangle" w="med" len="med"/>
              </a:ln>
            </p:spPr>
          </p:cxnSp>
          <p:cxnSp>
            <p:nvCxnSpPr>
              <p:cNvPr id="651" name="Google Shape;651;p37"/>
              <p:cNvCxnSpPr>
                <a:stCxn id="621" idx="4"/>
                <a:endCxn id="628" idx="0"/>
              </p:cNvCxnSpPr>
              <p:nvPr/>
            </p:nvCxnSpPr>
            <p:spPr>
              <a:xfrm flipH="1">
                <a:off x="2822702" y="3038206"/>
                <a:ext cx="374400" cy="369300"/>
              </a:xfrm>
              <a:prstGeom prst="straightConnector1">
                <a:avLst/>
              </a:prstGeom>
              <a:noFill/>
              <a:ln w="9525" cap="flat" cmpd="sng">
                <a:solidFill>
                  <a:schemeClr val="dk1"/>
                </a:solidFill>
                <a:prstDash val="solid"/>
                <a:round/>
                <a:headEnd type="none" w="sm" len="sm"/>
                <a:tailEnd type="triangle" w="med" len="med"/>
              </a:ln>
            </p:spPr>
          </p:cxnSp>
          <p:cxnSp>
            <p:nvCxnSpPr>
              <p:cNvPr id="652" name="Google Shape;652;p37"/>
              <p:cNvCxnSpPr>
                <a:stCxn id="621" idx="4"/>
                <a:endCxn id="629" idx="1"/>
              </p:cNvCxnSpPr>
              <p:nvPr/>
            </p:nvCxnSpPr>
            <p:spPr>
              <a:xfrm>
                <a:off x="3197102" y="3038206"/>
                <a:ext cx="331500" cy="383400"/>
              </a:xfrm>
              <a:prstGeom prst="straightConnector1">
                <a:avLst/>
              </a:prstGeom>
              <a:noFill/>
              <a:ln w="9525" cap="flat" cmpd="sng">
                <a:solidFill>
                  <a:schemeClr val="dk1"/>
                </a:solidFill>
                <a:prstDash val="solid"/>
                <a:round/>
                <a:headEnd type="none" w="sm" len="sm"/>
                <a:tailEnd type="triangle" w="med" len="med"/>
              </a:ln>
            </p:spPr>
          </p:cxnSp>
          <p:cxnSp>
            <p:nvCxnSpPr>
              <p:cNvPr id="653" name="Google Shape;653;p37"/>
              <p:cNvCxnSpPr>
                <a:stCxn id="623" idx="4"/>
                <a:endCxn id="630" idx="0"/>
              </p:cNvCxnSpPr>
              <p:nvPr/>
            </p:nvCxnSpPr>
            <p:spPr>
              <a:xfrm>
                <a:off x="4194362" y="3038206"/>
                <a:ext cx="0" cy="369300"/>
              </a:xfrm>
              <a:prstGeom prst="straightConnector1">
                <a:avLst/>
              </a:prstGeom>
              <a:noFill/>
              <a:ln w="9525" cap="flat" cmpd="sng">
                <a:solidFill>
                  <a:schemeClr val="dk1"/>
                </a:solidFill>
                <a:prstDash val="solid"/>
                <a:round/>
                <a:headEnd type="none" w="sm" len="sm"/>
                <a:tailEnd type="triangle" w="med" len="med"/>
              </a:ln>
            </p:spPr>
          </p:cxnSp>
          <p:cxnSp>
            <p:nvCxnSpPr>
              <p:cNvPr id="654" name="Google Shape;654;p37"/>
              <p:cNvCxnSpPr>
                <a:stCxn id="624" idx="4"/>
                <a:endCxn id="631" idx="0"/>
              </p:cNvCxnSpPr>
              <p:nvPr/>
            </p:nvCxnSpPr>
            <p:spPr>
              <a:xfrm>
                <a:off x="5191622" y="3038206"/>
                <a:ext cx="0" cy="360900"/>
              </a:xfrm>
              <a:prstGeom prst="straightConnector1">
                <a:avLst/>
              </a:prstGeom>
              <a:noFill/>
              <a:ln w="9525" cap="flat" cmpd="sng">
                <a:solidFill>
                  <a:schemeClr val="dk1"/>
                </a:solidFill>
                <a:prstDash val="solid"/>
                <a:round/>
                <a:headEnd type="none" w="sm" len="sm"/>
                <a:tailEnd type="triangle" w="med" len="med"/>
              </a:ln>
            </p:spPr>
          </p:cxnSp>
          <p:cxnSp>
            <p:nvCxnSpPr>
              <p:cNvPr id="655" name="Google Shape;655;p37"/>
              <p:cNvCxnSpPr>
                <a:stCxn id="624" idx="4"/>
                <a:endCxn id="632" idx="0"/>
              </p:cNvCxnSpPr>
              <p:nvPr/>
            </p:nvCxnSpPr>
            <p:spPr>
              <a:xfrm>
                <a:off x="5191622" y="3038206"/>
                <a:ext cx="609600" cy="391500"/>
              </a:xfrm>
              <a:prstGeom prst="straightConnector1">
                <a:avLst/>
              </a:prstGeom>
              <a:noFill/>
              <a:ln w="9525" cap="flat" cmpd="sng">
                <a:solidFill>
                  <a:schemeClr val="dk1"/>
                </a:solidFill>
                <a:prstDash val="solid"/>
                <a:round/>
                <a:headEnd type="none" w="sm" len="sm"/>
                <a:tailEnd type="triangle" w="med" len="med"/>
              </a:ln>
            </p:spPr>
          </p:cxnSp>
          <p:cxnSp>
            <p:nvCxnSpPr>
              <p:cNvPr id="656" name="Google Shape;656;p37"/>
              <p:cNvCxnSpPr>
                <a:stCxn id="625" idx="4"/>
                <a:endCxn id="632" idx="0"/>
              </p:cNvCxnSpPr>
              <p:nvPr/>
            </p:nvCxnSpPr>
            <p:spPr>
              <a:xfrm flipH="1">
                <a:off x="5801162" y="3038206"/>
                <a:ext cx="374400" cy="391500"/>
              </a:xfrm>
              <a:prstGeom prst="straightConnector1">
                <a:avLst/>
              </a:prstGeom>
              <a:noFill/>
              <a:ln w="9525" cap="flat" cmpd="sng">
                <a:solidFill>
                  <a:schemeClr val="dk1"/>
                </a:solidFill>
                <a:prstDash val="solid"/>
                <a:round/>
                <a:headEnd type="none" w="sm" len="sm"/>
                <a:tailEnd type="triangle" w="med" len="med"/>
              </a:ln>
            </p:spPr>
          </p:cxnSp>
          <p:cxnSp>
            <p:nvCxnSpPr>
              <p:cNvPr id="657" name="Google Shape;657;p37"/>
              <p:cNvCxnSpPr>
                <a:stCxn id="625" idx="4"/>
                <a:endCxn id="633" idx="1"/>
              </p:cNvCxnSpPr>
              <p:nvPr/>
            </p:nvCxnSpPr>
            <p:spPr>
              <a:xfrm>
                <a:off x="6175562" y="3038206"/>
                <a:ext cx="331500" cy="391800"/>
              </a:xfrm>
              <a:prstGeom prst="straightConnector1">
                <a:avLst/>
              </a:prstGeom>
              <a:noFill/>
              <a:ln w="9525" cap="flat" cmpd="sng">
                <a:solidFill>
                  <a:schemeClr val="dk1"/>
                </a:solidFill>
                <a:prstDash val="solid"/>
                <a:round/>
                <a:headEnd type="none" w="sm" len="sm"/>
                <a:tailEnd type="triangle" w="med" len="med"/>
              </a:ln>
            </p:spPr>
          </p:cxnSp>
          <p:cxnSp>
            <p:nvCxnSpPr>
              <p:cNvPr id="658" name="Google Shape;658;p37"/>
              <p:cNvCxnSpPr>
                <a:stCxn id="626" idx="5"/>
                <a:endCxn id="634" idx="1"/>
              </p:cNvCxnSpPr>
              <p:nvPr/>
            </p:nvCxnSpPr>
            <p:spPr>
              <a:xfrm>
                <a:off x="6917620" y="3015888"/>
                <a:ext cx="351300" cy="431700"/>
              </a:xfrm>
              <a:prstGeom prst="straightConnector1">
                <a:avLst/>
              </a:prstGeom>
              <a:noFill/>
              <a:ln w="9525" cap="flat" cmpd="sng">
                <a:solidFill>
                  <a:schemeClr val="dk1"/>
                </a:solidFill>
                <a:prstDash val="solid"/>
                <a:round/>
                <a:headEnd type="none" w="sm" len="sm"/>
                <a:tailEnd type="triangle" w="med" len="med"/>
              </a:ln>
            </p:spPr>
          </p:cxnSp>
          <p:cxnSp>
            <p:nvCxnSpPr>
              <p:cNvPr id="659" name="Google Shape;659;p37"/>
              <p:cNvCxnSpPr>
                <a:stCxn id="632" idx="4"/>
                <a:endCxn id="637" idx="0"/>
              </p:cNvCxnSpPr>
              <p:nvPr/>
            </p:nvCxnSpPr>
            <p:spPr>
              <a:xfrm>
                <a:off x="5801222" y="3581984"/>
                <a:ext cx="0" cy="447300"/>
              </a:xfrm>
              <a:prstGeom prst="straightConnector1">
                <a:avLst/>
              </a:prstGeom>
              <a:noFill/>
              <a:ln w="9525" cap="flat" cmpd="sng">
                <a:solidFill>
                  <a:schemeClr val="dk1"/>
                </a:solidFill>
                <a:prstDash val="solid"/>
                <a:round/>
                <a:headEnd type="none" w="sm" len="sm"/>
                <a:tailEnd type="triangle" w="med" len="med"/>
              </a:ln>
            </p:spPr>
          </p:cxnSp>
        </p:grpSp>
        <p:sp>
          <p:nvSpPr>
            <p:cNvPr id="660" name="Google Shape;660;p37"/>
            <p:cNvSpPr txBox="1"/>
            <p:nvPr/>
          </p:nvSpPr>
          <p:spPr>
            <a:xfrm>
              <a:off x="4963208" y="1611868"/>
              <a:ext cx="31771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a:t>
              </a:r>
              <a:endParaRPr sz="1800" b="0" i="0" u="none" strike="noStrike" cap="none">
                <a:solidFill>
                  <a:schemeClr val="dk1"/>
                </a:solidFill>
                <a:latin typeface="Calibri"/>
                <a:ea typeface="Calibri"/>
                <a:cs typeface="Calibri"/>
                <a:sym typeface="Calibri"/>
              </a:endParaRPr>
            </a:p>
          </p:txBody>
        </p:sp>
        <p:sp>
          <p:nvSpPr>
            <p:cNvPr id="661" name="Google Shape;661;p37"/>
            <p:cNvSpPr txBox="1"/>
            <p:nvPr/>
          </p:nvSpPr>
          <p:spPr>
            <a:xfrm>
              <a:off x="2938847" y="2756511"/>
              <a:ext cx="31771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B</a:t>
              </a:r>
              <a:endParaRPr sz="1800" b="0" i="0" u="none" strike="noStrike" cap="none">
                <a:solidFill>
                  <a:schemeClr val="dk1"/>
                </a:solidFill>
                <a:latin typeface="Calibri"/>
                <a:ea typeface="Calibri"/>
                <a:cs typeface="Calibri"/>
                <a:sym typeface="Calibri"/>
              </a:endParaRPr>
            </a:p>
          </p:txBody>
        </p:sp>
        <p:sp>
          <p:nvSpPr>
            <p:cNvPr id="662" name="Google Shape;662;p37"/>
            <p:cNvSpPr txBox="1"/>
            <p:nvPr/>
          </p:nvSpPr>
          <p:spPr>
            <a:xfrm>
              <a:off x="4766473" y="2778170"/>
              <a:ext cx="31771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C</a:t>
              </a:r>
              <a:endParaRPr sz="1800" b="0" i="0" u="none" strike="noStrike" cap="none">
                <a:solidFill>
                  <a:schemeClr val="dk1"/>
                </a:solidFill>
                <a:latin typeface="Calibri"/>
                <a:ea typeface="Calibri"/>
                <a:cs typeface="Calibri"/>
                <a:sym typeface="Calibri"/>
              </a:endParaRPr>
            </a:p>
          </p:txBody>
        </p:sp>
        <p:sp>
          <p:nvSpPr>
            <p:cNvPr id="663" name="Google Shape;663;p37"/>
            <p:cNvSpPr txBox="1"/>
            <p:nvPr/>
          </p:nvSpPr>
          <p:spPr>
            <a:xfrm>
              <a:off x="6449344" y="2778170"/>
              <a:ext cx="32733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D</a:t>
              </a:r>
              <a:endParaRPr sz="1800" b="0" i="0" u="none" strike="noStrike" cap="none">
                <a:solidFill>
                  <a:schemeClr val="dk1"/>
                </a:solidFill>
                <a:latin typeface="Calibri"/>
                <a:ea typeface="Calibri"/>
                <a:cs typeface="Calibri"/>
                <a:sym typeface="Calibri"/>
              </a:endParaRPr>
            </a:p>
          </p:txBody>
        </p:sp>
        <p:sp>
          <p:nvSpPr>
            <p:cNvPr id="664" name="Google Shape;664;p37"/>
            <p:cNvSpPr txBox="1"/>
            <p:nvPr/>
          </p:nvSpPr>
          <p:spPr>
            <a:xfrm>
              <a:off x="2081570" y="3701743"/>
              <a:ext cx="29687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E</a:t>
              </a:r>
              <a:endParaRPr sz="1800" b="0" i="0" u="none" strike="noStrike" cap="none">
                <a:solidFill>
                  <a:schemeClr val="dk1"/>
                </a:solidFill>
                <a:latin typeface="Calibri"/>
                <a:ea typeface="Calibri"/>
                <a:cs typeface="Calibri"/>
                <a:sym typeface="Calibri"/>
              </a:endParaRPr>
            </a:p>
          </p:txBody>
        </p:sp>
        <p:sp>
          <p:nvSpPr>
            <p:cNvPr id="665" name="Google Shape;665;p37"/>
            <p:cNvSpPr txBox="1"/>
            <p:nvPr/>
          </p:nvSpPr>
          <p:spPr>
            <a:xfrm>
              <a:off x="2994123" y="3707608"/>
              <a:ext cx="29046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F</a:t>
              </a:r>
              <a:endParaRPr sz="1800" b="0" i="0" u="none" strike="noStrike" cap="none">
                <a:solidFill>
                  <a:schemeClr val="dk1"/>
                </a:solidFill>
                <a:latin typeface="Calibri"/>
                <a:ea typeface="Calibri"/>
                <a:cs typeface="Calibri"/>
                <a:sym typeface="Calibri"/>
              </a:endParaRPr>
            </a:p>
          </p:txBody>
        </p:sp>
        <p:sp>
          <p:nvSpPr>
            <p:cNvPr id="666" name="Google Shape;666;p37"/>
            <p:cNvSpPr txBox="1"/>
            <p:nvPr/>
          </p:nvSpPr>
          <p:spPr>
            <a:xfrm>
              <a:off x="4128586" y="3711098"/>
              <a:ext cx="33054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G</a:t>
              </a:r>
              <a:endParaRPr sz="1800" b="0" i="0" u="none" strike="noStrike" cap="none">
                <a:solidFill>
                  <a:schemeClr val="dk1"/>
                </a:solidFill>
                <a:latin typeface="Calibri"/>
                <a:ea typeface="Calibri"/>
                <a:cs typeface="Calibri"/>
                <a:sym typeface="Calibri"/>
              </a:endParaRPr>
            </a:p>
          </p:txBody>
        </p:sp>
        <p:sp>
          <p:nvSpPr>
            <p:cNvPr id="667" name="Google Shape;667;p37"/>
            <p:cNvSpPr txBox="1"/>
            <p:nvPr/>
          </p:nvSpPr>
          <p:spPr>
            <a:xfrm>
              <a:off x="5347233" y="3701743"/>
              <a:ext cx="32893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H</a:t>
              </a:r>
              <a:endParaRPr sz="1800" b="0" i="0" u="none" strike="noStrike" cap="none">
                <a:solidFill>
                  <a:schemeClr val="dk1"/>
                </a:solidFill>
                <a:latin typeface="Calibri"/>
                <a:ea typeface="Calibri"/>
                <a:cs typeface="Calibri"/>
                <a:sym typeface="Calibri"/>
              </a:endParaRPr>
            </a:p>
          </p:txBody>
        </p:sp>
        <p:sp>
          <p:nvSpPr>
            <p:cNvPr id="668" name="Google Shape;668;p37"/>
            <p:cNvSpPr txBox="1"/>
            <p:nvPr/>
          </p:nvSpPr>
          <p:spPr>
            <a:xfrm>
              <a:off x="6624246" y="3701743"/>
              <a:ext cx="24237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I</a:t>
              </a:r>
              <a:endParaRPr sz="1800" b="0" i="0" u="none" strike="noStrike" cap="none">
                <a:solidFill>
                  <a:schemeClr val="dk1"/>
                </a:solidFill>
                <a:latin typeface="Calibri"/>
                <a:ea typeface="Calibri"/>
                <a:cs typeface="Calibri"/>
                <a:sym typeface="Calibri"/>
              </a:endParaRPr>
            </a:p>
          </p:txBody>
        </p:sp>
        <p:sp>
          <p:nvSpPr>
            <p:cNvPr id="669" name="Google Shape;669;p37"/>
            <p:cNvSpPr txBox="1"/>
            <p:nvPr/>
          </p:nvSpPr>
          <p:spPr>
            <a:xfrm>
              <a:off x="7447500" y="3711098"/>
              <a:ext cx="25840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J</a:t>
              </a:r>
              <a:endParaRPr sz="1800" b="0" i="0" u="none" strike="noStrike" cap="none">
                <a:solidFill>
                  <a:schemeClr val="dk1"/>
                </a:solidFill>
                <a:latin typeface="Calibri"/>
                <a:ea typeface="Calibri"/>
                <a:cs typeface="Calibri"/>
                <a:sym typeface="Calibri"/>
              </a:endParaRPr>
            </a:p>
          </p:txBody>
        </p:sp>
        <p:sp>
          <p:nvSpPr>
            <p:cNvPr id="670" name="Google Shape;670;p37"/>
            <p:cNvSpPr txBox="1"/>
            <p:nvPr/>
          </p:nvSpPr>
          <p:spPr>
            <a:xfrm>
              <a:off x="8028260" y="4454115"/>
              <a:ext cx="31771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R</a:t>
              </a:r>
              <a:endParaRPr sz="1800" b="0" i="0" u="none" strike="noStrike" cap="none">
                <a:solidFill>
                  <a:schemeClr val="dk1"/>
                </a:solidFill>
                <a:latin typeface="Calibri"/>
                <a:ea typeface="Calibri"/>
                <a:cs typeface="Calibri"/>
                <a:sym typeface="Calibri"/>
              </a:endParaRPr>
            </a:p>
          </p:txBody>
        </p:sp>
        <p:sp>
          <p:nvSpPr>
            <p:cNvPr id="671" name="Google Shape;671;p37"/>
            <p:cNvSpPr txBox="1"/>
            <p:nvPr/>
          </p:nvSpPr>
          <p:spPr>
            <a:xfrm>
              <a:off x="7107342" y="4454115"/>
              <a:ext cx="34015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Q</a:t>
              </a:r>
              <a:endParaRPr sz="1800" b="0" i="0" u="none" strike="noStrike" cap="none">
                <a:solidFill>
                  <a:schemeClr val="dk1"/>
                </a:solidFill>
                <a:latin typeface="Calibri"/>
                <a:ea typeface="Calibri"/>
                <a:cs typeface="Calibri"/>
                <a:sym typeface="Calibri"/>
              </a:endParaRPr>
            </a:p>
          </p:txBody>
        </p:sp>
        <p:sp>
          <p:nvSpPr>
            <p:cNvPr id="672" name="Google Shape;672;p37"/>
            <p:cNvSpPr txBox="1"/>
            <p:nvPr/>
          </p:nvSpPr>
          <p:spPr>
            <a:xfrm>
              <a:off x="6191074" y="4459233"/>
              <a:ext cx="30328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P</a:t>
              </a:r>
              <a:endParaRPr sz="1800" b="0" i="0" u="none" strike="noStrike" cap="none">
                <a:solidFill>
                  <a:schemeClr val="dk1"/>
                </a:solidFill>
                <a:latin typeface="Calibri"/>
                <a:ea typeface="Calibri"/>
                <a:cs typeface="Calibri"/>
                <a:sym typeface="Calibri"/>
              </a:endParaRPr>
            </a:p>
          </p:txBody>
        </p:sp>
        <p:sp>
          <p:nvSpPr>
            <p:cNvPr id="673" name="Google Shape;673;p37"/>
            <p:cNvSpPr txBox="1"/>
            <p:nvPr/>
          </p:nvSpPr>
          <p:spPr>
            <a:xfrm>
              <a:off x="5432885" y="4454513"/>
              <a:ext cx="33695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O</a:t>
              </a:r>
              <a:endParaRPr sz="1800" b="0" i="0" u="none" strike="noStrike" cap="none">
                <a:solidFill>
                  <a:schemeClr val="dk1"/>
                </a:solidFill>
                <a:latin typeface="Calibri"/>
                <a:ea typeface="Calibri"/>
                <a:cs typeface="Calibri"/>
                <a:sym typeface="Calibri"/>
              </a:endParaRPr>
            </a:p>
          </p:txBody>
        </p:sp>
        <p:sp>
          <p:nvSpPr>
            <p:cNvPr id="674" name="Google Shape;674;p37"/>
            <p:cNvSpPr txBox="1"/>
            <p:nvPr/>
          </p:nvSpPr>
          <p:spPr>
            <a:xfrm>
              <a:off x="6174945" y="5305412"/>
              <a:ext cx="33214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U</a:t>
              </a:r>
              <a:endParaRPr sz="1800" b="0" i="0" u="none" strike="noStrike" cap="none">
                <a:solidFill>
                  <a:schemeClr val="dk1"/>
                </a:solidFill>
                <a:latin typeface="Calibri"/>
                <a:ea typeface="Calibri"/>
                <a:cs typeface="Calibri"/>
                <a:sym typeface="Calibri"/>
              </a:endParaRPr>
            </a:p>
          </p:txBody>
        </p:sp>
        <p:sp>
          <p:nvSpPr>
            <p:cNvPr id="675" name="Google Shape;675;p37"/>
            <p:cNvSpPr txBox="1"/>
            <p:nvPr/>
          </p:nvSpPr>
          <p:spPr>
            <a:xfrm>
              <a:off x="4206896" y="4459233"/>
              <a:ext cx="33374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a:t>
              </a:r>
              <a:endParaRPr sz="1800" b="0" i="0" u="none" strike="noStrike" cap="none">
                <a:solidFill>
                  <a:schemeClr val="dk1"/>
                </a:solidFill>
                <a:latin typeface="Calibri"/>
                <a:ea typeface="Calibri"/>
                <a:cs typeface="Calibri"/>
                <a:sym typeface="Calibri"/>
              </a:endParaRPr>
            </a:p>
          </p:txBody>
        </p:sp>
        <p:sp>
          <p:nvSpPr>
            <p:cNvPr id="676" name="Google Shape;676;p37"/>
            <p:cNvSpPr txBox="1"/>
            <p:nvPr/>
          </p:nvSpPr>
          <p:spPr>
            <a:xfrm>
              <a:off x="3348583" y="4446118"/>
              <a:ext cx="38183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M</a:t>
              </a:r>
              <a:endParaRPr sz="1800" b="0" i="0" u="none" strike="noStrike" cap="none">
                <a:solidFill>
                  <a:schemeClr val="dk1"/>
                </a:solidFill>
                <a:latin typeface="Calibri"/>
                <a:ea typeface="Calibri"/>
                <a:cs typeface="Calibri"/>
                <a:sym typeface="Calibri"/>
              </a:endParaRPr>
            </a:p>
          </p:txBody>
        </p:sp>
        <p:sp>
          <p:nvSpPr>
            <p:cNvPr id="677" name="Google Shape;677;p37"/>
            <p:cNvSpPr txBox="1"/>
            <p:nvPr/>
          </p:nvSpPr>
          <p:spPr>
            <a:xfrm>
              <a:off x="2481765" y="4449263"/>
              <a:ext cx="28245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L</a:t>
              </a:r>
              <a:endParaRPr sz="1800" b="0" i="0" u="none" strike="noStrike" cap="none">
                <a:solidFill>
                  <a:schemeClr val="dk1"/>
                </a:solidFill>
                <a:latin typeface="Calibri"/>
                <a:ea typeface="Calibri"/>
                <a:cs typeface="Calibri"/>
                <a:sym typeface="Calibri"/>
              </a:endParaRPr>
            </a:p>
          </p:txBody>
        </p:sp>
        <p:sp>
          <p:nvSpPr>
            <p:cNvPr id="678" name="Google Shape;678;p37"/>
            <p:cNvSpPr txBox="1"/>
            <p:nvPr/>
          </p:nvSpPr>
          <p:spPr>
            <a:xfrm>
              <a:off x="2495514" y="5349864"/>
              <a:ext cx="29687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T</a:t>
              </a:r>
              <a:endParaRPr sz="1800" b="0" i="0" u="none" strike="noStrike" cap="none">
                <a:solidFill>
                  <a:schemeClr val="dk1"/>
                </a:solidFill>
                <a:latin typeface="Calibri"/>
                <a:ea typeface="Calibri"/>
                <a:cs typeface="Calibri"/>
                <a:sym typeface="Calibri"/>
              </a:endParaRPr>
            </a:p>
          </p:txBody>
        </p:sp>
        <p:sp>
          <p:nvSpPr>
            <p:cNvPr id="679" name="Google Shape;679;p37"/>
            <p:cNvSpPr txBox="1"/>
            <p:nvPr/>
          </p:nvSpPr>
          <p:spPr>
            <a:xfrm>
              <a:off x="1590737" y="5339164"/>
              <a:ext cx="29046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a:t>
              </a:r>
              <a:endParaRPr sz="1800" b="0" i="0" u="none" strike="noStrike" cap="none">
                <a:solidFill>
                  <a:schemeClr val="dk1"/>
                </a:solidFill>
                <a:latin typeface="Calibri"/>
                <a:ea typeface="Calibri"/>
                <a:cs typeface="Calibri"/>
                <a:sym typeface="Calibri"/>
              </a:endParaRPr>
            </a:p>
          </p:txBody>
        </p:sp>
        <p:sp>
          <p:nvSpPr>
            <p:cNvPr id="680" name="Google Shape;680;p37"/>
            <p:cNvSpPr txBox="1"/>
            <p:nvPr/>
          </p:nvSpPr>
          <p:spPr>
            <a:xfrm>
              <a:off x="1522700" y="4466851"/>
              <a:ext cx="30489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K</a:t>
              </a:r>
              <a:endParaRPr sz="1800" b="0" i="0" u="none" strike="noStrike" cap="none">
                <a:solidFill>
                  <a:schemeClr val="dk1"/>
                </a:solidFill>
                <a:latin typeface="Calibri"/>
                <a:ea typeface="Calibri"/>
                <a:cs typeface="Calibri"/>
                <a:sym typeface="Calibri"/>
              </a:endParaRPr>
            </a:p>
          </p:txBody>
        </p:sp>
      </p:grpSp>
      <p:sp>
        <p:nvSpPr>
          <p:cNvPr id="681" name="Google Shape;681;p37"/>
          <p:cNvSpPr/>
          <p:nvPr/>
        </p:nvSpPr>
        <p:spPr>
          <a:xfrm>
            <a:off x="62628" y="1395890"/>
            <a:ext cx="9081371"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00000"/>
                </a:solidFill>
                <a:latin typeface="Calibri"/>
                <a:ea typeface="Calibri"/>
                <a:cs typeface="Calibri"/>
                <a:sym typeface="Calibri"/>
              </a:rPr>
              <a:t>Question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Give the possibilities path for </a:t>
            </a:r>
            <a:r>
              <a:rPr lang="en-US" sz="1800" b="0" i="0" u="none" strike="noStrike" cap="none">
                <a:solidFill>
                  <a:srgbClr val="C00000"/>
                </a:solidFill>
                <a:latin typeface="Calibri"/>
                <a:ea typeface="Calibri"/>
                <a:cs typeface="Calibri"/>
                <a:sym typeface="Calibri"/>
              </a:rPr>
              <a:t>Depth-first search </a:t>
            </a:r>
            <a:r>
              <a:rPr lang="en-US" sz="1800" b="0" i="0" u="none" strike="noStrike" cap="none">
                <a:solidFill>
                  <a:schemeClr val="dk1"/>
                </a:solidFill>
                <a:latin typeface="Calibri"/>
                <a:ea typeface="Calibri"/>
                <a:cs typeface="Calibri"/>
                <a:sym typeface="Calibri"/>
              </a:rPr>
              <a:t>and </a:t>
            </a:r>
            <a:r>
              <a:rPr lang="en-US" sz="1800" b="0" i="0" u="none" strike="noStrike" cap="none">
                <a:solidFill>
                  <a:srgbClr val="C00000"/>
                </a:solidFill>
                <a:latin typeface="Calibri"/>
                <a:ea typeface="Calibri"/>
                <a:cs typeface="Calibri"/>
                <a:sym typeface="Calibri"/>
              </a:rPr>
              <a:t>Breadth-first search</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685"/>
        <p:cNvGrpSpPr/>
        <p:nvPr/>
      </p:nvGrpSpPr>
      <p:grpSpPr>
        <a:xfrm>
          <a:off x="0" y="0"/>
          <a:ext cx="0" cy="0"/>
          <a:chOff x="0" y="0"/>
          <a:chExt cx="0" cy="0"/>
        </a:xfrm>
      </p:grpSpPr>
      <p:sp>
        <p:nvSpPr>
          <p:cNvPr id="686" name="Google Shape;686;p3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687" name="Google Shape;687;p3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688" name="Google Shape;688;p3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38</a:t>
            </a:fld>
            <a:endParaRPr/>
          </a:p>
        </p:txBody>
      </p:sp>
      <p:sp>
        <p:nvSpPr>
          <p:cNvPr id="689" name="Google Shape;689;p38"/>
          <p:cNvSpPr/>
          <p:nvPr/>
        </p:nvSpPr>
        <p:spPr>
          <a:xfrm>
            <a:off x="1066800" y="4191000"/>
            <a:ext cx="762000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3B3835"/>
                </a:solidFill>
                <a:latin typeface="Calibri"/>
                <a:ea typeface="Calibri"/>
                <a:cs typeface="Calibri"/>
                <a:sym typeface="Calibri"/>
              </a:rPr>
              <a:t> BFS results: ABCDEFGHIJKLMNOPQRSTU</a:t>
            </a:r>
            <a:endParaRPr sz="3200" b="0" i="0" u="none" strike="noStrike" cap="none">
              <a:solidFill>
                <a:schemeClr val="dk1"/>
              </a:solidFill>
              <a:latin typeface="Calibri"/>
              <a:ea typeface="Calibri"/>
              <a:cs typeface="Calibri"/>
              <a:sym typeface="Calibri"/>
            </a:endParaRPr>
          </a:p>
        </p:txBody>
      </p:sp>
      <p:sp>
        <p:nvSpPr>
          <p:cNvPr id="690" name="Google Shape;690;p38"/>
          <p:cNvSpPr/>
          <p:nvPr/>
        </p:nvSpPr>
        <p:spPr>
          <a:xfrm>
            <a:off x="1115550" y="3274243"/>
            <a:ext cx="6899453"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3B3835"/>
                </a:solidFill>
                <a:latin typeface="Calibri"/>
                <a:ea typeface="Calibri"/>
                <a:cs typeface="Calibri"/>
                <a:sym typeface="Calibri"/>
              </a:rPr>
              <a:t>DFS results: ABEKSLTFMCGNHOPUDIQJR</a:t>
            </a:r>
            <a:endParaRPr sz="1400" b="0" i="0" u="none" strike="noStrike" cap="none">
              <a:solidFill>
                <a:srgbClr val="000000"/>
              </a:solidFill>
              <a:latin typeface="Arial"/>
              <a:ea typeface="Arial"/>
              <a:cs typeface="Arial"/>
              <a:sym typeface="Arial"/>
            </a:endParaRPr>
          </a:p>
        </p:txBody>
      </p:sp>
      <p:sp>
        <p:nvSpPr>
          <p:cNvPr id="691" name="Google Shape;691;p38"/>
          <p:cNvSpPr/>
          <p:nvPr/>
        </p:nvSpPr>
        <p:spPr>
          <a:xfrm>
            <a:off x="1066800" y="304800"/>
            <a:ext cx="8073273"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rgbClr val="0070C0"/>
                </a:solidFill>
                <a:latin typeface="Roboto"/>
                <a:ea typeface="Roboto"/>
                <a:cs typeface="Roboto"/>
                <a:sym typeface="Roboto"/>
              </a:rPr>
              <a:t>Activity 3 - </a:t>
            </a:r>
            <a:r>
              <a:rPr lang="en-US" sz="4000" b="1" i="0" u="none" strike="noStrike" cap="none">
                <a:solidFill>
                  <a:srgbClr val="C00000"/>
                </a:solidFill>
                <a:latin typeface="Roboto"/>
                <a:ea typeface="Roboto"/>
                <a:cs typeface="Roboto"/>
                <a:sym typeface="Roboto"/>
              </a:rPr>
              <a:t>Answer</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3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697" name="Google Shape;697;p3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698" name="Google Shape;698;p3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39</a:t>
            </a:fld>
            <a:endParaRPr/>
          </a:p>
        </p:txBody>
      </p:sp>
      <p:pic>
        <p:nvPicPr>
          <p:cNvPr id="699" name="Google Shape;699;p39" descr="Image result for artificial intelligence icon"/>
          <p:cNvPicPr preferRelativeResize="0"/>
          <p:nvPr/>
        </p:nvPicPr>
        <p:blipFill rotWithShape="1">
          <a:blip r:embed="rId3">
            <a:alphaModFix/>
          </a:blip>
          <a:srcRect l="14092" r="15443" b="29337"/>
          <a:stretch/>
        </p:blipFill>
        <p:spPr>
          <a:xfrm>
            <a:off x="64826" y="2259238"/>
            <a:ext cx="2071412" cy="2566251"/>
          </a:xfrm>
          <a:prstGeom prst="rect">
            <a:avLst/>
          </a:prstGeom>
          <a:noFill/>
          <a:ln>
            <a:noFill/>
          </a:ln>
        </p:spPr>
      </p:pic>
      <p:sp>
        <p:nvSpPr>
          <p:cNvPr id="700" name="Google Shape;700;p39"/>
          <p:cNvSpPr txBox="1"/>
          <p:nvPr/>
        </p:nvSpPr>
        <p:spPr>
          <a:xfrm>
            <a:off x="2136239" y="2602326"/>
            <a:ext cx="7007761" cy="936625"/>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C00000"/>
              </a:buClr>
              <a:buSzPts val="5400"/>
              <a:buFont typeface="Roboto"/>
              <a:buNone/>
            </a:pPr>
            <a:r>
              <a:rPr lang="en-US" sz="5400" b="1" i="0" u="none" strike="noStrike" cap="none">
                <a:solidFill>
                  <a:srgbClr val="C00000"/>
                </a:solidFill>
                <a:latin typeface="Roboto"/>
                <a:ea typeface="Roboto"/>
                <a:cs typeface="Roboto"/>
                <a:sym typeface="Roboto"/>
              </a:rPr>
              <a:t>Evaluation Criteria </a:t>
            </a:r>
            <a:endParaRPr sz="1400" b="0" i="0" u="none" strike="noStrike" cap="none">
              <a:solidFill>
                <a:srgbClr val="000000"/>
              </a:solidFill>
              <a:latin typeface="Arial"/>
              <a:ea typeface="Arial"/>
              <a:cs typeface="Arial"/>
              <a:sym typeface="Arial"/>
            </a:endParaRPr>
          </a:p>
        </p:txBody>
      </p:sp>
      <p:sp>
        <p:nvSpPr>
          <p:cNvPr id="701" name="Google Shape;701;p39"/>
          <p:cNvSpPr/>
          <p:nvPr/>
        </p:nvSpPr>
        <p:spPr>
          <a:xfrm>
            <a:off x="2136238" y="3538951"/>
            <a:ext cx="6217023" cy="1569660"/>
          </a:xfrm>
          <a:prstGeom prst="rect">
            <a:avLst/>
          </a:prstGeom>
          <a:noFill/>
          <a:ln>
            <a:noFill/>
          </a:ln>
        </p:spPr>
        <p:txBody>
          <a:bodyPr spcFirstLastPara="1" wrap="square" lIns="91425" tIns="45700" rIns="91425" bIns="45700" anchor="t" anchorCtr="0">
            <a:spAutoFit/>
          </a:bodyPr>
          <a:lstStyle/>
          <a:p>
            <a:pPr marL="742950" marR="0" lvl="1"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Completeness</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Time Complexity</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Space Complexity</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Optimality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p4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800">
                <a:solidFill>
                  <a:srgbClr val="FFE1AD"/>
                </a:solidFill>
              </a:rPr>
              <a:t>2019</a:t>
            </a:r>
            <a:endParaRPr/>
          </a:p>
        </p:txBody>
      </p:sp>
      <p:sp>
        <p:nvSpPr>
          <p:cNvPr id="707" name="Google Shape;707;p4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800">
                <a:solidFill>
                  <a:srgbClr val="FFE1AD"/>
                </a:solidFill>
              </a:rPr>
              <a:t>MECQ1203: Artificial Intelligence</a:t>
            </a:r>
            <a:endParaRPr/>
          </a:p>
        </p:txBody>
      </p:sp>
      <p:sp>
        <p:nvSpPr>
          <p:cNvPr id="708" name="Google Shape;708;p4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sz="900">
                <a:solidFill>
                  <a:srgbClr val="FFE1AD"/>
                </a:solidFill>
              </a:rPr>
              <a:t>40</a:t>
            </a:fld>
            <a:endParaRPr sz="900">
              <a:solidFill>
                <a:srgbClr val="FFE1AD"/>
              </a:solidFill>
            </a:endParaRPr>
          </a:p>
        </p:txBody>
      </p:sp>
      <p:sp>
        <p:nvSpPr>
          <p:cNvPr id="709" name="Google Shape;709;p40"/>
          <p:cNvSpPr/>
          <p:nvPr/>
        </p:nvSpPr>
        <p:spPr>
          <a:xfrm>
            <a:off x="1066800" y="304800"/>
            <a:ext cx="8073273"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chemeClr val="dk1"/>
                </a:solidFill>
                <a:latin typeface="Roboto"/>
                <a:ea typeface="Roboto"/>
                <a:cs typeface="Roboto"/>
                <a:sym typeface="Roboto"/>
              </a:rPr>
              <a:t>Evaluation Criteria</a:t>
            </a:r>
            <a:endParaRPr sz="4000" b="1" i="0" u="none" strike="noStrike" cap="none">
              <a:solidFill>
                <a:srgbClr val="C00000"/>
              </a:solidFill>
              <a:latin typeface="Roboto"/>
              <a:ea typeface="Roboto"/>
              <a:cs typeface="Roboto"/>
              <a:sym typeface="Roboto"/>
            </a:endParaRPr>
          </a:p>
        </p:txBody>
      </p:sp>
      <p:grpSp>
        <p:nvGrpSpPr>
          <p:cNvPr id="710" name="Google Shape;710;p40"/>
          <p:cNvGrpSpPr/>
          <p:nvPr/>
        </p:nvGrpSpPr>
        <p:grpSpPr>
          <a:xfrm>
            <a:off x="528094" y="1604202"/>
            <a:ext cx="8156245" cy="4342001"/>
            <a:chOff x="59088" y="699"/>
            <a:chExt cx="8156245" cy="4342001"/>
          </a:xfrm>
        </p:grpSpPr>
        <p:sp>
          <p:nvSpPr>
            <p:cNvPr id="711" name="Google Shape;711;p40"/>
            <p:cNvSpPr/>
            <p:nvPr/>
          </p:nvSpPr>
          <p:spPr>
            <a:xfrm>
              <a:off x="5336659" y="3461106"/>
              <a:ext cx="479779" cy="515762"/>
            </a:xfrm>
            <a:custGeom>
              <a:avLst/>
              <a:gdLst/>
              <a:ahLst/>
              <a:cxnLst/>
              <a:rect l="l" t="t" r="r" b="b"/>
              <a:pathLst>
                <a:path w="120000" h="120000" extrusionOk="0">
                  <a:moveTo>
                    <a:pt x="0" y="0"/>
                  </a:moveTo>
                  <a:lnTo>
                    <a:pt x="60000" y="0"/>
                  </a:lnTo>
                  <a:lnTo>
                    <a:pt x="60000" y="120000"/>
                  </a:lnTo>
                  <a:lnTo>
                    <a:pt x="120000" y="120000"/>
                  </a:lnTo>
                </a:path>
              </a:pathLst>
            </a:custGeom>
            <a:noFill/>
            <a:ln w="57150" cap="flat" cmpd="sng">
              <a:solidFill>
                <a:srgbClr val="0070C0"/>
              </a:solidFill>
              <a:prstDash val="solid"/>
              <a:round/>
              <a:headEnd type="none" w="sm" len="sm"/>
              <a:tailEnd type="none" w="sm" len="sm"/>
            </a:ln>
          </p:spPr>
          <p:txBody>
            <a:bodyPr/>
            <a:lstStyle/>
            <a:p>
              <a:endParaRPr lang="en-MY"/>
            </a:p>
          </p:txBody>
        </p:sp>
        <p:sp>
          <p:nvSpPr>
            <p:cNvPr id="712" name="Google Shape;712;p40"/>
            <p:cNvSpPr/>
            <p:nvPr/>
          </p:nvSpPr>
          <p:spPr>
            <a:xfrm>
              <a:off x="5336659" y="2945343"/>
              <a:ext cx="479779" cy="515762"/>
            </a:xfrm>
            <a:custGeom>
              <a:avLst/>
              <a:gdLst/>
              <a:ahLst/>
              <a:cxnLst/>
              <a:rect l="l" t="t" r="r" b="b"/>
              <a:pathLst>
                <a:path w="120000" h="120000" extrusionOk="0">
                  <a:moveTo>
                    <a:pt x="0" y="120000"/>
                  </a:moveTo>
                  <a:lnTo>
                    <a:pt x="60000" y="120000"/>
                  </a:lnTo>
                  <a:lnTo>
                    <a:pt x="60000" y="0"/>
                  </a:lnTo>
                  <a:lnTo>
                    <a:pt x="120000" y="0"/>
                  </a:lnTo>
                </a:path>
              </a:pathLst>
            </a:custGeom>
            <a:noFill/>
            <a:ln w="57150" cap="flat" cmpd="sng">
              <a:solidFill>
                <a:srgbClr val="0070C0"/>
              </a:solidFill>
              <a:prstDash val="solid"/>
              <a:round/>
              <a:headEnd type="none" w="sm" len="sm"/>
              <a:tailEnd type="none" w="sm" len="sm"/>
            </a:ln>
          </p:spPr>
          <p:txBody>
            <a:bodyPr/>
            <a:lstStyle/>
            <a:p>
              <a:endParaRPr lang="en-MY"/>
            </a:p>
          </p:txBody>
        </p:sp>
        <p:sp>
          <p:nvSpPr>
            <p:cNvPr id="713" name="Google Shape;713;p40"/>
            <p:cNvSpPr/>
            <p:nvPr/>
          </p:nvSpPr>
          <p:spPr>
            <a:xfrm>
              <a:off x="2457984" y="1913818"/>
              <a:ext cx="479779" cy="1547287"/>
            </a:xfrm>
            <a:custGeom>
              <a:avLst/>
              <a:gdLst/>
              <a:ahLst/>
              <a:cxnLst/>
              <a:rect l="l" t="t" r="r" b="b"/>
              <a:pathLst>
                <a:path w="120000" h="120000" extrusionOk="0">
                  <a:moveTo>
                    <a:pt x="0" y="0"/>
                  </a:moveTo>
                  <a:lnTo>
                    <a:pt x="60000" y="0"/>
                  </a:lnTo>
                  <a:lnTo>
                    <a:pt x="60000" y="120000"/>
                  </a:lnTo>
                  <a:lnTo>
                    <a:pt x="120000" y="120000"/>
                  </a:lnTo>
                </a:path>
              </a:pathLst>
            </a:custGeom>
            <a:noFill/>
            <a:ln w="57150" cap="flat" cmpd="sng">
              <a:solidFill>
                <a:srgbClr val="F79646"/>
              </a:solidFill>
              <a:prstDash val="solid"/>
              <a:round/>
              <a:headEnd type="none" w="sm" len="sm"/>
              <a:tailEnd type="none" w="sm" len="sm"/>
            </a:ln>
          </p:spPr>
          <p:txBody>
            <a:bodyPr/>
            <a:lstStyle/>
            <a:p>
              <a:endParaRPr lang="en-MY"/>
            </a:p>
          </p:txBody>
        </p:sp>
        <p:sp>
          <p:nvSpPr>
            <p:cNvPr id="714" name="Google Shape;714;p40"/>
            <p:cNvSpPr/>
            <p:nvPr/>
          </p:nvSpPr>
          <p:spPr>
            <a:xfrm>
              <a:off x="2457984" y="1913818"/>
              <a:ext cx="479779" cy="515762"/>
            </a:xfrm>
            <a:custGeom>
              <a:avLst/>
              <a:gdLst/>
              <a:ahLst/>
              <a:cxnLst/>
              <a:rect l="l" t="t" r="r" b="b"/>
              <a:pathLst>
                <a:path w="120000" h="120000" extrusionOk="0">
                  <a:moveTo>
                    <a:pt x="0" y="0"/>
                  </a:moveTo>
                  <a:lnTo>
                    <a:pt x="60000" y="0"/>
                  </a:lnTo>
                  <a:lnTo>
                    <a:pt x="60000" y="120000"/>
                  </a:lnTo>
                  <a:lnTo>
                    <a:pt x="120000" y="120000"/>
                  </a:lnTo>
                </a:path>
              </a:pathLst>
            </a:custGeom>
            <a:noFill/>
            <a:ln w="38100" cap="flat" cmpd="sng">
              <a:solidFill>
                <a:srgbClr val="F79646"/>
              </a:solidFill>
              <a:prstDash val="solid"/>
              <a:round/>
              <a:headEnd type="none" w="sm" len="sm"/>
              <a:tailEnd type="none" w="sm" len="sm"/>
            </a:ln>
          </p:spPr>
          <p:txBody>
            <a:bodyPr/>
            <a:lstStyle/>
            <a:p>
              <a:endParaRPr lang="en-MY"/>
            </a:p>
          </p:txBody>
        </p:sp>
        <p:sp>
          <p:nvSpPr>
            <p:cNvPr id="715" name="Google Shape;715;p40"/>
            <p:cNvSpPr/>
            <p:nvPr/>
          </p:nvSpPr>
          <p:spPr>
            <a:xfrm>
              <a:off x="2457984" y="1398056"/>
              <a:ext cx="479779" cy="515762"/>
            </a:xfrm>
            <a:custGeom>
              <a:avLst/>
              <a:gdLst/>
              <a:ahLst/>
              <a:cxnLst/>
              <a:rect l="l" t="t" r="r" b="b"/>
              <a:pathLst>
                <a:path w="120000" h="120000" extrusionOk="0">
                  <a:moveTo>
                    <a:pt x="0" y="120000"/>
                  </a:moveTo>
                  <a:lnTo>
                    <a:pt x="60000" y="120000"/>
                  </a:lnTo>
                  <a:lnTo>
                    <a:pt x="60000" y="0"/>
                  </a:lnTo>
                  <a:lnTo>
                    <a:pt x="120000" y="0"/>
                  </a:lnTo>
                </a:path>
              </a:pathLst>
            </a:custGeom>
            <a:noFill/>
            <a:ln w="25400" cap="flat" cmpd="sng">
              <a:solidFill>
                <a:srgbClr val="F79543"/>
              </a:solidFill>
              <a:prstDash val="solid"/>
              <a:round/>
              <a:headEnd type="none" w="sm" len="sm"/>
              <a:tailEnd type="none" w="sm" len="sm"/>
            </a:ln>
          </p:spPr>
          <p:txBody>
            <a:bodyPr/>
            <a:lstStyle/>
            <a:p>
              <a:endParaRPr lang="en-MY"/>
            </a:p>
          </p:txBody>
        </p:sp>
        <p:sp>
          <p:nvSpPr>
            <p:cNvPr id="716" name="Google Shape;716;p40"/>
            <p:cNvSpPr/>
            <p:nvPr/>
          </p:nvSpPr>
          <p:spPr>
            <a:xfrm>
              <a:off x="2457984" y="366530"/>
              <a:ext cx="479779" cy="1547287"/>
            </a:xfrm>
            <a:custGeom>
              <a:avLst/>
              <a:gdLst/>
              <a:ahLst/>
              <a:cxnLst/>
              <a:rect l="l" t="t" r="r" b="b"/>
              <a:pathLst>
                <a:path w="120000" h="120000" extrusionOk="0">
                  <a:moveTo>
                    <a:pt x="0" y="120000"/>
                  </a:moveTo>
                  <a:lnTo>
                    <a:pt x="60000" y="120000"/>
                  </a:lnTo>
                  <a:lnTo>
                    <a:pt x="60000" y="0"/>
                  </a:lnTo>
                  <a:lnTo>
                    <a:pt x="120000" y="0"/>
                  </a:lnTo>
                </a:path>
              </a:pathLst>
            </a:custGeom>
            <a:noFill/>
            <a:ln w="57150" cap="flat" cmpd="sng">
              <a:solidFill>
                <a:srgbClr val="F79646"/>
              </a:solidFill>
              <a:prstDash val="solid"/>
              <a:round/>
              <a:headEnd type="none" w="sm" len="sm"/>
              <a:tailEnd type="none" w="sm" len="sm"/>
            </a:ln>
          </p:spPr>
          <p:txBody>
            <a:bodyPr/>
            <a:lstStyle/>
            <a:p>
              <a:endParaRPr lang="en-MY"/>
            </a:p>
          </p:txBody>
        </p:sp>
        <p:sp>
          <p:nvSpPr>
            <p:cNvPr id="717" name="Google Shape;717;p40"/>
            <p:cNvSpPr/>
            <p:nvPr/>
          </p:nvSpPr>
          <p:spPr>
            <a:xfrm>
              <a:off x="59088" y="1547987"/>
              <a:ext cx="2398895" cy="731663"/>
            </a:xfrm>
            <a:prstGeom prst="rect">
              <a:avLst/>
            </a:prstGeom>
            <a:solidFill>
              <a:srgbClr val="C0000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8" name="Google Shape;718;p40"/>
            <p:cNvSpPr txBox="1"/>
            <p:nvPr/>
          </p:nvSpPr>
          <p:spPr>
            <a:xfrm>
              <a:off x="59088" y="1547987"/>
              <a:ext cx="2398895" cy="731663"/>
            </a:xfrm>
            <a:prstGeom prst="rect">
              <a:avLst/>
            </a:prstGeom>
            <a:noFill/>
            <a:ln>
              <a:noFill/>
            </a:ln>
          </p:spPr>
          <p:txBody>
            <a:bodyPr spcFirstLastPara="1" wrap="square" lIns="15225" tIns="15225" rIns="15225" bIns="15225" anchor="ctr" anchorCtr="0">
              <a:noAutofit/>
            </a:bodyPr>
            <a:lstStyle/>
            <a:p>
              <a:pPr marL="0" marR="0" lvl="0" indent="0" algn="ctr" rtl="0">
                <a:lnSpc>
                  <a:spcPct val="90000"/>
                </a:lnSpc>
                <a:spcBef>
                  <a:spcPts val="0"/>
                </a:spcBef>
                <a:spcAft>
                  <a:spcPts val="0"/>
                </a:spcAft>
                <a:buClr>
                  <a:srgbClr val="000000"/>
                </a:buClr>
                <a:buSzPts val="2400"/>
                <a:buFont typeface="Arial"/>
                <a:buNone/>
              </a:pPr>
              <a:r>
                <a:rPr lang="en-US" sz="2400" b="0" i="0" u="none" strike="noStrike" cap="none">
                  <a:solidFill>
                    <a:schemeClr val="lt1"/>
                  </a:solidFill>
                  <a:latin typeface="Calibri"/>
                  <a:ea typeface="Calibri"/>
                  <a:cs typeface="Calibri"/>
                  <a:sym typeface="Calibri"/>
                </a:rPr>
                <a:t>Evaluation Criteria</a:t>
              </a:r>
              <a:endParaRPr sz="1400" b="0" i="0" u="none" strike="noStrike" cap="none">
                <a:solidFill>
                  <a:srgbClr val="000000"/>
                </a:solidFill>
                <a:latin typeface="Arial"/>
                <a:ea typeface="Arial"/>
                <a:cs typeface="Arial"/>
                <a:sym typeface="Arial"/>
              </a:endParaRPr>
            </a:p>
          </p:txBody>
        </p:sp>
        <p:sp>
          <p:nvSpPr>
            <p:cNvPr id="719" name="Google Shape;719;p40"/>
            <p:cNvSpPr/>
            <p:nvPr/>
          </p:nvSpPr>
          <p:spPr>
            <a:xfrm>
              <a:off x="2937763" y="699"/>
              <a:ext cx="2398895" cy="731663"/>
            </a:xfrm>
            <a:prstGeom prst="rect">
              <a:avLst/>
            </a:prstGeom>
            <a:solidFill>
              <a:srgbClr val="F79646"/>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0" name="Google Shape;720;p40"/>
            <p:cNvSpPr txBox="1"/>
            <p:nvPr/>
          </p:nvSpPr>
          <p:spPr>
            <a:xfrm>
              <a:off x="2937763" y="699"/>
              <a:ext cx="2398895" cy="731663"/>
            </a:xfrm>
            <a:prstGeom prst="rect">
              <a:avLst/>
            </a:prstGeom>
            <a:noFill/>
            <a:ln>
              <a:noFill/>
            </a:ln>
          </p:spPr>
          <p:txBody>
            <a:bodyPr spcFirstLastPara="1" wrap="square" lIns="15225" tIns="15225" rIns="15225" bIns="15225" anchor="ctr" anchorCtr="0">
              <a:noAutofit/>
            </a:bodyPr>
            <a:lstStyle/>
            <a:p>
              <a:pPr marL="0" marR="0" lvl="0" indent="0" algn="ctr" rtl="0">
                <a:lnSpc>
                  <a:spcPct val="9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Completeness</a:t>
              </a:r>
              <a:endParaRPr sz="2400" b="0" i="0" u="none" strike="noStrike" cap="none">
                <a:solidFill>
                  <a:srgbClr val="000000"/>
                </a:solidFill>
                <a:latin typeface="Calibri"/>
                <a:ea typeface="Calibri"/>
                <a:cs typeface="Calibri"/>
                <a:sym typeface="Calibri"/>
              </a:endParaRPr>
            </a:p>
          </p:txBody>
        </p:sp>
        <p:sp>
          <p:nvSpPr>
            <p:cNvPr id="721" name="Google Shape;721;p40"/>
            <p:cNvSpPr/>
            <p:nvPr/>
          </p:nvSpPr>
          <p:spPr>
            <a:xfrm>
              <a:off x="2937763" y="1032224"/>
              <a:ext cx="2398895" cy="731663"/>
            </a:xfrm>
            <a:prstGeom prst="rect">
              <a:avLst/>
            </a:prstGeom>
            <a:solidFill>
              <a:srgbClr val="F79646"/>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2" name="Google Shape;722;p40"/>
            <p:cNvSpPr txBox="1"/>
            <p:nvPr/>
          </p:nvSpPr>
          <p:spPr>
            <a:xfrm>
              <a:off x="2937763" y="1032224"/>
              <a:ext cx="2398895" cy="731663"/>
            </a:xfrm>
            <a:prstGeom prst="rect">
              <a:avLst/>
            </a:prstGeom>
            <a:noFill/>
            <a:ln>
              <a:noFill/>
            </a:ln>
          </p:spPr>
          <p:txBody>
            <a:bodyPr spcFirstLastPara="1" wrap="square" lIns="15225" tIns="15225" rIns="15225" bIns="15225" anchor="ctr" anchorCtr="0">
              <a:noAutofit/>
            </a:bodyPr>
            <a:lstStyle/>
            <a:p>
              <a:pPr marL="0" marR="0" lvl="0" indent="0" algn="ctr" rtl="0">
                <a:lnSpc>
                  <a:spcPct val="9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Time complexity</a:t>
              </a:r>
              <a:endParaRPr sz="1400" b="0" i="0" u="none" strike="noStrike" cap="none">
                <a:solidFill>
                  <a:srgbClr val="000000"/>
                </a:solidFill>
                <a:latin typeface="Arial"/>
                <a:ea typeface="Arial"/>
                <a:cs typeface="Arial"/>
                <a:sym typeface="Arial"/>
              </a:endParaRPr>
            </a:p>
          </p:txBody>
        </p:sp>
        <p:sp>
          <p:nvSpPr>
            <p:cNvPr id="723" name="Google Shape;723;p40"/>
            <p:cNvSpPr/>
            <p:nvPr/>
          </p:nvSpPr>
          <p:spPr>
            <a:xfrm>
              <a:off x="2937763" y="2063749"/>
              <a:ext cx="2398895" cy="731663"/>
            </a:xfrm>
            <a:prstGeom prst="rect">
              <a:avLst/>
            </a:prstGeom>
            <a:solidFill>
              <a:srgbClr val="F79646"/>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4" name="Google Shape;724;p40"/>
            <p:cNvSpPr txBox="1"/>
            <p:nvPr/>
          </p:nvSpPr>
          <p:spPr>
            <a:xfrm>
              <a:off x="2937763" y="2063749"/>
              <a:ext cx="2398895" cy="731663"/>
            </a:xfrm>
            <a:prstGeom prst="rect">
              <a:avLst/>
            </a:prstGeom>
            <a:noFill/>
            <a:ln>
              <a:noFill/>
            </a:ln>
          </p:spPr>
          <p:txBody>
            <a:bodyPr spcFirstLastPara="1" wrap="square" lIns="15225" tIns="15225" rIns="15225" bIns="15225" anchor="ctr" anchorCtr="0">
              <a:noAutofit/>
            </a:bodyPr>
            <a:lstStyle/>
            <a:p>
              <a:pPr marL="0" marR="0" lvl="0" indent="0" algn="ctr" rtl="0">
                <a:lnSpc>
                  <a:spcPct val="9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Space complexity</a:t>
              </a:r>
              <a:endParaRPr sz="1400" b="0" i="0" u="none" strike="noStrike" cap="none">
                <a:solidFill>
                  <a:srgbClr val="000000"/>
                </a:solidFill>
                <a:latin typeface="Arial"/>
                <a:ea typeface="Arial"/>
                <a:cs typeface="Arial"/>
                <a:sym typeface="Arial"/>
              </a:endParaRPr>
            </a:p>
          </p:txBody>
        </p:sp>
        <p:sp>
          <p:nvSpPr>
            <p:cNvPr id="725" name="Google Shape;725;p40"/>
            <p:cNvSpPr/>
            <p:nvPr/>
          </p:nvSpPr>
          <p:spPr>
            <a:xfrm>
              <a:off x="2937763" y="3095274"/>
              <a:ext cx="2398895" cy="731663"/>
            </a:xfrm>
            <a:prstGeom prst="rect">
              <a:avLst/>
            </a:prstGeom>
            <a:solidFill>
              <a:srgbClr val="F79646"/>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6" name="Google Shape;726;p40"/>
            <p:cNvSpPr txBox="1"/>
            <p:nvPr/>
          </p:nvSpPr>
          <p:spPr>
            <a:xfrm>
              <a:off x="2937763" y="3095274"/>
              <a:ext cx="2398895" cy="731663"/>
            </a:xfrm>
            <a:prstGeom prst="rect">
              <a:avLst/>
            </a:prstGeom>
            <a:noFill/>
            <a:ln>
              <a:noFill/>
            </a:ln>
          </p:spPr>
          <p:txBody>
            <a:bodyPr spcFirstLastPara="1" wrap="square" lIns="15225" tIns="15225" rIns="15225" bIns="15225" anchor="ctr" anchorCtr="0">
              <a:noAutofit/>
            </a:bodyPr>
            <a:lstStyle/>
            <a:p>
              <a:pPr marL="0" marR="0" lvl="0" indent="0" algn="ctr" rtl="0">
                <a:lnSpc>
                  <a:spcPct val="9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Optimality</a:t>
              </a:r>
              <a:endParaRPr sz="1400" b="0" i="0" u="none" strike="noStrike" cap="none">
                <a:solidFill>
                  <a:srgbClr val="000000"/>
                </a:solidFill>
                <a:latin typeface="Arial"/>
                <a:ea typeface="Arial"/>
                <a:cs typeface="Arial"/>
                <a:sym typeface="Arial"/>
              </a:endParaRPr>
            </a:p>
          </p:txBody>
        </p:sp>
        <p:sp>
          <p:nvSpPr>
            <p:cNvPr id="727" name="Google Shape;727;p40"/>
            <p:cNvSpPr/>
            <p:nvPr/>
          </p:nvSpPr>
          <p:spPr>
            <a:xfrm>
              <a:off x="5816438" y="2579512"/>
              <a:ext cx="2398895" cy="731663"/>
            </a:xfrm>
            <a:prstGeom prst="rect">
              <a:avLst/>
            </a:prstGeom>
            <a:solidFill>
              <a:srgbClr val="0070C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8" name="Google Shape;728;p40"/>
            <p:cNvSpPr txBox="1"/>
            <p:nvPr/>
          </p:nvSpPr>
          <p:spPr>
            <a:xfrm>
              <a:off x="5816438" y="2579512"/>
              <a:ext cx="2398895" cy="731663"/>
            </a:xfrm>
            <a:prstGeom prst="rect">
              <a:avLst/>
            </a:prstGeom>
            <a:noFill/>
            <a:ln>
              <a:noFill/>
            </a:ln>
          </p:spPr>
          <p:txBody>
            <a:bodyPr spcFirstLastPara="1" wrap="square" lIns="15225" tIns="15225" rIns="15225" bIns="15225" anchor="ctr" anchorCtr="0">
              <a:noAutofit/>
            </a:bodyPr>
            <a:lstStyle/>
            <a:p>
              <a:pPr marL="0" marR="0" lvl="0" indent="0" algn="ctr" rtl="0">
                <a:lnSpc>
                  <a:spcPct val="90000"/>
                </a:lnSpc>
                <a:spcBef>
                  <a:spcPts val="0"/>
                </a:spcBef>
                <a:spcAft>
                  <a:spcPts val="0"/>
                </a:spcAft>
                <a:buClr>
                  <a:srgbClr val="000000"/>
                </a:buClr>
                <a:buSzPts val="2400"/>
                <a:buFont typeface="Arial"/>
                <a:buNone/>
              </a:pPr>
              <a:r>
                <a:rPr lang="en-US" sz="2400" b="0" i="0" u="none" strike="noStrike" cap="none">
                  <a:solidFill>
                    <a:schemeClr val="lt1"/>
                  </a:solidFill>
                  <a:latin typeface="Calibri"/>
                  <a:ea typeface="Calibri"/>
                  <a:cs typeface="Calibri"/>
                  <a:sym typeface="Calibri"/>
                </a:rPr>
                <a:t>Search cost</a:t>
              </a:r>
              <a:endParaRPr sz="1400" b="0" i="0" u="none" strike="noStrike" cap="none">
                <a:solidFill>
                  <a:srgbClr val="000000"/>
                </a:solidFill>
                <a:latin typeface="Arial"/>
                <a:ea typeface="Arial"/>
                <a:cs typeface="Arial"/>
                <a:sym typeface="Arial"/>
              </a:endParaRPr>
            </a:p>
          </p:txBody>
        </p:sp>
        <p:sp>
          <p:nvSpPr>
            <p:cNvPr id="729" name="Google Shape;729;p40"/>
            <p:cNvSpPr/>
            <p:nvPr/>
          </p:nvSpPr>
          <p:spPr>
            <a:xfrm>
              <a:off x="5816438" y="3611037"/>
              <a:ext cx="2398895" cy="731663"/>
            </a:xfrm>
            <a:prstGeom prst="rect">
              <a:avLst/>
            </a:prstGeom>
            <a:solidFill>
              <a:srgbClr val="0070C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0" name="Google Shape;730;p40"/>
            <p:cNvSpPr txBox="1"/>
            <p:nvPr/>
          </p:nvSpPr>
          <p:spPr>
            <a:xfrm>
              <a:off x="5816438" y="3611037"/>
              <a:ext cx="2398895" cy="731663"/>
            </a:xfrm>
            <a:prstGeom prst="rect">
              <a:avLst/>
            </a:prstGeom>
            <a:noFill/>
            <a:ln>
              <a:noFill/>
            </a:ln>
          </p:spPr>
          <p:txBody>
            <a:bodyPr spcFirstLastPara="1" wrap="square" lIns="15225" tIns="15225" rIns="15225" bIns="15225" anchor="ctr" anchorCtr="0">
              <a:noAutofit/>
            </a:bodyPr>
            <a:lstStyle/>
            <a:p>
              <a:pPr marL="0" marR="0" lvl="0" indent="0" algn="ctr" rtl="0">
                <a:lnSpc>
                  <a:spcPct val="90000"/>
                </a:lnSpc>
                <a:spcBef>
                  <a:spcPts val="0"/>
                </a:spcBef>
                <a:spcAft>
                  <a:spcPts val="0"/>
                </a:spcAft>
                <a:buClr>
                  <a:srgbClr val="000000"/>
                </a:buClr>
                <a:buSzPts val="2400"/>
                <a:buFont typeface="Arial"/>
                <a:buNone/>
              </a:pPr>
              <a:r>
                <a:rPr lang="en-US" sz="2400" b="0" i="0" u="none" strike="noStrike" cap="none">
                  <a:solidFill>
                    <a:schemeClr val="lt1"/>
                  </a:solidFill>
                  <a:latin typeface="Calibri"/>
                  <a:ea typeface="Calibri"/>
                  <a:cs typeface="Calibri"/>
                  <a:sym typeface="Calibri"/>
                </a:rPr>
                <a:t> Path cost</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p41"/>
          <p:cNvSpPr/>
          <p:nvPr/>
        </p:nvSpPr>
        <p:spPr>
          <a:xfrm>
            <a:off x="152400" y="1447800"/>
            <a:ext cx="6934200" cy="4419600"/>
          </a:xfrm>
          <a:prstGeom prst="rect">
            <a:avLst/>
          </a:prstGeom>
          <a:noFill/>
          <a:ln>
            <a:noFill/>
          </a:ln>
        </p:spPr>
        <p:txBody>
          <a:bodyPr spcFirstLastPara="1" wrap="square" lIns="90475" tIns="44450" rIns="90475" bIns="44450" anchor="t" anchorCtr="0">
            <a:noAutofit/>
          </a:bodyPr>
          <a:lstStyle/>
          <a:p>
            <a:pPr marL="285750" marR="0" lvl="0" indent="-285750" algn="l" rtl="0">
              <a:lnSpc>
                <a:spcPct val="90000"/>
              </a:lnSpc>
              <a:spcBef>
                <a:spcPts val="0"/>
              </a:spcBef>
              <a:spcAft>
                <a:spcPts val="0"/>
              </a:spcAft>
              <a:buClr>
                <a:schemeClr val="hlink"/>
              </a:buClr>
              <a:buSzPts val="2400"/>
              <a:buFont typeface="Calibri"/>
              <a:buChar char="•"/>
            </a:pPr>
            <a:r>
              <a:rPr lang="en-US" sz="2400" b="0" i="0" u="none" strike="noStrike" cap="none">
                <a:solidFill>
                  <a:schemeClr val="dk1"/>
                </a:solidFill>
                <a:latin typeface="Calibri"/>
                <a:ea typeface="Calibri"/>
                <a:cs typeface="Calibri"/>
                <a:sym typeface="Calibri"/>
              </a:rPr>
              <a:t>completeness</a:t>
            </a:r>
            <a:endParaRPr sz="1400" b="0" i="0" u="none" strike="noStrike" cap="none">
              <a:solidFill>
                <a:srgbClr val="000000"/>
              </a:solidFill>
              <a:latin typeface="Arial"/>
              <a:ea typeface="Arial"/>
              <a:cs typeface="Arial"/>
              <a:sym typeface="Arial"/>
            </a:endParaRPr>
          </a:p>
          <a:p>
            <a:pPr marL="685800" marR="0" lvl="1" indent="-285750" algn="l" rtl="0">
              <a:lnSpc>
                <a:spcPct val="90000"/>
              </a:lnSpc>
              <a:spcBef>
                <a:spcPts val="48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if there is a solution, will it be found</a:t>
            </a:r>
            <a:endParaRPr sz="1400" b="0" i="0" u="none" strike="noStrike" cap="none">
              <a:solidFill>
                <a:srgbClr val="000000"/>
              </a:solidFill>
              <a:latin typeface="Arial"/>
              <a:ea typeface="Arial"/>
              <a:cs typeface="Arial"/>
              <a:sym typeface="Arial"/>
            </a:endParaRPr>
          </a:p>
          <a:p>
            <a:pPr marL="285750" marR="0" lvl="0" indent="-285750" algn="l" rtl="0">
              <a:lnSpc>
                <a:spcPct val="90000"/>
              </a:lnSpc>
              <a:spcBef>
                <a:spcPts val="480"/>
              </a:spcBef>
              <a:spcAft>
                <a:spcPts val="0"/>
              </a:spcAft>
              <a:buClr>
                <a:schemeClr val="hlink"/>
              </a:buClr>
              <a:buSzPts val="2400"/>
              <a:buFont typeface="Calibri"/>
              <a:buChar char="•"/>
            </a:pPr>
            <a:r>
              <a:rPr lang="en-US" sz="2400" b="0" i="0" u="none" strike="noStrike" cap="none">
                <a:solidFill>
                  <a:schemeClr val="dk1"/>
                </a:solidFill>
                <a:latin typeface="Calibri"/>
                <a:ea typeface="Calibri"/>
                <a:cs typeface="Calibri"/>
                <a:sym typeface="Calibri"/>
              </a:rPr>
              <a:t>time complexity</a:t>
            </a:r>
            <a:endParaRPr sz="1400" b="0" i="0" u="none" strike="noStrike" cap="none">
              <a:solidFill>
                <a:srgbClr val="000000"/>
              </a:solidFill>
              <a:latin typeface="Arial"/>
              <a:ea typeface="Arial"/>
              <a:cs typeface="Arial"/>
              <a:sym typeface="Arial"/>
            </a:endParaRPr>
          </a:p>
          <a:p>
            <a:pPr marL="685800" marR="0" lvl="1" indent="-285750" algn="l" rtl="0">
              <a:lnSpc>
                <a:spcPct val="90000"/>
              </a:lnSpc>
              <a:spcBef>
                <a:spcPts val="48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how long does it take to find the solution</a:t>
            </a:r>
            <a:endParaRPr sz="1400" b="0" i="0" u="none" strike="noStrike" cap="none">
              <a:solidFill>
                <a:srgbClr val="000000"/>
              </a:solidFill>
              <a:latin typeface="Arial"/>
              <a:ea typeface="Arial"/>
              <a:cs typeface="Arial"/>
              <a:sym typeface="Arial"/>
            </a:endParaRPr>
          </a:p>
          <a:p>
            <a:pPr marL="685800" marR="0" lvl="1" indent="-285750" algn="l" rtl="0">
              <a:lnSpc>
                <a:spcPct val="90000"/>
              </a:lnSpc>
              <a:spcBef>
                <a:spcPts val="48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does not include the time to perform actions</a:t>
            </a:r>
            <a:endParaRPr sz="1400" b="0" i="0" u="none" strike="noStrike" cap="none">
              <a:solidFill>
                <a:srgbClr val="000000"/>
              </a:solidFill>
              <a:latin typeface="Arial"/>
              <a:ea typeface="Arial"/>
              <a:cs typeface="Arial"/>
              <a:sym typeface="Arial"/>
            </a:endParaRPr>
          </a:p>
          <a:p>
            <a:pPr marL="285750" marR="0" lvl="0" indent="-285750" algn="l" rtl="0">
              <a:lnSpc>
                <a:spcPct val="90000"/>
              </a:lnSpc>
              <a:spcBef>
                <a:spcPts val="480"/>
              </a:spcBef>
              <a:spcAft>
                <a:spcPts val="0"/>
              </a:spcAft>
              <a:buClr>
                <a:schemeClr val="hlink"/>
              </a:buClr>
              <a:buSzPts val="2400"/>
              <a:buFont typeface="Calibri"/>
              <a:buChar char="•"/>
            </a:pPr>
            <a:r>
              <a:rPr lang="en-US" sz="2400" b="0" i="0" u="none" strike="noStrike" cap="none">
                <a:solidFill>
                  <a:schemeClr val="dk1"/>
                </a:solidFill>
                <a:latin typeface="Calibri"/>
                <a:ea typeface="Calibri"/>
                <a:cs typeface="Calibri"/>
                <a:sym typeface="Calibri"/>
              </a:rPr>
              <a:t>space complexity</a:t>
            </a:r>
            <a:endParaRPr sz="1400" b="0" i="0" u="none" strike="noStrike" cap="none">
              <a:solidFill>
                <a:srgbClr val="000000"/>
              </a:solidFill>
              <a:latin typeface="Arial"/>
              <a:ea typeface="Arial"/>
              <a:cs typeface="Arial"/>
              <a:sym typeface="Arial"/>
            </a:endParaRPr>
          </a:p>
          <a:p>
            <a:pPr marL="685800" marR="0" lvl="1" indent="-285750" algn="l" rtl="0">
              <a:lnSpc>
                <a:spcPct val="90000"/>
              </a:lnSpc>
              <a:spcBef>
                <a:spcPts val="48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memory required for the search</a:t>
            </a:r>
            <a:endParaRPr sz="1400" b="0" i="0" u="none" strike="noStrike" cap="none">
              <a:solidFill>
                <a:srgbClr val="000000"/>
              </a:solidFill>
              <a:latin typeface="Arial"/>
              <a:ea typeface="Arial"/>
              <a:cs typeface="Arial"/>
              <a:sym typeface="Arial"/>
            </a:endParaRPr>
          </a:p>
          <a:p>
            <a:pPr marL="285750" marR="0" lvl="0" indent="-285750" algn="l" rtl="0">
              <a:lnSpc>
                <a:spcPct val="90000"/>
              </a:lnSpc>
              <a:spcBef>
                <a:spcPts val="480"/>
              </a:spcBef>
              <a:spcAft>
                <a:spcPts val="0"/>
              </a:spcAft>
              <a:buClr>
                <a:schemeClr val="hlink"/>
              </a:buClr>
              <a:buSzPts val="2400"/>
              <a:buFont typeface="Calibri"/>
              <a:buChar char="•"/>
            </a:pPr>
            <a:r>
              <a:rPr lang="en-US" sz="2400" b="0" i="0" u="none" strike="noStrike" cap="none">
                <a:solidFill>
                  <a:schemeClr val="dk1"/>
                </a:solidFill>
                <a:latin typeface="Calibri"/>
                <a:ea typeface="Calibri"/>
                <a:cs typeface="Calibri"/>
                <a:sym typeface="Calibri"/>
              </a:rPr>
              <a:t>optimality</a:t>
            </a:r>
            <a:endParaRPr sz="1400" b="0" i="0" u="none" strike="noStrike" cap="none">
              <a:solidFill>
                <a:srgbClr val="000000"/>
              </a:solidFill>
              <a:latin typeface="Arial"/>
              <a:ea typeface="Arial"/>
              <a:cs typeface="Arial"/>
              <a:sym typeface="Arial"/>
            </a:endParaRPr>
          </a:p>
          <a:p>
            <a:pPr marL="685800" marR="0" lvl="1" indent="-285750" algn="l" rtl="0">
              <a:lnSpc>
                <a:spcPct val="90000"/>
              </a:lnSpc>
              <a:spcBef>
                <a:spcPts val="48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will the best solution be found</a:t>
            </a:r>
            <a:endParaRPr sz="1400" b="0" i="0" u="none" strike="noStrike" cap="none">
              <a:solidFill>
                <a:srgbClr val="000000"/>
              </a:solidFill>
              <a:latin typeface="Arial"/>
              <a:ea typeface="Arial"/>
              <a:cs typeface="Arial"/>
              <a:sym typeface="Arial"/>
            </a:endParaRPr>
          </a:p>
          <a:p>
            <a:pPr marL="285750" marR="0" lvl="0" indent="-285750" algn="l" rtl="0">
              <a:lnSpc>
                <a:spcPct val="90000"/>
              </a:lnSpc>
              <a:spcBef>
                <a:spcPts val="480"/>
              </a:spcBef>
              <a:spcAft>
                <a:spcPts val="0"/>
              </a:spcAft>
              <a:buClr>
                <a:schemeClr val="hlink"/>
              </a:buClr>
              <a:buSzPts val="2400"/>
              <a:buFont typeface="Calibri"/>
              <a:buNone/>
            </a:pPr>
            <a:r>
              <a:rPr lang="en-US" sz="2400" b="0" i="0" u="none" strike="noStrike" cap="none">
                <a:solidFill>
                  <a:schemeClr val="dk1"/>
                </a:solidFill>
                <a:latin typeface="Calibri"/>
                <a:ea typeface="Calibri"/>
                <a:cs typeface="Calibri"/>
                <a:sym typeface="Calibri"/>
              </a:rPr>
              <a:t>main factors for complexity considerations:</a:t>
            </a:r>
            <a:endParaRPr sz="1400" b="0" i="0" u="none" strike="noStrike" cap="none">
              <a:solidFill>
                <a:srgbClr val="000000"/>
              </a:solidFill>
              <a:latin typeface="Arial"/>
              <a:ea typeface="Arial"/>
              <a:cs typeface="Arial"/>
              <a:sym typeface="Arial"/>
            </a:endParaRPr>
          </a:p>
          <a:p>
            <a:pPr marL="285750" marR="0" lvl="0" indent="-285750" algn="l" rtl="0">
              <a:lnSpc>
                <a:spcPct val="90000"/>
              </a:lnSpc>
              <a:spcBef>
                <a:spcPts val="480"/>
              </a:spcBef>
              <a:spcAft>
                <a:spcPts val="0"/>
              </a:spcAft>
              <a:buClr>
                <a:schemeClr val="hlink"/>
              </a:buClr>
              <a:buSzPts val="2400"/>
              <a:buFont typeface="Calibri"/>
              <a:buNone/>
            </a:pPr>
            <a:r>
              <a:rPr lang="en-US" sz="2400" b="0" i="0" u="none" strike="noStrike" cap="none">
                <a:solidFill>
                  <a:schemeClr val="dk1"/>
                </a:solidFill>
                <a:latin typeface="Calibri"/>
                <a:ea typeface="Calibri"/>
                <a:cs typeface="Calibri"/>
                <a:sym typeface="Calibri"/>
              </a:rPr>
              <a:t>	</a:t>
            </a:r>
            <a:r>
              <a:rPr lang="en-US" sz="2000" b="0" i="0" u="none" strike="noStrike" cap="none">
                <a:solidFill>
                  <a:schemeClr val="dk1"/>
                </a:solidFill>
                <a:latin typeface="Calibri"/>
                <a:ea typeface="Calibri"/>
                <a:cs typeface="Calibri"/>
                <a:sym typeface="Calibri"/>
              </a:rPr>
              <a:t>branching factor </a:t>
            </a:r>
            <a:r>
              <a:rPr lang="en-US" sz="2000" b="0" i="1" u="none" strike="noStrike" cap="none">
                <a:solidFill>
                  <a:schemeClr val="dk1"/>
                </a:solidFill>
                <a:latin typeface="Calibri"/>
                <a:ea typeface="Calibri"/>
                <a:cs typeface="Calibri"/>
                <a:sym typeface="Calibri"/>
              </a:rPr>
              <a:t>b</a:t>
            </a:r>
            <a:r>
              <a:rPr lang="en-US" sz="2000" b="0" i="0" u="none" strike="noStrike" cap="none">
                <a:solidFill>
                  <a:schemeClr val="dk1"/>
                </a:solidFill>
                <a:latin typeface="Calibri"/>
                <a:ea typeface="Calibri"/>
                <a:cs typeface="Calibri"/>
                <a:sym typeface="Calibri"/>
              </a:rPr>
              <a:t>, depth </a:t>
            </a:r>
            <a:r>
              <a:rPr lang="en-US" sz="2000" b="0" i="1" u="none" strike="noStrike" cap="none">
                <a:solidFill>
                  <a:schemeClr val="dk1"/>
                </a:solidFill>
                <a:latin typeface="Calibri"/>
                <a:ea typeface="Calibri"/>
                <a:cs typeface="Calibri"/>
                <a:sym typeface="Calibri"/>
              </a:rPr>
              <a:t>d</a:t>
            </a:r>
            <a:r>
              <a:rPr lang="en-US" sz="2000" b="0" i="0" u="none" strike="noStrike" cap="none">
                <a:solidFill>
                  <a:schemeClr val="dk1"/>
                </a:solidFill>
                <a:latin typeface="Calibri"/>
                <a:ea typeface="Calibri"/>
                <a:cs typeface="Calibri"/>
                <a:sym typeface="Calibri"/>
              </a:rPr>
              <a:t> of the shallowest goal node, maximum path length, </a:t>
            </a:r>
            <a:r>
              <a:rPr lang="en-US" sz="2000" b="0" i="1" u="none" strike="noStrike" cap="none">
                <a:solidFill>
                  <a:schemeClr val="dk1"/>
                </a:solidFill>
                <a:latin typeface="Calibri"/>
                <a:ea typeface="Calibri"/>
                <a:cs typeface="Calibri"/>
                <a:sym typeface="Calibri"/>
              </a:rPr>
              <a:t>m</a:t>
            </a:r>
            <a:endParaRPr sz="1400" b="0" i="0" u="none" strike="noStrike" cap="none">
              <a:solidFill>
                <a:srgbClr val="000000"/>
              </a:solidFill>
              <a:latin typeface="Arial"/>
              <a:ea typeface="Arial"/>
              <a:cs typeface="Arial"/>
              <a:sym typeface="Arial"/>
            </a:endParaRPr>
          </a:p>
        </p:txBody>
      </p:sp>
      <p:sp>
        <p:nvSpPr>
          <p:cNvPr id="736" name="Google Shape;736;p41"/>
          <p:cNvSpPr/>
          <p:nvPr/>
        </p:nvSpPr>
        <p:spPr>
          <a:xfrm>
            <a:off x="1066800" y="304800"/>
            <a:ext cx="8073273"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chemeClr val="dk1"/>
                </a:solidFill>
                <a:latin typeface="Roboto"/>
                <a:ea typeface="Roboto"/>
                <a:cs typeface="Roboto"/>
                <a:sym typeface="Roboto"/>
              </a:rPr>
              <a:t>Evaluation Criteria</a:t>
            </a:r>
            <a:endParaRPr sz="1400" b="0" i="0" u="none" strike="noStrike" cap="none">
              <a:solidFill>
                <a:srgbClr val="000000"/>
              </a:solidFill>
              <a:latin typeface="Arial"/>
              <a:ea typeface="Arial"/>
              <a:cs typeface="Arial"/>
              <a:sym typeface="Arial"/>
            </a:endParaRPr>
          </a:p>
        </p:txBody>
      </p:sp>
      <p:sp>
        <p:nvSpPr>
          <p:cNvPr id="737" name="Google Shape;737;p41"/>
          <p:cNvSpPr/>
          <p:nvPr/>
        </p:nvSpPr>
        <p:spPr>
          <a:xfrm>
            <a:off x="6934200" y="2895600"/>
            <a:ext cx="2205872" cy="1200329"/>
          </a:xfrm>
          <a:prstGeom prst="flowChartProcess">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Clr>
                <a:srgbClr val="000000"/>
              </a:buClr>
              <a:buSzPts val="2000"/>
              <a:buFont typeface="Arial"/>
              <a:buNone/>
            </a:pPr>
            <a:r>
              <a:rPr lang="en-US" sz="2000" b="0" i="0" u="none" strike="noStrike" cap="none">
                <a:solidFill>
                  <a:schemeClr val="dk1"/>
                </a:solidFill>
                <a:latin typeface="Calibri"/>
                <a:ea typeface="Calibri"/>
                <a:cs typeface="Calibri"/>
                <a:sym typeface="Calibri"/>
              </a:rPr>
              <a:t>Time and space complexity are measured in terms of </a:t>
            </a:r>
            <a:r>
              <a:rPr lang="en-US" sz="2000" b="0" i="1" u="none" strike="noStrike" cap="none">
                <a:solidFill>
                  <a:schemeClr val="dk1"/>
                </a:solidFill>
                <a:latin typeface="Calibri"/>
                <a:ea typeface="Calibri"/>
                <a:cs typeface="Calibri"/>
                <a:sym typeface="Calibri"/>
              </a:rPr>
              <a:t>b, d, m </a:t>
            </a:r>
            <a:endParaRPr sz="1400" b="0" i="0" u="none" strike="noStrike" cap="none">
              <a:solidFill>
                <a:srgbClr val="000000"/>
              </a:solidFill>
              <a:latin typeface="Arial"/>
              <a:ea typeface="Arial"/>
              <a:cs typeface="Arial"/>
              <a:sym typeface="Arial"/>
            </a:endParaRPr>
          </a:p>
        </p:txBody>
      </p:sp>
      <p:sp>
        <p:nvSpPr>
          <p:cNvPr id="738" name="Google Shape;738;p41"/>
          <p:cNvSpPr/>
          <p:nvPr/>
        </p:nvSpPr>
        <p:spPr>
          <a:xfrm>
            <a:off x="6324600" y="2362200"/>
            <a:ext cx="609600" cy="1895564"/>
          </a:xfrm>
          <a:prstGeom prst="rightBrace">
            <a:avLst>
              <a:gd name="adj1" fmla="val 8333"/>
              <a:gd name="adj2" fmla="val 50000"/>
            </a:avLst>
          </a:prstGeom>
          <a:noFill/>
          <a:ln w="28575" cap="flat" cmpd="sng">
            <a:solidFill>
              <a:srgbClr val="E36C0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42"/>
          <p:cNvSpPr/>
          <p:nvPr/>
        </p:nvSpPr>
        <p:spPr>
          <a:xfrm>
            <a:off x="609600" y="1752601"/>
            <a:ext cx="7772400" cy="4114800"/>
          </a:xfrm>
          <a:prstGeom prst="rect">
            <a:avLst/>
          </a:prstGeom>
          <a:noFill/>
          <a:ln>
            <a:noFill/>
          </a:ln>
        </p:spPr>
        <p:txBody>
          <a:bodyPr spcFirstLastPara="1" wrap="square" lIns="90475" tIns="44450" rIns="90475" bIns="44450" anchor="t" anchorCtr="0">
            <a:noAutofit/>
          </a:bodyPr>
          <a:lstStyle/>
          <a:p>
            <a:pPr marL="342900" marR="0" lvl="0" indent="-342900" algn="l" rtl="0">
              <a:lnSpc>
                <a:spcPct val="100000"/>
              </a:lnSpc>
              <a:spcBef>
                <a:spcPts val="0"/>
              </a:spcBef>
              <a:spcAft>
                <a:spcPts val="0"/>
              </a:spcAft>
              <a:buClr>
                <a:schemeClr val="hlink"/>
              </a:buClr>
              <a:buSzPts val="2400"/>
              <a:buFont typeface="Calibri"/>
              <a:buChar char="•"/>
            </a:pPr>
            <a:r>
              <a:rPr lang="en-US" sz="2400" b="0" i="0" u="none" strike="noStrike" cap="none">
                <a:solidFill>
                  <a:schemeClr val="dk1"/>
                </a:solidFill>
                <a:latin typeface="Calibri"/>
                <a:ea typeface="Calibri"/>
                <a:cs typeface="Calibri"/>
                <a:sym typeface="Calibri"/>
              </a:rPr>
              <a:t>The </a:t>
            </a:r>
            <a:r>
              <a:rPr lang="en-US" sz="2400" b="0" i="0" u="none" strike="noStrike" cap="none">
                <a:solidFill>
                  <a:srgbClr val="0070C0"/>
                </a:solidFill>
                <a:latin typeface="Calibri"/>
                <a:ea typeface="Calibri"/>
                <a:cs typeface="Calibri"/>
                <a:sym typeface="Calibri"/>
              </a:rPr>
              <a:t>search cost </a:t>
            </a:r>
            <a:r>
              <a:rPr lang="en-US" sz="2400" b="0" i="0" u="none" strike="noStrike" cap="none">
                <a:solidFill>
                  <a:schemeClr val="dk1"/>
                </a:solidFill>
                <a:latin typeface="Calibri"/>
                <a:ea typeface="Calibri"/>
                <a:cs typeface="Calibri"/>
                <a:sym typeface="Calibri"/>
              </a:rPr>
              <a:t>indicates how expensive it is to generate a solution</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8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Time complexity (e.g. number of nodes generated) is usually the main factor</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8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Sometimes space complexity (memory usage) is considered as well</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80"/>
              </a:spcBef>
              <a:spcAft>
                <a:spcPts val="0"/>
              </a:spcAft>
              <a:buClr>
                <a:schemeClr val="hlink"/>
              </a:buClr>
              <a:buSzPts val="2400"/>
              <a:buFont typeface="Calibri"/>
              <a:buChar char="•"/>
            </a:pPr>
            <a:r>
              <a:rPr lang="en-US" sz="2400" b="0" i="0" u="none" strike="noStrike" cap="none">
                <a:solidFill>
                  <a:srgbClr val="0070C0"/>
                </a:solidFill>
                <a:latin typeface="Calibri"/>
                <a:ea typeface="Calibri"/>
                <a:cs typeface="Calibri"/>
                <a:sym typeface="Calibri"/>
              </a:rPr>
              <a:t>Path cost </a:t>
            </a:r>
            <a:r>
              <a:rPr lang="en-US" sz="2400" b="0" i="0" u="none" strike="noStrike" cap="none">
                <a:solidFill>
                  <a:schemeClr val="dk1"/>
                </a:solidFill>
                <a:latin typeface="Calibri"/>
                <a:ea typeface="Calibri"/>
                <a:cs typeface="Calibri"/>
                <a:sym typeface="Calibri"/>
              </a:rPr>
              <a:t>indicates how expensive it is to execute the solution found in the search</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8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distinct from the search cost, but often related</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480"/>
              </a:spcBef>
              <a:spcAft>
                <a:spcPts val="0"/>
              </a:spcAft>
              <a:buClr>
                <a:schemeClr val="hlink"/>
              </a:buClr>
              <a:buSzPts val="2400"/>
              <a:buFont typeface="Calibri"/>
              <a:buChar char="•"/>
            </a:pPr>
            <a:r>
              <a:rPr lang="en-US" sz="2400" b="0" i="0" u="none" strike="noStrike" cap="none">
                <a:solidFill>
                  <a:srgbClr val="0070C0"/>
                </a:solidFill>
                <a:latin typeface="Calibri"/>
                <a:ea typeface="Calibri"/>
                <a:cs typeface="Calibri"/>
                <a:sym typeface="Calibri"/>
              </a:rPr>
              <a:t>Total cost </a:t>
            </a:r>
            <a:r>
              <a:rPr lang="en-US" sz="2400" b="0" i="0" u="none" strike="noStrike" cap="none">
                <a:solidFill>
                  <a:schemeClr val="dk1"/>
                </a:solidFill>
                <a:latin typeface="Calibri"/>
                <a:ea typeface="Calibri"/>
                <a:cs typeface="Calibri"/>
                <a:sym typeface="Calibri"/>
              </a:rPr>
              <a:t>is the sum of search and path costs</a:t>
            </a:r>
            <a:endParaRPr sz="1400" b="0" i="0" u="none" strike="noStrike" cap="none">
              <a:solidFill>
                <a:srgbClr val="000000"/>
              </a:solidFill>
              <a:latin typeface="Arial"/>
              <a:ea typeface="Arial"/>
              <a:cs typeface="Arial"/>
              <a:sym typeface="Arial"/>
            </a:endParaRPr>
          </a:p>
        </p:txBody>
      </p:sp>
      <p:sp>
        <p:nvSpPr>
          <p:cNvPr id="744" name="Google Shape;744;p42"/>
          <p:cNvSpPr/>
          <p:nvPr/>
        </p:nvSpPr>
        <p:spPr>
          <a:xfrm>
            <a:off x="1066800" y="304800"/>
            <a:ext cx="8073273"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chemeClr val="dk1"/>
                </a:solidFill>
                <a:latin typeface="Roboto"/>
                <a:ea typeface="Roboto"/>
                <a:cs typeface="Roboto"/>
                <a:sym typeface="Roboto"/>
              </a:rPr>
              <a:t>Search and Path Cost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2848</Words>
  <Application>Microsoft Office PowerPoint</Application>
  <PresentationFormat>On-screen Show (4:3)</PresentationFormat>
  <Paragraphs>434</Paragraphs>
  <Slides>42</Slides>
  <Notes>42</Notes>
  <HiddenSlides>2</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42</vt:i4>
      </vt:variant>
    </vt:vector>
  </HeadingPairs>
  <TitlesOfParts>
    <vt:vector size="50" baseType="lpstr">
      <vt:lpstr>Libre Baskerville</vt:lpstr>
      <vt:lpstr>Roboto</vt:lpstr>
      <vt:lpstr>Garamond</vt:lpstr>
      <vt:lpstr>Calibri</vt:lpstr>
      <vt:lpstr>Arial</vt:lpstr>
      <vt:lpstr>Open Sans</vt:lpstr>
      <vt:lpstr>Office Theme</vt:lpstr>
      <vt:lpstr>Custom Design</vt:lpstr>
      <vt:lpstr>Search Algorithms</vt:lpstr>
      <vt:lpstr>PowerPoint Presentation</vt:lpstr>
      <vt:lpstr>PowerPoint Presentation</vt:lpstr>
      <vt:lpstr>PowerPoint Presentation</vt:lpstr>
      <vt:lpstr>PowerPoint Presentation</vt:lpstr>
      <vt:lpstr>PowerPoint Presentation</vt:lpstr>
      <vt:lpstr>Example of State Space</vt:lpstr>
      <vt:lpstr>Example of Graph Theory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Graph theory problem</vt:lpstr>
      <vt:lpstr>PowerPoint Presentation</vt:lpstr>
      <vt:lpstr>PowerPoint Presentation</vt:lpstr>
      <vt:lpstr>PowerPoint Presentation</vt:lpstr>
      <vt:lpstr>Data Driven &amp; Goal Driven Approach </vt:lpstr>
      <vt:lpstr>PowerPoint Presentation</vt:lpstr>
      <vt:lpstr>Data-Driven Approach</vt:lpstr>
      <vt:lpstr>Goal-Driven Approach</vt:lpstr>
      <vt:lpstr>Goal-Driven Approach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ASRAFUL SYIFAA' BINTI AHMAD</dc:creator>
  <cp:lastModifiedBy>Norsham Idris</cp:lastModifiedBy>
  <cp:revision>2</cp:revision>
  <dcterms:created xsi:type="dcterms:W3CDTF">2019-09-22T05:53:42Z</dcterms:created>
  <dcterms:modified xsi:type="dcterms:W3CDTF">2025-10-29T01:54:40Z</dcterms:modified>
</cp:coreProperties>
</file>