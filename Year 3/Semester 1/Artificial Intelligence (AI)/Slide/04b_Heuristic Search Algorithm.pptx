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75" r:id="rId9"/>
    <p:sldId id="276" r:id="rId10"/>
    <p:sldId id="278" r:id="rId11"/>
    <p:sldId id="279" r:id="rId12"/>
    <p:sldId id="280" r:id="rId13"/>
    <p:sldId id="281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5" r:id="rId26"/>
  </p:sldIdLst>
  <p:sldSz cx="9144000" cy="6858000" type="screen4x3"/>
  <p:notesSz cx="6858000" cy="9144000"/>
  <p:embeddedFontLst>
    <p:embeddedFont>
      <p:font typeface="Libre Baskerville" panose="02000000000000000000" pitchFamily="2" charset="0"/>
      <p:regular r:id="rId28"/>
      <p:bold r:id="rId29"/>
      <p:italic r:id="rId30"/>
    </p:embeddedFont>
    <p:embeddedFont>
      <p:font typeface="Noto Sans Symbols" panose="020B0604020202020204" charset="0"/>
      <p:regular r:id="rId31"/>
      <p:bold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gnVQjRQpw+a7SGDWiFbUxO/GsW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4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7.fntdata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6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book/9780123725127/heuristic-search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ciencedirect.com/topics/computer-science/heuristic-search-algorithm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flair.training/blogs/heuristic-search-ai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-search-algorithm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-search-algorithm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https://www.sciencedirect.com/book/9780123725127/heuristic-search#book-description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https://www.sciencedirect.com/topics/computer-science/heuristic-search-algorithm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https://data-flair.training/blogs/heuristic-search-ai/</a:t>
            </a: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" name="Google Shape;3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2" name="Google Shape;4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0" name="Google Shape;45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https://www.geeksforgeeks.org/a-search-algorithm/</a:t>
            </a:r>
            <a:endParaRPr/>
          </a:p>
        </p:txBody>
      </p:sp>
      <p:sp>
        <p:nvSpPr>
          <p:cNvPr id="470" name="Google Shape;47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https://www.geeksforgeeks.org/a-search-algorithm/</a:t>
            </a:r>
            <a:endParaRPr/>
          </a:p>
        </p:txBody>
      </p:sp>
      <p:sp>
        <p:nvSpPr>
          <p:cNvPr id="480" name="Google Shape;480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0" name="Google Shape;49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0" name="Google Shape;50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9" name="Google Shape;50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8" name="Google Shape;51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1" name="Google Shape;53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3" name="Google Shape;55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9" name="Google Shape;5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1" name="Google Shape;59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Calculate f(f5) = 3 + 2 = 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Calculate f(i7) = 4 + 4 = 8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Since f(f5) has a lower value of 5 than i7, thus next is move is to f5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2" name="Google Shape;592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4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5" name="Google Shape;55;p47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7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7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8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8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8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49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9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9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5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50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51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52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747" y="6487366"/>
            <a:ext cx="9131300" cy="357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1"/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" name="Google Shape;13;p41" descr="header_UTM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500" y="106363"/>
            <a:ext cx="1195388" cy="39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1" descr="header_url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1169894"/>
            <a:ext cx="2376488" cy="255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41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4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4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41" descr="A close up of a logo&#10;&#10;Description automatically generated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630160" y="6021985"/>
            <a:ext cx="1392237" cy="4333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atas keprihatinan anda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00206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“I Care, You Care, We Care”</a:t>
            </a:r>
            <a:endParaRPr sz="3600" b="1" i="0" u="none" strike="noStrike" cap="none">
              <a:solidFill>
                <a:srgbClr val="00206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91" name="Google Shape;91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47" y="6487366"/>
            <a:ext cx="9131300" cy="35718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3"/>
          <p:cNvSpPr txBox="1">
            <a:spLocks noGrp="1"/>
          </p:cNvSpPr>
          <p:nvPr>
            <p:ph type="dt" idx="10"/>
          </p:nvPr>
        </p:nvSpPr>
        <p:spPr>
          <a:xfrm>
            <a:off x="0" y="6600451"/>
            <a:ext cx="15476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53"/>
          <p:cNvSpPr txBox="1">
            <a:spLocks noGrp="1"/>
          </p:cNvSpPr>
          <p:nvPr>
            <p:ph type="sldNum" idx="12"/>
          </p:nvPr>
        </p:nvSpPr>
        <p:spPr>
          <a:xfrm>
            <a:off x="8316416" y="6600451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53"/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53" descr="header_UT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00" y="106363"/>
            <a:ext cx="1195388" cy="39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53" descr="header_ur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009650"/>
            <a:ext cx="2376488" cy="388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3008" y="53788"/>
            <a:ext cx="580837" cy="438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3" descr="PNG_new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54633" y="26894"/>
            <a:ext cx="504056" cy="47736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3"/>
          <p:cNvSpPr txBox="1">
            <a:spLocks noGrp="1"/>
          </p:cNvSpPr>
          <p:nvPr>
            <p:ph type="ftr" idx="11"/>
          </p:nvPr>
        </p:nvSpPr>
        <p:spPr>
          <a:xfrm>
            <a:off x="2281520" y="6647328"/>
            <a:ext cx="47049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ctrTitle"/>
          </p:nvPr>
        </p:nvSpPr>
        <p:spPr>
          <a:xfrm>
            <a:off x="0" y="2130425"/>
            <a:ext cx="9220200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Roboto"/>
              <a:buNone/>
            </a:pPr>
            <a:r>
              <a:rPr lang="en-US" sz="54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Heuristic </a:t>
            </a:r>
            <a:r>
              <a:rPr lang="en-US" sz="5400" b="1">
                <a:latin typeface="Roboto"/>
                <a:ea typeface="Roboto"/>
                <a:cs typeface="Roboto"/>
                <a:sym typeface="Roboto"/>
              </a:rPr>
              <a:t>Search Algorithm</a:t>
            </a:r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None/>
            </a:pPr>
            <a:r>
              <a:rPr lang="en-US" sz="4000" b="1" dirty="0">
                <a:solidFill>
                  <a:srgbClr val="0070C0"/>
                </a:solidFill>
              </a:rPr>
              <a:t>Artificial Intelligence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</a:pPr>
            <a:endParaRPr sz="1100" b="1" dirty="0">
              <a:solidFill>
                <a:srgbClr val="0070C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lang="en-US" sz="2800" i="1" dirty="0"/>
              <a:t>Faculty of Computing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lang="en-US" sz="2800" i="1" dirty="0" err="1"/>
              <a:t>Universiti</a:t>
            </a:r>
            <a:r>
              <a:rPr lang="en-US" sz="2800" i="1" dirty="0"/>
              <a:t> </a:t>
            </a:r>
            <a:r>
              <a:rPr lang="en-US" sz="2800" i="1" dirty="0" err="1"/>
              <a:t>Teknologi</a:t>
            </a:r>
            <a:r>
              <a:rPr lang="en-US" sz="2800" i="1" dirty="0"/>
              <a:t> Malaysia</a:t>
            </a:r>
            <a:endParaRPr dirty="0"/>
          </a:p>
        </p:txBody>
      </p:sp>
      <p:pic>
        <p:nvPicPr>
          <p:cNvPr id="107" name="Google Shape;107;p1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1" y="3429000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/>
          <p:nvPr/>
        </p:nvSpPr>
        <p:spPr>
          <a:xfrm>
            <a:off x="-7257" y="3059668"/>
            <a:ext cx="914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(Informed Search)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"/>
              <a:buNone/>
            </a:pPr>
            <a:r>
              <a:rPr lang="en-US" sz="5400" b="1">
                <a:latin typeface="Roboto"/>
                <a:ea typeface="Roboto"/>
                <a:cs typeface="Roboto"/>
                <a:sym typeface="Roboto"/>
              </a:rPr>
              <a:t>Outline</a:t>
            </a:r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What is Heuristic Search?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Selection of a Search Strategy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Hill climbing Search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Best-first Search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Search with Heuristic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Comparison of all search strategy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Heuristic Evaluation Function f(n)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Exercise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dt" idx="10"/>
          </p:nvPr>
        </p:nvSpPr>
        <p:spPr>
          <a:xfrm>
            <a:off x="228600" y="64378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18" name="Google Shape;118;p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25" name="Google Shape;125;p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26" name="Google Shape;126;p3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1733612" y="2314726"/>
            <a:ext cx="7257988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lang="en-US" sz="40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Heuristic Search</a:t>
            </a:r>
            <a:r>
              <a:rPr lang="en-US"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136238" y="3124200"/>
            <a:ext cx="621702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Taxonomy of Heuristic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134" name="Google Shape;134;p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135" name="Google Shape;135;p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4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Heuristic Search</a:t>
            </a:r>
            <a:r>
              <a:rPr lang="en-US"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Definition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4" descr="Z:\Shared with PC\smallMaz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051" y="3481387"/>
            <a:ext cx="4967288" cy="223361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76200" y="1495328"/>
            <a:ext cx="6705601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50" marR="0" lvl="0" indent="-2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 heuristic is: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0016" marR="0" lvl="1" indent="-2571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function that </a:t>
            </a: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close a state is to a goal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0016" marR="0" lvl="1" indent="-2571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for a particular search problem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0016" marR="0" lvl="1" indent="-2571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Manhattan distance, Euclidean distance for path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4"/>
          <p:cNvGrpSpPr/>
          <p:nvPr/>
        </p:nvGrpSpPr>
        <p:grpSpPr>
          <a:xfrm>
            <a:off x="677470" y="3915965"/>
            <a:ext cx="2269331" cy="1443038"/>
            <a:chOff x="1573306" y="4155142"/>
            <a:chExt cx="3025588" cy="1922929"/>
          </a:xfrm>
        </p:grpSpPr>
        <p:sp>
          <p:nvSpPr>
            <p:cNvPr id="140" name="Google Shape;140;p4"/>
            <p:cNvSpPr/>
            <p:nvPr/>
          </p:nvSpPr>
          <p:spPr>
            <a:xfrm>
              <a:off x="1573306" y="4578757"/>
              <a:ext cx="3025588" cy="1499314"/>
            </a:xfrm>
            <a:custGeom>
              <a:avLst/>
              <a:gdLst/>
              <a:ahLst/>
              <a:cxnLst/>
              <a:rect l="l" t="t" r="r" b="b"/>
              <a:pathLst>
                <a:path w="3065929" h="1479177" extrusionOk="0">
                  <a:moveTo>
                    <a:pt x="3065929" y="13447"/>
                  </a:moveTo>
                  <a:lnTo>
                    <a:pt x="0" y="0"/>
                  </a:lnTo>
                  <a:lnTo>
                    <a:pt x="26894" y="1479177"/>
                  </a:lnTo>
                </a:path>
              </a:pathLst>
            </a:custGeom>
            <a:noFill/>
            <a:ln w="57150" cap="flat" cmpd="sng">
              <a:solidFill>
                <a:srgbClr val="C00000"/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2164976" y="4155142"/>
              <a:ext cx="481298" cy="3998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-US" sz="1350" b="1" i="0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1591236" y="4953001"/>
              <a:ext cx="363754" cy="3998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-US" sz="1350" b="1" i="0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4"/>
          <p:cNvGrpSpPr/>
          <p:nvPr/>
        </p:nvGrpSpPr>
        <p:grpSpPr>
          <a:xfrm>
            <a:off x="738193" y="4229101"/>
            <a:ext cx="2233607" cy="1129903"/>
            <a:chOff x="1653989" y="4572529"/>
            <a:chExt cx="2978334" cy="1505542"/>
          </a:xfrm>
        </p:grpSpPr>
        <p:cxnSp>
          <p:nvCxnSpPr>
            <p:cNvPr id="144" name="Google Shape;144;p4"/>
            <p:cNvCxnSpPr/>
            <p:nvPr/>
          </p:nvCxnSpPr>
          <p:spPr>
            <a:xfrm flipH="1">
              <a:off x="1653989" y="4572529"/>
              <a:ext cx="2978334" cy="1505542"/>
            </a:xfrm>
            <a:prstGeom prst="straightConnector1">
              <a:avLst/>
            </a:prstGeom>
            <a:noFill/>
            <a:ln w="57150" cap="flat" cmpd="sng">
              <a:solidFill>
                <a:srgbClr val="C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45" name="Google Shape;145;p4"/>
            <p:cNvSpPr txBox="1"/>
            <p:nvPr/>
          </p:nvSpPr>
          <p:spPr>
            <a:xfrm>
              <a:off x="3016625" y="5356413"/>
              <a:ext cx="660908" cy="3998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-US" sz="1350" b="1" i="0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11.2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6" name="Google Shape;14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8600" y="1841150"/>
            <a:ext cx="2392350" cy="161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4741" y="3662686"/>
            <a:ext cx="2483584" cy="1696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153" name="Google Shape;153;p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154" name="Google Shape;154;p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5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228600" y="1676400"/>
            <a:ext cx="86106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technique to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solve a problem faster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 classic methods, or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 find an approximate solution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classic methods cannot.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Heuristic is a rule of thumb that probably leads to a solution. Heuristics play a major role in search strategies because of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exponential nature of the most problems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Heuristics help to reduce the number of alternatives from an exponential number to a polynomial number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kind of a shortcut as we often trade one of optimality, completeness, accuracy, or precision for speed.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Heuristic (or a heuristic function) takes a look at search algorithms. At each branching step, it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evaluates the available information and makes a decision on which branch to follow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It does so by ranking alternatives. The Heuristic is any device that is often effective but will not guarantee work in every case.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Heuristic Search</a:t>
            </a:r>
            <a:r>
              <a:rPr lang="en-US"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Definition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163" name="Google Shape;163;p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6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28600" y="1676400"/>
            <a:ext cx="86106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(rules of thumb): Weak search method because it is based on experience or intuition.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long been a core concern in AI research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prune spaces of possible 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to employ Heuristic?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AutoNum type="arabicPeriod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problem may not have an exact solution.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marR="0" lvl="2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None/>
            </a:pPr>
            <a:r>
              <a:rPr lang="en-US" sz="2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medical diagnosis: doctors use heuristic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AutoNum type="arabicPeriod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problem may have an exact solution, but the computational cost of finding it may be prohibitive.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marR="0" lvl="2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None/>
            </a:pPr>
            <a:r>
              <a:rPr lang="en-US" sz="2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 in chess (exhaustive or brute force search)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Heuristic Search</a:t>
            </a:r>
            <a:r>
              <a:rPr lang="en-US"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Definition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350" name="Google Shape;350;p2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51" name="Google Shape;351;p2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52" name="Google Shape;352;p20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0"/>
          <p:cNvSpPr txBox="1"/>
          <p:nvPr/>
        </p:nvSpPr>
        <p:spPr>
          <a:xfrm>
            <a:off x="1886012" y="2220953"/>
            <a:ext cx="7257988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Roboto"/>
              <a:buNone/>
            </a:pPr>
            <a:r>
              <a:rPr lang="en-US" sz="54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Weak </a:t>
            </a:r>
            <a:r>
              <a:rPr lang="en-US" sz="48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Heuristic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2136238" y="3124200"/>
            <a:ext cx="621702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Hill climbing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Best-first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A*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360" name="Google Shape;360;p2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361" name="Google Shape;361;p2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8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Hill Climbing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228601" y="1676400"/>
            <a:ext cx="86868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1AAE8E-371C-6167-2228-F152B747A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686" y="1828800"/>
            <a:ext cx="4206464" cy="41637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4EF82-0B1D-7433-60C9-901B542D3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50" y="1547780"/>
            <a:ext cx="4134427" cy="49251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378" name="Google Shape;378;p2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379" name="Google Shape;379;p2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9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Hill Climbing</a:t>
            </a: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23"/>
          <p:cNvGrpSpPr/>
          <p:nvPr/>
        </p:nvGrpSpPr>
        <p:grpSpPr>
          <a:xfrm>
            <a:off x="309839" y="1758056"/>
            <a:ext cx="8600521" cy="3875286"/>
            <a:chOff x="5039" y="157856"/>
            <a:chExt cx="8600521" cy="3875286"/>
          </a:xfrm>
        </p:grpSpPr>
        <p:sp>
          <p:nvSpPr>
            <p:cNvPr id="382" name="Google Shape;382;p23"/>
            <p:cNvSpPr/>
            <p:nvPr/>
          </p:nvSpPr>
          <p:spPr>
            <a:xfrm>
              <a:off x="5039" y="346323"/>
              <a:ext cx="1652327" cy="670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3"/>
            <p:cNvSpPr txBox="1"/>
            <p:nvPr/>
          </p:nvSpPr>
          <p:spPr>
            <a:xfrm>
              <a:off x="5039" y="346323"/>
              <a:ext cx="1652327" cy="670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50800" rIns="142225" bIns="508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Simple Hill climbing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1657366" y="157856"/>
              <a:ext cx="330465" cy="1047041"/>
            </a:xfrm>
            <a:prstGeom prst="leftBrace">
              <a:avLst>
                <a:gd name="adj1" fmla="val 35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2120018" y="157856"/>
              <a:ext cx="6485542" cy="1047041"/>
            </a:xfrm>
            <a:prstGeom prst="rect">
              <a:avLst/>
            </a:prstGeom>
            <a:solidFill>
              <a:srgbClr val="C0000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3"/>
            <p:cNvSpPr txBox="1"/>
            <p:nvPr/>
          </p:nvSpPr>
          <p:spPr>
            <a:xfrm>
              <a:off x="2120018" y="157856"/>
              <a:ext cx="6485542" cy="10470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Roboto"/>
                <a:buChar char="•"/>
              </a:pPr>
              <a:r>
                <a:rPr lang="en-US" sz="1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examines the neighboring nodes one by one and selects the first neighboring node which optimizes the current cost as next node.</a:t>
              </a:r>
              <a:endParaRPr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5039" y="1332078"/>
              <a:ext cx="1652327" cy="94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3"/>
            <p:cNvSpPr txBox="1"/>
            <p:nvPr/>
          </p:nvSpPr>
          <p:spPr>
            <a:xfrm>
              <a:off x="5039" y="1332078"/>
              <a:ext cx="1652327" cy="94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50800" rIns="142225" bIns="508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Steepest-Ascent Hill climbing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1657366" y="1273297"/>
              <a:ext cx="330465" cy="1058062"/>
            </a:xfrm>
            <a:prstGeom prst="leftBrace">
              <a:avLst>
                <a:gd name="adj1" fmla="val 35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2120018" y="1273297"/>
              <a:ext cx="6485542" cy="1058062"/>
            </a:xfrm>
            <a:prstGeom prst="rect">
              <a:avLst/>
            </a:prstGeom>
            <a:solidFill>
              <a:srgbClr val="358BA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3"/>
            <p:cNvSpPr txBox="1"/>
            <p:nvPr/>
          </p:nvSpPr>
          <p:spPr>
            <a:xfrm>
              <a:off x="2120018" y="1273297"/>
              <a:ext cx="6485542" cy="10580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Roboto"/>
                <a:buChar char="•"/>
              </a:pPr>
              <a:r>
                <a:rPr lang="en-US" sz="1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first examines all the neighboring nodes and then selects the node closest to the solution state as of next node.</a:t>
              </a:r>
              <a:endParaRPr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5039" y="2881398"/>
              <a:ext cx="1652327" cy="670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3"/>
            <p:cNvSpPr txBox="1"/>
            <p:nvPr/>
          </p:nvSpPr>
          <p:spPr>
            <a:xfrm>
              <a:off x="5039" y="2881398"/>
              <a:ext cx="1652327" cy="670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50800" rIns="142225" bIns="508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Stochastic hill climbing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1657366" y="2399759"/>
              <a:ext cx="330465" cy="1633383"/>
            </a:xfrm>
            <a:prstGeom prst="leftBrace">
              <a:avLst>
                <a:gd name="adj1" fmla="val 35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2120018" y="2399759"/>
              <a:ext cx="6485542" cy="1633383"/>
            </a:xfrm>
            <a:prstGeom prst="rect">
              <a:avLst/>
            </a:prstGeom>
            <a:solidFill>
              <a:srgbClr val="5F497A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3"/>
            <p:cNvSpPr txBox="1"/>
            <p:nvPr/>
          </p:nvSpPr>
          <p:spPr>
            <a:xfrm>
              <a:off x="2120018" y="2399759"/>
              <a:ext cx="6485542" cy="1633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Roboto"/>
                <a:buChar char="•"/>
              </a:pPr>
              <a:r>
                <a:rPr lang="en-US" sz="19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 </a:t>
              </a:r>
              <a:r>
                <a:rPr lang="en-US" sz="1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does not examine all the neighboring nodes before deciding which node to select .It just selects a neighboring node at random and decides (based on the amount of improvement in that neighbor) whether to move to that neighbor or to examine another.</a:t>
              </a:r>
              <a:endParaRPr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02" name="Google Shape;402;p2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03" name="Google Shape;403;p2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10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404" name="Google Shape;404;p24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Hill Climbing</a:t>
            </a: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Issues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5" name="Google Shape;405;p24"/>
          <p:cNvGrpSpPr/>
          <p:nvPr/>
        </p:nvGrpSpPr>
        <p:grpSpPr>
          <a:xfrm>
            <a:off x="308929" y="1781775"/>
            <a:ext cx="8447977" cy="3980250"/>
            <a:chOff x="4129" y="105375"/>
            <a:chExt cx="8447977" cy="3980250"/>
          </a:xfrm>
        </p:grpSpPr>
        <p:sp>
          <p:nvSpPr>
            <p:cNvPr id="406" name="Google Shape;406;p24"/>
            <p:cNvSpPr/>
            <p:nvPr/>
          </p:nvSpPr>
          <p:spPr>
            <a:xfrm>
              <a:off x="4129" y="687000"/>
              <a:ext cx="2111994" cy="3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4"/>
            <p:cNvSpPr txBox="1"/>
            <p:nvPr/>
          </p:nvSpPr>
          <p:spPr>
            <a:xfrm>
              <a:off x="4129" y="687000"/>
              <a:ext cx="2111994" cy="3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50800" rIns="142225" bIns="508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Local Maximum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4"/>
            <p:cNvSpPr/>
            <p:nvPr/>
          </p:nvSpPr>
          <p:spPr>
            <a:xfrm>
              <a:off x="2116123" y="105375"/>
              <a:ext cx="422398" cy="1559250"/>
            </a:xfrm>
            <a:prstGeom prst="leftBrace">
              <a:avLst>
                <a:gd name="adj1" fmla="val 35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2707481" y="105375"/>
              <a:ext cx="5744625" cy="1559250"/>
            </a:xfrm>
            <a:prstGeom prst="rect">
              <a:avLst/>
            </a:prstGeom>
            <a:solidFill>
              <a:srgbClr val="5F497A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4"/>
            <p:cNvSpPr txBox="1"/>
            <p:nvPr/>
          </p:nvSpPr>
          <p:spPr>
            <a:xfrm>
              <a:off x="2707481" y="105375"/>
              <a:ext cx="5744625" cy="1559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All neighboring states have values worse than the current. The greedy approach means we won’t be moving to a worse state. This terminates the process even though there may have been a better solution. As a workaround, we use backtracking.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4129" y="2033625"/>
              <a:ext cx="2111994" cy="3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4"/>
            <p:cNvSpPr txBox="1"/>
            <p:nvPr/>
          </p:nvSpPr>
          <p:spPr>
            <a:xfrm>
              <a:off x="4129" y="2033625"/>
              <a:ext cx="2111994" cy="3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50800" rIns="142225" bIns="508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Plateau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2116123" y="1736625"/>
              <a:ext cx="422398" cy="990000"/>
            </a:xfrm>
            <a:prstGeom prst="leftBrace">
              <a:avLst>
                <a:gd name="adj1" fmla="val 35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2707481" y="1736625"/>
              <a:ext cx="5744625" cy="990000"/>
            </a:xfrm>
            <a:prstGeom prst="rect">
              <a:avLst/>
            </a:prstGeom>
            <a:solidFill>
              <a:srgbClr val="C0000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4"/>
            <p:cNvSpPr txBox="1"/>
            <p:nvPr/>
          </p:nvSpPr>
          <p:spPr>
            <a:xfrm>
              <a:off x="2707481" y="1736625"/>
              <a:ext cx="5744625" cy="9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All neighbors to it have the same value. This makes it impossible to choose a direction. To avoid this, we randomly make a big jump.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4129" y="3244125"/>
              <a:ext cx="2111994" cy="3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4"/>
            <p:cNvSpPr txBox="1"/>
            <p:nvPr/>
          </p:nvSpPr>
          <p:spPr>
            <a:xfrm>
              <a:off x="4129" y="3244125"/>
              <a:ext cx="2111994" cy="3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50800" rIns="142225" bIns="508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Ridge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2116123" y="2798625"/>
              <a:ext cx="422398" cy="1287000"/>
            </a:xfrm>
            <a:prstGeom prst="leftBrace">
              <a:avLst>
                <a:gd name="adj1" fmla="val 35000"/>
                <a:gd name="adj2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2707481" y="2798625"/>
              <a:ext cx="5744625" cy="1287000"/>
            </a:xfrm>
            <a:prstGeom prst="rect">
              <a:avLst/>
            </a:prstGeom>
            <a:solidFill>
              <a:srgbClr val="3898B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4"/>
            <p:cNvSpPr txBox="1"/>
            <p:nvPr/>
          </p:nvSpPr>
          <p:spPr>
            <a:xfrm>
              <a:off x="2707481" y="2798625"/>
              <a:ext cx="5744625" cy="12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At a ridge, movement in all possible directions is downward. This makes it look like a peak and terminates the process. To avoid this, we may use two or more rules before testing.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5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26" name="Google Shape;426;p2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27" name="Google Shape;427;p2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11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First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221877" y="1819899"/>
            <a:ext cx="8686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general algorithm for heuristically searching any state space graph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a variety of heuristic evaluation functions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and flexible Algorithm for heuristic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local maxima, dead ends; has open and close lists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selects the most promising state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heuristic and sort the ‘best’ next state in front of the list ( priority queue ) can jump to any level of the state space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lead to incorrect path, it may retrieve the next best state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35" name="Google Shape;435;p2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36" name="Google Shape;436;p2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12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First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481301"/>
            <a:ext cx="4755461" cy="49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6"/>
          <p:cNvSpPr/>
          <p:nvPr/>
        </p:nvSpPr>
        <p:spPr>
          <a:xfrm>
            <a:off x="3200400" y="5791200"/>
            <a:ext cx="838200" cy="304800"/>
          </a:xfrm>
          <a:prstGeom prst="rect">
            <a:avLst/>
          </a:prstGeom>
          <a:solidFill>
            <a:srgbClr val="3898B2">
              <a:alpha val="2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EF0EB2-4162-17C4-D8D8-7398DDC81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2210407"/>
            <a:ext cx="4506943" cy="31559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8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53" name="Google Shape;453;p28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54" name="Google Shape;454;p28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13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First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p28"/>
          <p:cNvPicPr preferRelativeResize="0"/>
          <p:nvPr/>
        </p:nvPicPr>
        <p:blipFill rotWithShape="1">
          <a:blip r:embed="rId3">
            <a:alphaModFix/>
          </a:blip>
          <a:srcRect l="3335"/>
          <a:stretch/>
        </p:blipFill>
        <p:spPr>
          <a:xfrm>
            <a:off x="228601" y="2286000"/>
            <a:ext cx="6906986" cy="3228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4BD2D9-1AF4-2193-2458-E807D5A73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142" y="1531781"/>
            <a:ext cx="3429257" cy="15084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9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62" name="Google Shape;462;p29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63" name="Google Shape;463;p29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14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First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667" y="1447800"/>
            <a:ext cx="6405233" cy="5009491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9"/>
          <p:cNvSpPr/>
          <p:nvPr/>
        </p:nvSpPr>
        <p:spPr>
          <a:xfrm>
            <a:off x="5486400" y="1514145"/>
            <a:ext cx="365367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Heuristic search of a hypothetical state space with open and closed states highlighted.</a:t>
            </a:r>
            <a:endParaRPr sz="1800" b="0" i="0" u="none" strike="noStrike" cap="none">
              <a:solidFill>
                <a:srgbClr val="3898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73" name="Google Shape;473;p3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74" name="Google Shape;474;p3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15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475" name="Google Shape;475;p30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A*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556556" y="1705757"/>
            <a:ext cx="8130243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What is A* Search Algorithm?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A* Search algorithm is one of the best and popular technique used in path-finding and graph traversals.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Why A* Search Algorithm?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Informally speaking, A* Search algorithms, unlike other traversal techniques, it has “brains”. What it means is that it is really a smart algorithm which separates it from the other conventional algorithms.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games and web-based maps use this algorithm to find the shortest path very efficiently (approximation).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1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83" name="Google Shape;483;p3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84" name="Google Shape;484;p3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16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485" name="Google Shape;485;p31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A*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6" name="Google Shape;486;p31" descr="https://media.geeksforgeeks.org/wp-content/uploads/a_-search-algorithm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447800"/>
            <a:ext cx="5565168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1"/>
          <p:cNvSpPr/>
          <p:nvPr/>
        </p:nvSpPr>
        <p:spPr>
          <a:xfrm>
            <a:off x="5181600" y="1804993"/>
            <a:ext cx="3958473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Approximation Heuristics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generally three approximation heuristics to calculate 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Manhattan Distance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Diagonal Distance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Euclidean Distance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2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93" name="Google Shape;493;p3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494" name="Google Shape;494;p3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17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495" name="Google Shape;495;p32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A*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6" name="Google Shape;49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6875" y="2070323"/>
            <a:ext cx="5953125" cy="4389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2"/>
          <p:cNvSpPr/>
          <p:nvPr/>
        </p:nvSpPr>
        <p:spPr>
          <a:xfrm>
            <a:off x="289272" y="1509501"/>
            <a:ext cx="60601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</a:t>
            </a: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shortest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path to travel from a to z?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3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503" name="Google Shape;503;p3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504" name="Google Shape;504;p3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505" name="Google Shape;505;p33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3"/>
          <p:cNvSpPr txBox="1"/>
          <p:nvPr/>
        </p:nvSpPr>
        <p:spPr>
          <a:xfrm>
            <a:off x="1733612" y="2314726"/>
            <a:ext cx="7257988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Heuristic Evaluation Function </a:t>
            </a:r>
            <a:r>
              <a:rPr lang="en-US" sz="40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f(n)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4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12" name="Google Shape;512;p3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13" name="Google Shape;513;p3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19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514" name="Google Shape;514;p34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Heuristic Evaluation Function </a:t>
            </a: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4"/>
          <p:cNvSpPr/>
          <p:nvPr/>
        </p:nvSpPr>
        <p:spPr>
          <a:xfrm>
            <a:off x="279400" y="1600200"/>
            <a:ext cx="8712200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evaluate performances of heuristics for solving a problem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Devise good heuristic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limited information to make intelligent choices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better heuristic, f(n)=g(n)+h(n), where g(n) distance from start to n, h(n) is distance from n to goal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Eg.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 puzzle, heuristics h(n) could be: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No. of tiles in wrong position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No. of tiles in correct position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direct reversal (2X)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 of distances out of place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g(n) is the depth measure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21" name="Google Shape;521;p3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22" name="Google Shape;522;p3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20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Heuristic Evaluation Function </a:t>
            </a: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4" name="Google Shape;52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1670538"/>
            <a:ext cx="4362379" cy="4883711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5"/>
          <p:cNvSpPr/>
          <p:nvPr/>
        </p:nvSpPr>
        <p:spPr>
          <a:xfrm>
            <a:off x="183776" y="1456351"/>
            <a:ext cx="835062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start state, first set of moves, and goal state for an 8-puzzle instance.</a:t>
            </a:r>
            <a:endParaRPr sz="16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5"/>
          <p:cNvSpPr/>
          <p:nvPr/>
        </p:nvSpPr>
        <p:spPr>
          <a:xfrm>
            <a:off x="2040813" y="2149393"/>
            <a:ext cx="857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g(n)=0</a:t>
            </a:r>
            <a:endParaRPr sz="1800" b="0" i="0" u="none" strike="noStrike" cap="none">
              <a:solidFill>
                <a:srgbClr val="3898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5"/>
          <p:cNvSpPr/>
          <p:nvPr/>
        </p:nvSpPr>
        <p:spPr>
          <a:xfrm>
            <a:off x="272525" y="3927727"/>
            <a:ext cx="8579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g(n)=1</a:t>
            </a:r>
            <a:endParaRPr sz="1800" b="0" i="0" u="none" strike="noStrike" cap="none">
              <a:solidFill>
                <a:srgbClr val="3898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5"/>
          <p:cNvSpPr/>
          <p:nvPr/>
        </p:nvSpPr>
        <p:spPr>
          <a:xfrm>
            <a:off x="5136925" y="1886100"/>
            <a:ext cx="4007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f(n) = g(n) + h(n)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 = actual dist. from start to 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h(n) = no. of tiles in wrong position</a:t>
            </a:r>
            <a:endParaRPr sz="1800" b="0" i="0" u="none" strike="noStrike" cap="none">
              <a:solidFill>
                <a:srgbClr val="3898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6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34" name="Google Shape;534;p3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35" name="Google Shape;535;p3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21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1066800" y="304800"/>
            <a:ext cx="80732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Activity: Heuristic Evaluation Function 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6"/>
          <p:cNvSpPr/>
          <p:nvPr/>
        </p:nvSpPr>
        <p:spPr>
          <a:xfrm>
            <a:off x="183776" y="1456351"/>
            <a:ext cx="880782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heuristics applied to states in the 8 puzzle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Devising good heuristics is sometimes difficult; OUR GOAL is to use the limited information available to make INTELLIGENT CHOICE</a:t>
            </a:r>
            <a:endParaRPr sz="16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8" name="Google Shape;53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560" y="2257834"/>
            <a:ext cx="6400800" cy="414296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6"/>
          <p:cNvSpPr/>
          <p:nvPr/>
        </p:nvSpPr>
        <p:spPr>
          <a:xfrm>
            <a:off x="6061262" y="2180855"/>
            <a:ext cx="311747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Use formula as follows: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f(n) = g(n) + h(n)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 = actual dist. from n to start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h(n) = no. of tiles in wrong position</a:t>
            </a:r>
            <a:endParaRPr sz="1400" b="0" i="0" u="none" strike="noStrike" cap="none">
              <a:solidFill>
                <a:srgbClr val="3898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6"/>
          <p:cNvSpPr/>
          <p:nvPr/>
        </p:nvSpPr>
        <p:spPr>
          <a:xfrm>
            <a:off x="232917" y="2720225"/>
            <a:ext cx="833883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 = ?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6"/>
          <p:cNvSpPr/>
          <p:nvPr/>
        </p:nvSpPr>
        <p:spPr>
          <a:xfrm>
            <a:off x="225297" y="3859312"/>
            <a:ext cx="833883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 = ?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6"/>
          <p:cNvSpPr/>
          <p:nvPr/>
        </p:nvSpPr>
        <p:spPr>
          <a:xfrm>
            <a:off x="245235" y="4844177"/>
            <a:ext cx="833883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 = ?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6"/>
          <p:cNvSpPr/>
          <p:nvPr/>
        </p:nvSpPr>
        <p:spPr>
          <a:xfrm>
            <a:off x="2469777" y="6266054"/>
            <a:ext cx="590043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h(n)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6"/>
          <p:cNvSpPr/>
          <p:nvPr/>
        </p:nvSpPr>
        <p:spPr>
          <a:xfrm>
            <a:off x="3717797" y="6272172"/>
            <a:ext cx="590043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f(n)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6"/>
          <p:cNvSpPr txBox="1"/>
          <p:nvPr/>
        </p:nvSpPr>
        <p:spPr>
          <a:xfrm>
            <a:off x="2590800" y="2655253"/>
            <a:ext cx="295022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6"/>
          <p:cNvSpPr txBox="1"/>
          <p:nvPr/>
        </p:nvSpPr>
        <p:spPr>
          <a:xfrm>
            <a:off x="3865307" y="2655253"/>
            <a:ext cx="295022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6"/>
          <p:cNvSpPr txBox="1"/>
          <p:nvPr/>
        </p:nvSpPr>
        <p:spPr>
          <a:xfrm>
            <a:off x="2590800" y="3626255"/>
            <a:ext cx="295022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6"/>
          <p:cNvSpPr txBox="1"/>
          <p:nvPr/>
        </p:nvSpPr>
        <p:spPr>
          <a:xfrm>
            <a:off x="3865307" y="3626255"/>
            <a:ext cx="295022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6"/>
          <p:cNvSpPr txBox="1"/>
          <p:nvPr/>
        </p:nvSpPr>
        <p:spPr>
          <a:xfrm>
            <a:off x="2590800" y="4835316"/>
            <a:ext cx="295022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6"/>
          <p:cNvSpPr txBox="1"/>
          <p:nvPr/>
        </p:nvSpPr>
        <p:spPr>
          <a:xfrm>
            <a:off x="3845369" y="4859566"/>
            <a:ext cx="295022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7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56" name="Google Shape;556;p37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57" name="Google Shape;557;p37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22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1066800" y="304800"/>
            <a:ext cx="80732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Heuristic Evaluation Function </a:t>
            </a: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183776" y="1456351"/>
            <a:ext cx="880782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heuristics applied to states in the 8 puzzle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Devising good heuristics is sometimes difficult; OUR GOAL is to use the limited information available to make INTELLIGENT CHOICE</a:t>
            </a:r>
            <a:endParaRPr sz="16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0" name="Google Shape;56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560" y="2257834"/>
            <a:ext cx="6400800" cy="4142966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37"/>
          <p:cNvSpPr/>
          <p:nvPr/>
        </p:nvSpPr>
        <p:spPr>
          <a:xfrm>
            <a:off x="6061262" y="2180855"/>
            <a:ext cx="311747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Use formula as follows: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f(n) = g(n) + h(n)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 = actual dist. From n to start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h(n) = no. of tiles in wrong position</a:t>
            </a:r>
            <a:endParaRPr sz="1400" b="0" i="0" u="none" strike="noStrike" cap="none">
              <a:solidFill>
                <a:srgbClr val="3898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232917" y="2720225"/>
            <a:ext cx="833883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 = 1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7"/>
          <p:cNvSpPr/>
          <p:nvPr/>
        </p:nvSpPr>
        <p:spPr>
          <a:xfrm>
            <a:off x="225297" y="3859312"/>
            <a:ext cx="833883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 = 2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245235" y="4844177"/>
            <a:ext cx="833883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 = 3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2469777" y="6266054"/>
            <a:ext cx="590043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h(n)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3717797" y="6272172"/>
            <a:ext cx="590043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f(n)</a:t>
            </a: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72" name="Google Shape;572;p38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73" name="Google Shape;573;p38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23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574" name="Google Shape;574;p38"/>
          <p:cNvSpPr/>
          <p:nvPr/>
        </p:nvSpPr>
        <p:spPr>
          <a:xfrm>
            <a:off x="1066800" y="304800"/>
            <a:ext cx="807327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Activity: Open &amp; Closed states 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8"/>
          <p:cNvSpPr/>
          <p:nvPr/>
        </p:nvSpPr>
        <p:spPr>
          <a:xfrm>
            <a:off x="183776" y="1456351"/>
            <a:ext cx="4007224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tree of 8 puzzle given in the next slide, Give the value of f(n) for each state, based on g(n) and h(n)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Trace using best first search, what will be the lists of open and closed states? Complete the lists below until successfully achieving the goal.</a:t>
            </a:r>
            <a:endParaRPr sz="16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6" name="Google Shape;57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5033" y="1453839"/>
            <a:ext cx="4536567" cy="5023902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8"/>
          <p:cNvSpPr/>
          <p:nvPr/>
        </p:nvSpPr>
        <p:spPr>
          <a:xfrm>
            <a:off x="457200" y="2429418"/>
            <a:ext cx="3733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f(n) = g(n) + h(n)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g(n) = actual dist. from n to start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898B2"/>
                </a:solidFill>
                <a:latin typeface="Arial"/>
                <a:ea typeface="Arial"/>
                <a:cs typeface="Arial"/>
                <a:sym typeface="Arial"/>
              </a:rPr>
              <a:t>h(n) = no. of tiles in wrong position</a:t>
            </a:r>
            <a:endParaRPr sz="1800" b="0" i="0" u="none" strike="noStrike" cap="none">
              <a:solidFill>
                <a:srgbClr val="3898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8" name="Google Shape;578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236" y="4509592"/>
            <a:ext cx="367665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0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2019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95" name="Google Shape;595;p4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596" name="Google Shape;596;p4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24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597" name="Google Shape;597;p40"/>
          <p:cNvSpPr/>
          <p:nvPr/>
        </p:nvSpPr>
        <p:spPr>
          <a:xfrm>
            <a:off x="1066800" y="304800"/>
            <a:ext cx="807327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Activity: Evaluate f(n)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0"/>
          <p:cNvSpPr/>
          <p:nvPr/>
        </p:nvSpPr>
        <p:spPr>
          <a:xfrm>
            <a:off x="5334000" y="1600569"/>
            <a:ext cx="35052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and closed as they appear after the third iteration of heuristic search.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why from the current state e5, this algorithm moves to f5 but not i7 in the next step.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9" name="Google Shape;59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447801"/>
            <a:ext cx="4947558" cy="4958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1642</Words>
  <Application>Microsoft Office PowerPoint</Application>
  <PresentationFormat>On-screen Show (4:3)</PresentationFormat>
  <Paragraphs>236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Noto Sans Symbols</vt:lpstr>
      <vt:lpstr>Libre Baskerville</vt:lpstr>
      <vt:lpstr>Calibri</vt:lpstr>
      <vt:lpstr>Arial</vt:lpstr>
      <vt:lpstr>Roboto</vt:lpstr>
      <vt:lpstr>Office Theme</vt:lpstr>
      <vt:lpstr>Custom Design</vt:lpstr>
      <vt:lpstr>Heuristic Search Algorithm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Referee</dc:creator>
  <cp:lastModifiedBy>Norsham Idris</cp:lastModifiedBy>
  <cp:revision>6</cp:revision>
  <dcterms:created xsi:type="dcterms:W3CDTF">2012-07-30T02:22:03Z</dcterms:created>
  <dcterms:modified xsi:type="dcterms:W3CDTF">2025-11-13T02:28:26Z</dcterms:modified>
</cp:coreProperties>
</file>