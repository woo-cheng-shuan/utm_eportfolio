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9144000" cy="6858000"/>
  <p:embeddedFontLst>
    <p:embeddedFont>
      <p:font typeface="Noto Sans Symbols" panose="020B0604020202020204" charset="0"/>
      <p:regular r:id="rId51"/>
      <p:bold r:id="rId52"/>
    </p:embeddedFont>
    <p:embeddedFont>
      <p:font typeface="Trebuchet MS" panose="020B0603020202020204" pitchFamily="34" charset="0"/>
      <p:regular r:id="rId53"/>
      <p:bold r:id="rId54"/>
      <p:italic r:id="rId55"/>
      <p:boldItalic r:id="rId56"/>
    </p:embeddedFont>
    <p:embeddedFont>
      <p:font typeface="Verdana" panose="020B0604030504040204" pitchFamily="3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h7gezbgtz3wKi2D7BFxWROpoco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9C6F4A-EF71-4EAB-88E7-E445D911B8B6}">
  <a:tblStyle styleId="{179C6F4A-EF71-4EAB-88E7-E445D911B8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494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61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" name="Google Shape;2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0" name="Google Shape;2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2" name="Google Shape;2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3" name="Google Shape;2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7" name="Google Shape;28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9" name="Google Shape;3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0" name="Google Shape;32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9" name="Google Shape;32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1" name="Google Shape;35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6" name="Google Shape;36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7" name="Google Shape;37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0" name="Google Shape;39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4" name="Google Shape;40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5" name="Google Shape;41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6" name="Google Shape;42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0" name="Google Shape;44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1" name="Google Shape;45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4" name="Google Shape;46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8" name="Google Shape;47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1" name="Google Shape;49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2" name="Google Shape;50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3" name="Google Shape;51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7" name="Google Shape;52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8" name="Google Shape;53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9" name="Google Shape;54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0" name="Google Shape;56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1" name="Google Shape;57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2" name="Google Shape;58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3" name="Google Shape;59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0"/>
          <p:cNvSpPr/>
          <p:nvPr/>
        </p:nvSpPr>
        <p:spPr>
          <a:xfrm>
            <a:off x="558800" y="2625788"/>
            <a:ext cx="322580" cy="474980"/>
          </a:xfrm>
          <a:custGeom>
            <a:avLst/>
            <a:gdLst/>
            <a:ahLst/>
            <a:cxnLst/>
            <a:rect l="l" t="t" r="r" b="b"/>
            <a:pathLst>
              <a:path w="322580" h="474980" extrusionOk="0">
                <a:moveTo>
                  <a:pt x="0" y="474662"/>
                </a:moveTo>
                <a:lnTo>
                  <a:pt x="322262" y="474662"/>
                </a:lnTo>
                <a:lnTo>
                  <a:pt x="322262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50"/>
          <p:cNvSpPr/>
          <p:nvPr/>
        </p:nvSpPr>
        <p:spPr>
          <a:xfrm>
            <a:off x="825500" y="2625788"/>
            <a:ext cx="328612" cy="47466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0"/>
          <p:cNvSpPr/>
          <p:nvPr/>
        </p:nvSpPr>
        <p:spPr>
          <a:xfrm>
            <a:off x="566737" y="3048063"/>
            <a:ext cx="422275" cy="474980"/>
          </a:xfrm>
          <a:custGeom>
            <a:avLst/>
            <a:gdLst/>
            <a:ahLst/>
            <a:cxnLst/>
            <a:rect l="l" t="t" r="r" b="b"/>
            <a:pathLst>
              <a:path w="422275" h="474979" extrusionOk="0">
                <a:moveTo>
                  <a:pt x="0" y="474662"/>
                </a:moveTo>
                <a:lnTo>
                  <a:pt x="422275" y="474662"/>
                </a:lnTo>
                <a:lnTo>
                  <a:pt x="422275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0"/>
          <p:cNvSpPr txBox="1">
            <a:spLocks noGrp="1"/>
          </p:cNvSpPr>
          <p:nvPr>
            <p:ph type="title"/>
          </p:nvPr>
        </p:nvSpPr>
        <p:spPr>
          <a:xfrm>
            <a:off x="404495" y="432308"/>
            <a:ext cx="8335009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0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4460" marR="0" lvl="0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4460" marR="0" lvl="1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60" marR="0" lvl="2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4460" marR="0" lvl="3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4460" marR="0" lvl="4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4460" marR="0" lvl="5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4460" marR="0" lvl="6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4460" marR="0" lvl="7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4460" marR="0" lvl="8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44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1"/>
          <p:cNvSpPr txBox="1">
            <a:spLocks noGrp="1"/>
          </p:cNvSpPr>
          <p:nvPr>
            <p:ph type="title"/>
          </p:nvPr>
        </p:nvSpPr>
        <p:spPr>
          <a:xfrm>
            <a:off x="404495" y="432308"/>
            <a:ext cx="8335009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1"/>
          <p:cNvSpPr txBox="1">
            <a:spLocks noGrp="1"/>
          </p:cNvSpPr>
          <p:nvPr>
            <p:ph type="body" idx="1"/>
          </p:nvPr>
        </p:nvSpPr>
        <p:spPr>
          <a:xfrm>
            <a:off x="459740" y="1316440"/>
            <a:ext cx="6809105" cy="144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1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4460" marR="0" lvl="0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4460" marR="0" lvl="1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60" marR="0" lvl="2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4460" marR="0" lvl="3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4460" marR="0" lvl="4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4460" marR="0" lvl="5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4460" marR="0" lvl="6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4460" marR="0" lvl="7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4460" marR="0" lvl="8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44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2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2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4460" marR="0" lvl="0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4460" marR="0" lvl="1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60" marR="0" lvl="2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4460" marR="0" lvl="3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4460" marR="0" lvl="4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4460" marR="0" lvl="5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4460" marR="0" lvl="6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4460" marR="0" lvl="7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4460" marR="0" lvl="8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44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3"/>
          <p:cNvSpPr txBox="1">
            <a:spLocks noGrp="1"/>
          </p:cNvSpPr>
          <p:nvPr>
            <p:ph type="title"/>
          </p:nvPr>
        </p:nvSpPr>
        <p:spPr>
          <a:xfrm>
            <a:off x="404495" y="432308"/>
            <a:ext cx="8335009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3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4460" marR="0" lvl="0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4460" marR="0" lvl="1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60" marR="0" lvl="2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4460" marR="0" lvl="3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4460" marR="0" lvl="4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4460" marR="0" lvl="5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4460" marR="0" lvl="6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4460" marR="0" lvl="7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4460" marR="0" lvl="8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44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4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4460" marR="0" lvl="0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4460" marR="0" lvl="1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60" marR="0" lvl="2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4460" marR="0" lvl="3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4460" marR="0" lvl="4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4460" marR="0" lvl="5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4460" marR="0" lvl="6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4460" marR="0" lvl="7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4460" marR="0" lvl="8" indent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44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/>
          <p:nvPr/>
        </p:nvSpPr>
        <p:spPr>
          <a:xfrm>
            <a:off x="533400" y="260413"/>
            <a:ext cx="322580" cy="474980"/>
          </a:xfrm>
          <a:custGeom>
            <a:avLst/>
            <a:gdLst/>
            <a:ahLst/>
            <a:cxnLst/>
            <a:rect l="l" t="t" r="r" b="b"/>
            <a:pathLst>
              <a:path w="322580" h="474980" extrusionOk="0">
                <a:moveTo>
                  <a:pt x="0" y="474662"/>
                </a:moveTo>
                <a:lnTo>
                  <a:pt x="322262" y="474662"/>
                </a:lnTo>
                <a:lnTo>
                  <a:pt x="322262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49"/>
          <p:cNvSpPr/>
          <p:nvPr/>
        </p:nvSpPr>
        <p:spPr>
          <a:xfrm>
            <a:off x="800100" y="260413"/>
            <a:ext cx="328612" cy="47466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49"/>
          <p:cNvSpPr/>
          <p:nvPr/>
        </p:nvSpPr>
        <p:spPr>
          <a:xfrm>
            <a:off x="541337" y="682688"/>
            <a:ext cx="422275" cy="474980"/>
          </a:xfrm>
          <a:custGeom>
            <a:avLst/>
            <a:gdLst/>
            <a:ahLst/>
            <a:cxnLst/>
            <a:rect l="l" t="t" r="r" b="b"/>
            <a:pathLst>
              <a:path w="422275" h="474980" extrusionOk="0">
                <a:moveTo>
                  <a:pt x="0" y="474662"/>
                </a:moveTo>
                <a:lnTo>
                  <a:pt x="422275" y="474662"/>
                </a:lnTo>
                <a:lnTo>
                  <a:pt x="422275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49"/>
          <p:cNvSpPr txBox="1">
            <a:spLocks noGrp="1"/>
          </p:cNvSpPr>
          <p:nvPr>
            <p:ph type="title"/>
          </p:nvPr>
        </p:nvSpPr>
        <p:spPr>
          <a:xfrm>
            <a:off x="404495" y="432308"/>
            <a:ext cx="8335009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9"/>
          <p:cNvSpPr txBox="1">
            <a:spLocks noGrp="1"/>
          </p:cNvSpPr>
          <p:nvPr>
            <p:ph type="body" idx="1"/>
          </p:nvPr>
        </p:nvSpPr>
        <p:spPr>
          <a:xfrm>
            <a:off x="459740" y="1316440"/>
            <a:ext cx="6809105" cy="144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9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4460" marR="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4460" marR="0" lvl="1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60" marR="0" lvl="2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4460" marR="0" lvl="3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4460" marR="0" lvl="4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4460" marR="0" lvl="5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4460" marR="0" lvl="6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4460" marR="0" lvl="7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4460" marR="0" lvl="8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446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936625" y="30480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152400" y="2974975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803275" y="2438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29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315912" y="3265488"/>
            <a:ext cx="8683625" cy="4603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 txBox="1">
            <a:spLocks noGrp="1"/>
          </p:cNvSpPr>
          <p:nvPr>
            <p:ph type="title"/>
          </p:nvPr>
        </p:nvSpPr>
        <p:spPr>
          <a:xfrm>
            <a:off x="2351314" y="2591307"/>
            <a:ext cx="5355769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dirty="0"/>
              <a:t>More on Logics &amp; Proof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296037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What is logic?</a:t>
            </a:r>
            <a:endParaRPr sz="4000"/>
          </a:p>
        </p:txBody>
      </p:sp>
      <p:sp>
        <p:nvSpPr>
          <p:cNvPr id="63" name="Google Shape;63;p2"/>
          <p:cNvSpPr txBox="1"/>
          <p:nvPr/>
        </p:nvSpPr>
        <p:spPr>
          <a:xfrm>
            <a:off x="8939783" y="6598973"/>
            <a:ext cx="12446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459740" y="1350010"/>
            <a:ext cx="8346440" cy="4446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is an “algebra” for manipulating only two values: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true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false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F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Nevertheless, logic can be quite challenging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topic will cover: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Propositional logic--the simplest kind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508634" lvl="1" indent="-285750" algn="l" rtl="0">
              <a:lnSpc>
                <a:spcPct val="107916"/>
              </a:lnSpc>
              <a:spcBef>
                <a:spcPts val="61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Predicate logic (a.k.a. predicate calculus)--an extension of  propositional logic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54610" lvl="1" indent="-285750" algn="l" rtl="0">
              <a:lnSpc>
                <a:spcPct val="107916"/>
              </a:lnSpc>
              <a:spcBef>
                <a:spcPts val="58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 theory--a general way of doing proofs in predicate  logic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Possibly: Conversion to clause form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Possibly: Other logics (just to make you aware that they exist)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936625" y="30480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52400" y="2974975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03275" y="2438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29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15912" y="3265488"/>
            <a:ext cx="8683625" cy="4603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 txBox="1">
            <a:spLocks noGrp="1"/>
          </p:cNvSpPr>
          <p:nvPr>
            <p:ph type="title"/>
          </p:nvPr>
        </p:nvSpPr>
        <p:spPr>
          <a:xfrm>
            <a:off x="2708401" y="2591307"/>
            <a:ext cx="387921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Propositional logic</a:t>
            </a:r>
            <a:endParaRPr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387921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Propositional logic</a:t>
            </a:r>
            <a:endParaRPr sz="4000"/>
          </a:p>
        </p:txBody>
      </p:sp>
      <p:sp>
        <p:nvSpPr>
          <p:cNvPr id="83" name="Google Shape;83;p4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446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4" name="Google Shape;84;p4"/>
          <p:cNvSpPr txBox="1"/>
          <p:nvPr/>
        </p:nvSpPr>
        <p:spPr>
          <a:xfrm>
            <a:off x="459740" y="1304963"/>
            <a:ext cx="8090534" cy="362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3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Propositional logic consists of: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values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true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false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F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Propositions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“Sentences,” which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5080" lvl="2" indent="-22860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atomic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(that is, they must be treated as indivisible units, with no  internal structure), and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a single logical value, either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true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false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281305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Operators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both unary and binary; when applied to logical  values, yield logical values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usual operators are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and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or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not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implies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482409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Useful binary operators</a:t>
            </a:r>
            <a:endParaRPr sz="4000"/>
          </a:p>
        </p:txBody>
      </p:sp>
      <p:sp>
        <p:nvSpPr>
          <p:cNvPr id="94" name="Google Shape;94;p5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446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459740" y="1394205"/>
            <a:ext cx="718058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are the binary operators that are traditionally used: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383540" y="5017008"/>
            <a:ext cx="7936865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Notice in particular that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 implication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only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approximately means the same as the English word “implies”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8333"/>
              </a:lnSpc>
              <a:spcBef>
                <a:spcPts val="60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other operators can be constructed from a combination  of these (along with unary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not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1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¬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7" name="Google Shape;97;p5"/>
          <p:cNvGraphicFramePr/>
          <p:nvPr/>
        </p:nvGraphicFramePr>
        <p:xfrm>
          <a:off x="1433512" y="1966912"/>
          <a:ext cx="6783675" cy="2724150"/>
        </p:xfrm>
        <a:graphic>
          <a:graphicData uri="http://schemas.openxmlformats.org/drawingml/2006/table">
            <a:tbl>
              <a:tblPr firstRow="1" bandRow="1">
                <a:noFill/>
                <a:tableStyleId>{179C6F4A-EF71-4EAB-88E7-E445D911B8B6}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2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95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50"/>
                        <a:buFont typeface="Arial"/>
                        <a:buNone/>
                      </a:pPr>
                      <a:endParaRPr sz="32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50"/>
                        <a:buFont typeface="Arial"/>
                        <a:buNone/>
                      </a:pPr>
                      <a:endParaRPr sz="32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AND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∧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OR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marL="27305" marR="0" lvl="0" indent="0" algn="ctr" rtl="0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∨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IMPLIES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marL="26669" marR="0" lvl="0" indent="0" algn="ctr" rtl="0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⇒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47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BICONDITIONAL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marL="25400" marR="0" lvl="0" indent="0" algn="ct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⇔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409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73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66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47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75">
                <a:tc>
                  <a:txBody>
                    <a:bodyPr/>
                    <a:lstStyle/>
                    <a:p>
                      <a:pPr marL="1409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73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66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47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49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73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66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47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49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73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66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47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407606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Logical expressions</a:t>
            </a:r>
            <a:endParaRPr sz="4000"/>
          </a:p>
        </p:txBody>
      </p:sp>
      <p:sp>
        <p:nvSpPr>
          <p:cNvPr id="107" name="Google Shape;107;p6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446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459740" y="1394205"/>
            <a:ext cx="8234680" cy="119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logical expressions can be computed with some combination  of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and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not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operators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logical implication can be computed this way: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459740" y="5358383"/>
            <a:ext cx="557276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Notice that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equivalent to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10" name="Google Shape;110;p6"/>
          <p:cNvGraphicFramePr/>
          <p:nvPr/>
        </p:nvGraphicFramePr>
        <p:xfrm>
          <a:off x="1509712" y="2736786"/>
          <a:ext cx="3962400" cy="2286000"/>
        </p:xfrm>
        <a:graphic>
          <a:graphicData uri="http://schemas.openxmlformats.org/drawingml/2006/table">
            <a:tbl>
              <a:tblPr firstRow="1" bandRow="1">
                <a:noFill/>
                <a:tableStyleId>{179C6F4A-EF71-4EAB-88E7-E445D911B8B6}</a:tableStyleId>
              </a:tblPr>
              <a:tblGrid>
                <a:gridCol w="42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¬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¬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∨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⇒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354012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Another example</a:t>
            </a:r>
            <a:endParaRPr sz="4000"/>
          </a:p>
        </p:txBody>
      </p:sp>
      <p:sp>
        <p:nvSpPr>
          <p:cNvPr id="120" name="Google Shape;120;p7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446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459740" y="1394967"/>
            <a:ext cx="787273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Exclusive or 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xor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true if exactly one of its operands is true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459740" y="4977383"/>
            <a:ext cx="690435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Notice that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Y)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(X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Y)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equivalent to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xor Y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23" name="Google Shape;123;p7"/>
          <p:cNvGraphicFramePr/>
          <p:nvPr/>
        </p:nvGraphicFramePr>
        <p:xfrm>
          <a:off x="747712" y="2195512"/>
          <a:ext cx="8001000" cy="2286000"/>
        </p:xfrm>
        <a:graphic>
          <a:graphicData uri="http://schemas.openxmlformats.org/drawingml/2006/table">
            <a:tbl>
              <a:tblPr firstRow="1" bandRow="1">
                <a:noFill/>
                <a:tableStyleId>{179C6F4A-EF71-4EAB-88E7-E445D911B8B6}</a:tableStyleId>
              </a:tblPr>
              <a:tblGrid>
                <a:gridCol w="42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054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¬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¬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¬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∧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∧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¬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¬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∧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Y)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∨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(X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∧¬</a:t>
                      </a: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Y)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 xor Y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79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20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33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  <a:endParaRPr sz="24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152209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Worlds</a:t>
            </a:r>
            <a:endParaRPr sz="4000"/>
          </a:p>
        </p:txBody>
      </p:sp>
      <p:sp>
        <p:nvSpPr>
          <p:cNvPr id="133" name="Google Shape;133;p8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446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4" name="Google Shape;134;p8"/>
          <p:cNvSpPr txBox="1"/>
          <p:nvPr/>
        </p:nvSpPr>
        <p:spPr>
          <a:xfrm>
            <a:off x="459740" y="1392681"/>
            <a:ext cx="8088630" cy="4427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61976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collection of prepositions and logical  expressions relating those prepositions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Propositions: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JohnLovesMary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MaryIsFemale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MaryIsRich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Expressions: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MaryIsFemale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MaryIsRich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JohnLovesMary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224790" lvl="0" indent="-342900" algn="l" rtl="0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proposition “says something” about the world, but  since it is atomic (you can’t look inside it to see  component parts), propositions tend to be very  specialized and inflexible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155003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Models</a:t>
            </a:r>
            <a:endParaRPr sz="4000"/>
          </a:p>
        </p:txBody>
      </p:sp>
      <p:sp>
        <p:nvSpPr>
          <p:cNvPr id="144" name="Google Shape;144;p9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446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45" name="Google Shape;145;p9"/>
          <p:cNvSpPr txBox="1"/>
          <p:nvPr/>
        </p:nvSpPr>
        <p:spPr>
          <a:xfrm>
            <a:off x="560523" y="1031875"/>
            <a:ext cx="8015605" cy="49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an assignment of a truth value to each proposition, for  example: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0" indent="-28575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JohnLovesMary</a:t>
            </a:r>
            <a:r>
              <a:rPr lang="en-US" sz="20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: 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MaryIsFemale</a:t>
            </a:r>
            <a:r>
              <a:rPr lang="en-US" sz="20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: 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MaryIsRich</a:t>
            </a:r>
            <a:r>
              <a:rPr lang="en-US" sz="20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: F</a:t>
            </a:r>
            <a:endParaRPr sz="20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335915" lvl="0" indent="-342900" algn="l" rtl="0">
              <a:lnSpc>
                <a:spcPct val="108333"/>
              </a:lnSpc>
              <a:spcBef>
                <a:spcPts val="59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expression is 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satisfiable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a model for which the  expression is 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true</a:t>
            </a:r>
            <a:endParaRPr sz="24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12750"/>
              </a:lnSpc>
              <a:spcBef>
                <a:spcPts val="204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the above model satisfies the expression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0" indent="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MaryIsFemale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MaryIsRich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JohnLovesMary</a:t>
            </a:r>
            <a:endParaRPr sz="24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expression is 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it is satisfied by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14166"/>
              </a:lnSpc>
              <a:spcBef>
                <a:spcPts val="29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expression is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valid: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87780" marR="0" lvl="0" indent="0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MaryIsFemale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MaryIsRich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JohnLovesMary</a:t>
            </a:r>
            <a:endParaRPr sz="24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it is not satisfied by this model: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4755" marR="0" lvl="0" indent="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JohnLovesMary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: F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MaryIsFemale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: T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MaryIsRich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: T</a:t>
            </a:r>
            <a:endParaRPr sz="24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14166"/>
              </a:lnSpc>
              <a:spcBef>
                <a:spcPts val="284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this expression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valid: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87780" marR="0" lvl="0" indent="0" algn="l" rtl="0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MaryIsFemale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MaryIsRich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 dirty="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MaryIsFemale</a:t>
            </a:r>
            <a:endParaRPr sz="24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 txBox="1"/>
          <p:nvPr/>
        </p:nvSpPr>
        <p:spPr>
          <a:xfrm>
            <a:off x="8840723" y="6582156"/>
            <a:ext cx="2235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753554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Inference rules in propositional logic</a:t>
            </a:r>
            <a:endParaRPr sz="4000"/>
          </a:p>
        </p:txBody>
      </p:sp>
      <p:sp>
        <p:nvSpPr>
          <p:cNvPr id="156" name="Google Shape;156;p10"/>
          <p:cNvSpPr txBox="1"/>
          <p:nvPr/>
        </p:nvSpPr>
        <p:spPr>
          <a:xfrm>
            <a:off x="459740" y="1392681"/>
            <a:ext cx="7678420" cy="8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are just a few of the rules you can apply when  reasoning in propositional logic: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123449" y="2504652"/>
            <a:ext cx="7029950" cy="368054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2593594" y="6505956"/>
            <a:ext cx="329374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aima.eecs.berkeley.edu/slides-ppt, chs 7-9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480949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Implication elimination</a:t>
            </a:r>
            <a:endParaRPr sz="4000"/>
          </a:p>
        </p:txBody>
      </p:sp>
      <p:sp>
        <p:nvSpPr>
          <p:cNvPr id="168" name="Google Shape;168;p11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459740" y="1392681"/>
            <a:ext cx="8380095" cy="259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particularly important rule allows you to get rid of the  implication operator, </a:t>
            </a:r>
            <a:r>
              <a:rPr lang="en-US" sz="36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36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BE00FF"/>
              </a:buClr>
              <a:buSzPts val="1950"/>
              <a:buFont typeface="Noto Sans Symbols"/>
              <a:buChar char="■"/>
            </a:pPr>
            <a:r>
              <a:rPr lang="en-US" sz="36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36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36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	</a:t>
            </a:r>
            <a:r>
              <a:rPr lang="en-US" sz="36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36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36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36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36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36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endParaRPr sz="36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1312545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will use this later on as a necessary tool for  simplifying logical expressions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459740" y="4085590"/>
            <a:ext cx="260159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symbol	</a:t>
            </a:r>
            <a:r>
              <a:rPr lang="en-US" sz="4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endParaRPr sz="40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3341115" y="4237990"/>
            <a:ext cx="4836160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means “is logically equivalent to”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497840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Conjunction elimination</a:t>
            </a:r>
            <a:endParaRPr sz="4000"/>
          </a:p>
        </p:txBody>
      </p:sp>
      <p:sp>
        <p:nvSpPr>
          <p:cNvPr id="181" name="Google Shape;181;p12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82" name="Google Shape;182;p12"/>
          <p:cNvSpPr txBox="1"/>
          <p:nvPr/>
        </p:nvSpPr>
        <p:spPr>
          <a:xfrm>
            <a:off x="459740" y="1350010"/>
            <a:ext cx="8411845" cy="444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55600" marR="704850" lvl="0" indent="-342900" algn="l" rtl="0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important rule for simplifying logical  expressions allows you to get rid of the conjunction  (</a:t>
            </a: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operator, </a:t>
            </a:r>
            <a:r>
              <a:rPr lang="en-US" sz="36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36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7857"/>
              </a:lnSpc>
              <a:spcBef>
                <a:spcPts val="68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rule simply says that if you have an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at  the top level of a fact (logical expression), you can  break the expression up into two separate facts: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BE00FF"/>
              </a:buClr>
              <a:buSzPts val="15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MaryIsFemale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MaryIsRich</a:t>
            </a:r>
            <a:endParaRPr sz="2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73D9"/>
              </a:buClr>
              <a:buSzPts val="140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becomes: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>
                <a:srgbClr val="BE00FF"/>
              </a:buClr>
              <a:buSzPts val="15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MaryIsFemale</a:t>
            </a:r>
            <a:endParaRPr sz="2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BE00FF"/>
              </a:buClr>
              <a:buSzPts val="15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MaryIsRich</a:t>
            </a:r>
            <a:endParaRPr sz="2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462597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Inference by computer</a:t>
            </a:r>
            <a:endParaRPr sz="4000"/>
          </a:p>
        </p:txBody>
      </p:sp>
      <p:sp>
        <p:nvSpPr>
          <p:cNvPr id="192" name="Google Shape;192;p13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93" name="Google Shape;193;p13"/>
          <p:cNvSpPr txBox="1"/>
          <p:nvPr/>
        </p:nvSpPr>
        <p:spPr>
          <a:xfrm>
            <a:off x="459740" y="1357629"/>
            <a:ext cx="7903209" cy="4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do inference (reasoning) by computer is basically a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process, taking logical expressions and applying inference  rules to them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logical expressions to use?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inference rules to apply?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Usually you are trying to “prove” some particular statement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it_is_raining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it_is_sunny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it_is_sunny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it_is_rainy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I_take_umbrella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I_take_umbrella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prove: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4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681291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Forward and backward reasoning</a:t>
            </a:r>
            <a:endParaRPr sz="4000"/>
          </a:p>
        </p:txBody>
      </p:sp>
      <p:sp>
        <p:nvSpPr>
          <p:cNvPr id="203" name="Google Shape;203;p14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459740" y="1350010"/>
            <a:ext cx="8347709" cy="466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75" rIns="0" bIns="0" anchor="t" anchorCtr="0">
            <a:spAutoFit/>
          </a:bodyPr>
          <a:lstStyle/>
          <a:p>
            <a:pPr marL="355600" marR="96520" lvl="0" indent="-3429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Situation: You have a collection of logical expressions  (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premises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and you are trying to prove some additional  logical expression (the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5080" lvl="1" indent="-285750" algn="l" rtl="0">
              <a:lnSpc>
                <a:spcPct val="107916"/>
              </a:lnSpc>
              <a:spcBef>
                <a:spcPts val="62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reasoning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Start applying inference rules to the  logical expressions you have, and stop if one of your results is  the conclusion you want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145415" lvl="1" indent="-285750" algn="just" rtl="0">
              <a:lnSpc>
                <a:spcPct val="107916"/>
              </a:lnSpc>
              <a:spcBef>
                <a:spcPts val="58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backward reasoning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Start from the conclusion you want,  and try to choose inference rules that will get you back to the  logical expressions you have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863600" lvl="0" indent="-342900" algn="l" rtl="0">
              <a:lnSpc>
                <a:spcPct val="107857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the tools we have discussed so far, </a:t>
            </a:r>
            <a:r>
              <a:rPr lang="en-US" sz="28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neither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 feasible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5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183261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Example</a:t>
            </a:r>
            <a:endParaRPr sz="4000"/>
          </a:p>
        </p:txBody>
      </p:sp>
      <p:sp>
        <p:nvSpPr>
          <p:cNvPr id="214" name="Google Shape;214;p15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459740" y="1304073"/>
            <a:ext cx="8118475" cy="4566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it_is_raining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it_is_sunny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it_is_sunny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it_is_raining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I_take_umbrella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I_take_umbrella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conclude: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7089" marR="0" lvl="1" indent="-37718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it_is_sunny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it_is_raining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7089" marR="0" lvl="1" indent="-377189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I_take_umbrella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it_is_sunny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7089" marR="0" lvl="1" indent="-377189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I_take_umbrella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Etc., etc. ... there are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 too many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you can conclude!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/>
          <p:nvPr/>
        </p:nvSpPr>
        <p:spPr>
          <a:xfrm>
            <a:off x="936625" y="30480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152400" y="2974975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803275" y="2438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29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315912" y="3265488"/>
            <a:ext cx="8683625" cy="4603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6"/>
          <p:cNvSpPr txBox="1">
            <a:spLocks noGrp="1"/>
          </p:cNvSpPr>
          <p:nvPr>
            <p:ph type="title"/>
          </p:nvPr>
        </p:nvSpPr>
        <p:spPr>
          <a:xfrm>
            <a:off x="2737357" y="2591307"/>
            <a:ext cx="382079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Predicate Calculus</a:t>
            </a:r>
            <a:endParaRPr sz="4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7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3707129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Predicate calculus</a:t>
            </a:r>
            <a:endParaRPr sz="4000"/>
          </a:p>
        </p:txBody>
      </p:sp>
      <p:sp>
        <p:nvSpPr>
          <p:cNvPr id="234" name="Google Shape;234;p17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459740" y="1392681"/>
            <a:ext cx="8262620" cy="219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Predicate calculus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also known as “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Order Logic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 (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Predicate calculus includes: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of propositional logic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values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true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false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916939" y="3565662"/>
            <a:ext cx="1967864" cy="251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275" rIns="0" bIns="0" anchor="t" anchorCtr="0">
            <a:spAutoFit/>
          </a:bodyPr>
          <a:lstStyle/>
          <a:p>
            <a:pPr marL="6985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8500" marR="0" lvl="0" indent="-22860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Connectives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Predicates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Quantifiers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3203194" y="3565662"/>
            <a:ext cx="3266440" cy="251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2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b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,...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⇔</a:t>
            </a:r>
            <a:endParaRPr sz="20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12700" marR="5080" lvl="0" indent="0" algn="l" rtl="0">
              <a:lnSpc>
                <a:spcPct val="144166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KingJohn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Villanova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,... 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Brother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&gt;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,...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Sqrt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MotherOf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,...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endParaRPr sz="24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735012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Constants, functions, and predicates</a:t>
            </a:r>
            <a:endParaRPr sz="4000"/>
          </a:p>
        </p:txBody>
      </p:sp>
      <p:sp>
        <p:nvSpPr>
          <p:cNvPr id="247" name="Google Shape;247;p18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459740" y="1392681"/>
            <a:ext cx="8348980" cy="438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399415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a “thing”--it has no truth value,  and it does not occur “bare” in a logical expression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DavidMatuszek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Earth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goodIdea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417830" lvl="0" indent="-34290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zero or more arguments, a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a  constant as its value: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1192530" lvl="1" indent="-285750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motherOf(DavidMatuszek)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add(2, 2)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thisPlanet()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predicate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like a function, but produces a truth value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1866264" lvl="1" indent="-285750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greatInstructor(DavidMatuszek)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isPlanet(Earth)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greater(3, add(2, 2))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9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494982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Universal quantification</a:t>
            </a:r>
            <a:endParaRPr sz="4000"/>
          </a:p>
        </p:txBody>
      </p:sp>
      <p:sp>
        <p:nvSpPr>
          <p:cNvPr id="258" name="Google Shape;258;p19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459750" y="1392675"/>
            <a:ext cx="8076000" cy="48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844550" lvl="0" indent="-3549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universal quantifier,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is read as “for each”  or “for every”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225425" lvl="1" indent="-285750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x</a:t>
            </a:r>
            <a:r>
              <a:rPr lang="en-US" sz="1950" b="0" i="0" u="none" strike="noStrike" cap="none" baseline="30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2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0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(for all x, x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greater than or equal to  zero)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marR="0" lvl="0" indent="-354965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Typically,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main connective with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at(x,Villanova)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smart(x)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means “Everyone at Villanova is smart”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marR="0" lvl="0" indent="-3549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mistake: using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main connective with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at(x,Villanova)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smart(x)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means “Everyone is at Villanova and everyone is smart”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marR="0" lvl="0" indent="-354965" algn="l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are no values satisfying the condition, the result is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true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isPersonFromMars(x)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smart(x)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true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0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514858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Existential quantification</a:t>
            </a:r>
            <a:endParaRPr sz="4000"/>
          </a:p>
        </p:txBody>
      </p:sp>
      <p:sp>
        <p:nvSpPr>
          <p:cNvPr id="269" name="Google Shape;269;p20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459740" y="1392681"/>
            <a:ext cx="7539355" cy="490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106045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existential quantifier,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is read “for some” or  “there exists”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5080" lvl="1" indent="-285750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x</a:t>
            </a:r>
            <a:r>
              <a:rPr lang="en-US" sz="1950" b="0" i="0" u="none" strike="noStrike" cap="none" baseline="30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2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&lt; 0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(there exists an x such that x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less  than zero)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Typically,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main connective with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at(x,Villanova)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smart(x)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means “There is someone who is at Villanova and is smart”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mistake: using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main connective with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at(x,Villanova)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smart(x)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true if there is someone at Villanova who is smart...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...but it is also true if there is someone who is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Villanova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86765" marR="0" lvl="0" indent="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the rules of material implication, the result of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F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1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493839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Properties of quantifiers</a:t>
            </a:r>
            <a:endParaRPr sz="4000"/>
          </a:p>
        </p:txBody>
      </p:sp>
      <p:sp>
        <p:nvSpPr>
          <p:cNvPr id="280" name="Google Shape;280;p21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459740" y="1322578"/>
            <a:ext cx="7284084" cy="3925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same as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same as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73D9"/>
              </a:buClr>
              <a:buSzPts val="2500"/>
              <a:buFont typeface="Noto Sans Symbols"/>
              <a:buNone/>
            </a:pPr>
            <a:endParaRPr sz="2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same as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 Loves(x,y)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“There is a person who loves everyone in the world”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exactly: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 (person(x)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person(y)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Loves(x,y))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Loves(x,y)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“Everyone in the world is loved by at least one person”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BE00FF"/>
              </a:buClr>
              <a:buSzPts val="2450"/>
              <a:buFont typeface="Noto Sans Symbols"/>
              <a:buNone/>
            </a:pPr>
            <a:endParaRPr sz="24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Quantifier duality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each can be expressed using the other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59740" y="5225033"/>
            <a:ext cx="3284854" cy="75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Likes(x,IceCream)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Likes(x,Broccoli)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031994" y="5225033"/>
            <a:ext cx="3326765" cy="75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Likes(x,IceCream)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Likes(x,Broccoli)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2822194" y="6277355"/>
            <a:ext cx="329374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aima.eecs.berkeley.edu/slides-ppt, chs 7-9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242506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Parentheses</a:t>
            </a:r>
            <a:endParaRPr sz="4000"/>
          </a:p>
        </p:txBody>
      </p:sp>
      <p:sp>
        <p:nvSpPr>
          <p:cNvPr id="294" name="Google Shape;294;p22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459740" y="1321054"/>
            <a:ext cx="7496175" cy="438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Parentheses are often used with quantifiers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7916"/>
              </a:lnSpc>
              <a:spcBef>
                <a:spcPts val="61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Unfortunately, everyone uses them differently, so don’t be  upset at any usage you see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7089" marR="0" lvl="1" indent="-377189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x) person(x)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likes(x,iceCream)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7089" marR="0" lvl="1" indent="-377189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x) (person(x)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likes(x,iceCream))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7089" marR="0" lvl="1" indent="-377189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x) [ person(x)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likes(x,iceCream) ]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7089" marR="0" lvl="1" indent="-377189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person(x)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likes(x,iceCream)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7089" marR="0" lvl="1" indent="-377189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(person(x)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likes(x,iceCream))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prefer parentheses that show the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quantifier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22960" marR="0" lvl="1" indent="-3530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E00FF"/>
              </a:buClr>
              <a:buSzPts val="10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(x &gt; 0)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(x &lt; 0)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224155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More rules</a:t>
            </a:r>
            <a:endParaRPr sz="4000"/>
          </a:p>
        </p:txBody>
      </p:sp>
      <p:sp>
        <p:nvSpPr>
          <p:cNvPr id="305" name="Google Shape;305;p23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459740" y="1307642"/>
            <a:ext cx="8242300" cy="479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there are numerous additional rules we can apply!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are two exceptionally important rules: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0580" marR="0" lvl="1" indent="-360680" algn="l" rtl="0">
              <a:lnSpc>
                <a:spcPct val="113958"/>
              </a:lnSpc>
              <a:spcBef>
                <a:spcPts val="31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p(x)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p(x)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259715" lvl="0" indent="0" algn="l" rtl="0">
              <a:lnSpc>
                <a:spcPct val="107916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“If not every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satisfies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p(x)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there exists a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does  not satisfy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p(x)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0580" marR="0" lvl="1" indent="-360680" algn="l" rtl="0">
              <a:lnSpc>
                <a:spcPct val="113958"/>
              </a:lnSpc>
              <a:spcBef>
                <a:spcPts val="26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p(x)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p(x)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219075" lvl="0" indent="0" algn="l" rtl="0">
              <a:lnSpc>
                <a:spcPct val="107916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“If there does not exist an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satisfies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p(x)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all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 not satisfy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p(x)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699770" lvl="0" indent="-342900" algn="l" rtl="0">
              <a:lnSpc>
                <a:spcPct val="107857"/>
              </a:lnSpc>
              <a:spcBef>
                <a:spcPts val="67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any case, the search space is </a:t>
            </a:r>
            <a:r>
              <a:rPr lang="en-US" sz="28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 too large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be  feasible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1127760" lvl="0" indent="-342900" algn="l" rtl="0">
              <a:lnSpc>
                <a:spcPct val="107857"/>
              </a:lnSpc>
              <a:spcBef>
                <a:spcPts val="68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was the case until 1970, when J. Robinson  discovered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4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441388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Interlude: Definitions</a:t>
            </a:r>
            <a:endParaRPr sz="4000"/>
          </a:p>
        </p:txBody>
      </p:sp>
      <p:sp>
        <p:nvSpPr>
          <p:cNvPr id="316" name="Google Shape;316;p24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459740" y="1307642"/>
            <a:ext cx="8209280" cy="437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defines the formal structure of sentences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183515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semantics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determines the truth of sentences wrt (with  respect to) models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9055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entailment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one statement entails another if the truth of  the first means that the second must also be true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deriving sentences from other sentences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soundness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derivations produce only entailed sentences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69723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derivations can produce all entailed  sentences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>
            <a:off x="936625" y="30480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152400" y="2974975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803275" y="2438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29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315912" y="3265488"/>
            <a:ext cx="8683625" cy="4603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5"/>
          <p:cNvSpPr txBox="1">
            <a:spLocks noGrp="1"/>
          </p:cNvSpPr>
          <p:nvPr>
            <p:ph type="title"/>
          </p:nvPr>
        </p:nvSpPr>
        <p:spPr>
          <a:xfrm>
            <a:off x="3533902" y="2591307"/>
            <a:ext cx="222821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Resolution</a:t>
            </a:r>
            <a:endParaRPr sz="4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6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6912609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Logic by computer was infeasible</a:t>
            </a:r>
            <a:endParaRPr sz="4000"/>
          </a:p>
        </p:txBody>
      </p:sp>
      <p:sp>
        <p:nvSpPr>
          <p:cNvPr id="336" name="Google Shape;336;p26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459740" y="1305884"/>
            <a:ext cx="8169275" cy="5052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logic so hard?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start with a large collection of facts (predicates)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99060" lvl="1" indent="-285750" algn="l" rtl="0">
              <a:lnSpc>
                <a:spcPct val="107916"/>
              </a:lnSpc>
              <a:spcBef>
                <a:spcPts val="61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start with a large collection of possible transformations  (rules)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of these rules apply to a single fact to yield a new fact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of these rules apply to a pair of facts to yield a new fact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at every step you must: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some rule to apply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one or two facts to which you might be able to apply the rule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612900" marR="0" lvl="3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3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are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facts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70100" marR="0" lvl="4" indent="-22860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7E00"/>
              </a:buClr>
              <a:buSzPts val="90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</a:t>
            </a:r>
            <a:r>
              <a:rPr lang="en-US" sz="1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ways to apply a single-operand rule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70100" marR="0" lvl="4" indent="-22860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7E00"/>
              </a:buClr>
              <a:buSzPts val="90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</a:t>
            </a:r>
            <a:r>
              <a:rPr lang="en-US" sz="1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n * (n - 1)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ways to apply a two-operand rule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the new fact to your ever-expanding fact base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search space is huge!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7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489331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The magic of resolution</a:t>
            </a:r>
            <a:endParaRPr sz="4000"/>
          </a:p>
        </p:txBody>
      </p:sp>
      <p:sp>
        <p:nvSpPr>
          <p:cNvPr id="347" name="Google Shape;347;p27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459740" y="1305853"/>
            <a:ext cx="8082280" cy="464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67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Here’s how resolution works: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537210" lvl="1" indent="-285750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transform each of your facts into a particular form,  called a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clause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(this is the tricky part)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5080" lvl="1" indent="-28575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apply a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rule,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 principle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to a pair of  clauses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511809" lvl="2" indent="-22860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73D9"/>
              </a:buClr>
              <a:buSzPts val="1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Clauses are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respect to resolution--that is, when you  resolve two clauses, you get a new clause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add the new clause to your fact base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number of facts you have grows linearly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still have to choose a pair of facts to resolve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never have to choose a rule, because there’s only one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8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273304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The fact base</a:t>
            </a:r>
            <a:endParaRPr sz="4000"/>
          </a:p>
        </p:txBody>
      </p:sp>
      <p:sp>
        <p:nvSpPr>
          <p:cNvPr id="358" name="Google Shape;358;p28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459740" y="1394205"/>
            <a:ext cx="7614920" cy="163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fact base is a collection of “facts,” expressed in predicate  calculus, that are presumed to be true (valid)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facts are implicitly “</a:t>
            </a: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ed” together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fact base: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28"/>
          <p:cNvSpPr txBox="1"/>
          <p:nvPr/>
        </p:nvSpPr>
        <p:spPr>
          <a:xfrm>
            <a:off x="4683759" y="3067557"/>
            <a:ext cx="235204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(where X is a variable)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28"/>
          <p:cNvSpPr txBox="1"/>
          <p:nvPr/>
        </p:nvSpPr>
        <p:spPr>
          <a:xfrm>
            <a:off x="4673853" y="3799077"/>
            <a:ext cx="327342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(where X is a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variable)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28"/>
          <p:cNvSpPr txBox="1"/>
          <p:nvPr/>
        </p:nvSpPr>
        <p:spPr>
          <a:xfrm>
            <a:off x="459740" y="3006292"/>
            <a:ext cx="3931920" cy="192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650" rIns="0" bIns="0" anchor="t" anchorCtr="0">
            <a:spAutoFit/>
          </a:bodyPr>
          <a:lstStyle/>
          <a:p>
            <a:pPr marL="7556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seafood(X)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likes(John, 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seafood(shrimp)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pasta(X)	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likes(Mary, 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pasta(spaghetti)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is,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28"/>
          <p:cNvSpPr txBox="1"/>
          <p:nvPr/>
        </p:nvSpPr>
        <p:spPr>
          <a:xfrm>
            <a:off x="916939" y="4970526"/>
            <a:ext cx="6266180" cy="136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(seafood(X)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likes(John, X))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seafood(shrimp)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endParaRPr sz="20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5257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(pasta(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)	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likes(Mary,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))	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pasta(spaghetti)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Notice that we had to change some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to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variable is the single fact in which it occurs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9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252222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Clause form</a:t>
            </a:r>
            <a:endParaRPr sz="4000"/>
          </a:p>
        </p:txBody>
      </p:sp>
      <p:sp>
        <p:nvSpPr>
          <p:cNvPr id="373" name="Google Shape;373;p29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74" name="Google Shape;374;p29"/>
          <p:cNvSpPr txBox="1"/>
          <p:nvPr/>
        </p:nvSpPr>
        <p:spPr>
          <a:xfrm>
            <a:off x="459740" y="1392681"/>
            <a:ext cx="8385809" cy="456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16383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clause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disjunction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") of zero or more literals,  some or all of which may be negated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sinks(X)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dissolves(X, water)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¬denser(X, water)</a:t>
            </a:r>
            <a:endParaRPr sz="2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Notice that clauses use only “or” and “not”—they do  not use “and,” “implies,” or either of the quantifiers “for  all” or “there exists”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1009650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impressive part is that </a:t>
            </a:r>
            <a:r>
              <a:rPr lang="en-US" sz="28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predicate calculus  expression can be put into clause form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Existential quantifiers,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are the trickiest ones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0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0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234061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Unification</a:t>
            </a:r>
            <a:endParaRPr sz="4000"/>
          </a:p>
        </p:txBody>
      </p:sp>
      <p:sp>
        <p:nvSpPr>
          <p:cNvPr id="384" name="Google Shape;384;p30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459740" y="1357629"/>
            <a:ext cx="640588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pair of facts (not yet clauses, just facts):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30"/>
          <p:cNvSpPr txBox="1"/>
          <p:nvPr/>
        </p:nvSpPr>
        <p:spPr>
          <a:xfrm>
            <a:off x="4683759" y="1756918"/>
            <a:ext cx="235204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(where X is a variable)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30"/>
          <p:cNvSpPr txBox="1"/>
          <p:nvPr/>
        </p:nvSpPr>
        <p:spPr>
          <a:xfrm>
            <a:off x="459740" y="1726133"/>
            <a:ext cx="7613650" cy="396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175" rIns="0" bIns="0" anchor="t" anchorCtr="0">
            <a:spAutoFit/>
          </a:bodyPr>
          <a:lstStyle/>
          <a:p>
            <a:pPr marL="7556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seafood(X)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likes(John, 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0" indent="-2857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seafood(shrimp)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ought to be able to conclude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likes(John, shrimp)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14166"/>
              </a:lnSpc>
              <a:spcBef>
                <a:spcPts val="27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do this by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unifying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variable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the constant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shrimp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“unification” as is done in Prolog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14166"/>
              </a:lnSpc>
              <a:spcBef>
                <a:spcPts val="28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unification turns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seafood(X)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likes(John, X)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seafood(shrimp)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likes(John, shrimp)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346075" lvl="0" indent="-342900" algn="l" rtl="0">
              <a:lnSpc>
                <a:spcPct val="107916"/>
              </a:lnSpc>
              <a:spcBef>
                <a:spcPts val="60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Together with the given fact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seafood(shrimp)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final  deductive step is easy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1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1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490728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The resolution principle</a:t>
            </a:r>
            <a:endParaRPr sz="4000"/>
          </a:p>
        </p:txBody>
      </p:sp>
      <p:sp>
        <p:nvSpPr>
          <p:cNvPr id="397" name="Google Shape;397;p31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98" name="Google Shape;398;p31"/>
          <p:cNvSpPr txBox="1"/>
          <p:nvPr/>
        </p:nvSpPr>
        <p:spPr>
          <a:xfrm>
            <a:off x="459740" y="1304073"/>
            <a:ext cx="1769110" cy="134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it is: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344805" lvl="1" indent="-285750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 and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31"/>
          <p:cNvSpPr txBox="1"/>
          <p:nvPr/>
        </p:nvSpPr>
        <p:spPr>
          <a:xfrm>
            <a:off x="1202689" y="2992882"/>
            <a:ext cx="121094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conclude: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31"/>
          <p:cNvSpPr txBox="1"/>
          <p:nvPr/>
        </p:nvSpPr>
        <p:spPr>
          <a:xfrm>
            <a:off x="2613405" y="1895602"/>
            <a:ext cx="4730115" cy="148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03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someLiterals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1750" marR="0" lvl="0" indent="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someOtherLiterals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8895" marR="0" lvl="0" indent="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----------------------------------------------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someLiterals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someOtherLiterals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1" name="Google Shape;401;p31"/>
          <p:cNvSpPr txBox="1"/>
          <p:nvPr/>
        </p:nvSpPr>
        <p:spPr>
          <a:xfrm>
            <a:off x="459740" y="3355959"/>
            <a:ext cx="5042535" cy="2588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That’s all there is to it!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broke(Bob)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well-fed(Bob)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0" indent="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¬broke(Bob)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¬hungry(Bob)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0" indent="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--------------------------------------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well-fed(Bob)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¬hungry(Bob)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2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2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2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341122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A common error</a:t>
            </a:r>
            <a:endParaRPr sz="4000"/>
          </a:p>
        </p:txBody>
      </p:sp>
      <p:sp>
        <p:nvSpPr>
          <p:cNvPr id="411" name="Google Shape;411;p32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412" name="Google Shape;412;p32"/>
          <p:cNvSpPr txBox="1"/>
          <p:nvPr/>
        </p:nvSpPr>
        <p:spPr>
          <a:xfrm>
            <a:off x="459740" y="1321054"/>
            <a:ext cx="8211820" cy="4796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only do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 at a time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broke(Bob)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well-fed(Bob)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happy(Bob)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¬broke(Bob)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¬hungry(Bob)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Verdana"/>
                <a:ea typeface="Verdana"/>
                <a:cs typeface="Verdana"/>
                <a:sym typeface="Verdana"/>
              </a:rPr>
              <a:t>∨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¬happy(Bob)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resolve on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broke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get: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well-fed(Bob)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happy(Bob)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¬hungry(Bob)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¬happy(Bob)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you can resolve on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happy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get: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broke(Bob)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well-fed(Bob)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¬broke(Bob)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¬hungry(Bob)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5080" lvl="0" indent="-342900" algn="l" rtl="0">
              <a:lnSpc>
                <a:spcPct val="100400"/>
              </a:lnSpc>
              <a:spcBef>
                <a:spcPts val="53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that both legal resolutions yield a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tautology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 trivially true  statement, containing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¬X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which is correct but useless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you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 on both at once to get: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0580" marR="0" lvl="1" indent="-36068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well-fed(Bob)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¬hungry(Bob)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3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3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3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3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282067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Contradiction</a:t>
            </a:r>
            <a:endParaRPr sz="4000"/>
          </a:p>
        </p:txBody>
      </p:sp>
      <p:sp>
        <p:nvSpPr>
          <p:cNvPr id="422" name="Google Shape;422;p33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423" name="Google Shape;423;p33"/>
          <p:cNvSpPr txBox="1"/>
          <p:nvPr/>
        </p:nvSpPr>
        <p:spPr>
          <a:xfrm>
            <a:off x="459740" y="1392681"/>
            <a:ext cx="7815580" cy="437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special case occurs when the result of a resolution  (the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resolvent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empty, or “NIL”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hungry(Bob)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¬hungry(Bob)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525399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----------------  NIL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case, the fact base is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inconsistent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150495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will turn out to be a very useful observation in  doing resolution theorem proving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4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4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318833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A first example</a:t>
            </a:r>
            <a:endParaRPr sz="4000"/>
          </a:p>
        </p:txBody>
      </p:sp>
      <p:sp>
        <p:nvSpPr>
          <p:cNvPr id="433" name="Google Shape;433;p34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434" name="Google Shape;434;p34"/>
          <p:cNvSpPr txBox="1"/>
          <p:nvPr/>
        </p:nvSpPr>
        <p:spPr>
          <a:xfrm>
            <a:off x="459740" y="1350010"/>
            <a:ext cx="7670800" cy="83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75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“Everywhere that John goes, Rover goes. John is at  school.”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34"/>
          <p:cNvSpPr txBox="1"/>
          <p:nvPr/>
        </p:nvSpPr>
        <p:spPr>
          <a:xfrm>
            <a:off x="916939" y="2164588"/>
            <a:ext cx="3973829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250" rIns="0" bIns="0" anchor="t" anchorCtr="0">
            <a:spAutoFit/>
          </a:bodyPr>
          <a:lstStyle/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at(John, 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at(Rover, X)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at(John, school)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6" name="Google Shape;436;p34"/>
          <p:cNvSpPr txBox="1"/>
          <p:nvPr/>
        </p:nvSpPr>
        <p:spPr>
          <a:xfrm>
            <a:off x="5096002" y="2164588"/>
            <a:ext cx="296291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3655" marR="5080" lvl="0" indent="-21590" algn="l" rtl="0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(not yet in clause form)  (already in clause form)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p34"/>
          <p:cNvSpPr txBox="1"/>
          <p:nvPr/>
        </p:nvSpPr>
        <p:spPr>
          <a:xfrm>
            <a:off x="500090" y="3373372"/>
            <a:ext cx="8143800" cy="3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75" rIns="0" bIns="0" anchor="t" anchorCtr="0">
            <a:spAutoFit/>
          </a:bodyPr>
          <a:lstStyle/>
          <a:p>
            <a:pPr marL="355600" marR="288925" lvl="0" indent="-3429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 implication elimination to change the first of  these into clause form: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at(John, 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at(Rover, X)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at(John, school)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5080" lvl="0" indent="-342900" algn="l" rtl="0">
              <a:lnSpc>
                <a:spcPct val="107857"/>
              </a:lnSpc>
              <a:spcBef>
                <a:spcPts val="70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resolve these on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at(-, -),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to do so we have  to unify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school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this gives: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at(Rover, school)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5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5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5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432879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Refutation resolution</a:t>
            </a:r>
            <a:endParaRPr sz="4000"/>
          </a:p>
        </p:txBody>
      </p:sp>
      <p:sp>
        <p:nvSpPr>
          <p:cNvPr id="447" name="Google Shape;447;p35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448" name="Google Shape;448;p35"/>
          <p:cNvSpPr txBox="1"/>
          <p:nvPr/>
        </p:nvSpPr>
        <p:spPr>
          <a:xfrm>
            <a:off x="459740" y="1392681"/>
            <a:ext cx="8325484" cy="445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previous example was easy because it had very few  clauses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4190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have a lot of clauses, we want to </a:t>
            </a:r>
            <a:r>
              <a:rPr lang="en-US" sz="28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 search on the thing we would like to prove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do this as follows: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that our fact base is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consistent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(we can’t derive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NIL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492125" lvl="1" indent="-28575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the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negation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thing we want to prove to the fact  base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that the fact base is now inconsistent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Conclude the thing we want to prove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6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6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6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6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6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664464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Example of refutation resolution</a:t>
            </a:r>
            <a:endParaRPr sz="4000"/>
          </a:p>
        </p:txBody>
      </p:sp>
      <p:sp>
        <p:nvSpPr>
          <p:cNvPr id="458" name="Google Shape;458;p36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459" name="Google Shape;459;p36"/>
          <p:cNvSpPr txBox="1"/>
          <p:nvPr/>
        </p:nvSpPr>
        <p:spPr>
          <a:xfrm>
            <a:off x="459740" y="1357629"/>
            <a:ext cx="7691120" cy="139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69900" marR="0" lvl="0" indent="-45720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“Everywhere that John goes, Rover goes. John is at school.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that Rover is at school.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0900" marR="0" lvl="1" indent="-38100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BE00FF"/>
              </a:buClr>
              <a:buSzPts val="2000"/>
              <a:buFont typeface="Trebuchet MS"/>
              <a:buAutoNum type="arabicPeriod"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at(John, X)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at(Rover, 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50900" marR="0" lvl="1" indent="-381000" algn="l" rtl="0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BE00FF"/>
              </a:buClr>
              <a:buSzPts val="2000"/>
              <a:buFont typeface="Trebuchet MS"/>
              <a:buAutoNum type="arabicPeriod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at(John, school)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0" name="Google Shape;460;p36"/>
          <p:cNvSpPr txBox="1"/>
          <p:nvPr/>
        </p:nvSpPr>
        <p:spPr>
          <a:xfrm>
            <a:off x="3694684" y="2756662"/>
            <a:ext cx="253174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(this is the added clause)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36"/>
          <p:cNvSpPr txBox="1"/>
          <p:nvPr/>
        </p:nvSpPr>
        <p:spPr>
          <a:xfrm>
            <a:off x="459740" y="2728496"/>
            <a:ext cx="8141970" cy="296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625" rIns="0" bIns="0" anchor="t" anchorCtr="0">
            <a:spAutoFit/>
          </a:bodyPr>
          <a:lstStyle/>
          <a:p>
            <a:pPr marL="469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BE00FF"/>
                </a:solidFill>
                <a:latin typeface="Trebuchet MS"/>
                <a:ea typeface="Trebuchet MS"/>
                <a:cs typeface="Trebuchet MS"/>
                <a:sym typeface="Trebuchet MS"/>
              </a:rPr>
              <a:t>3.	</a:t>
            </a:r>
            <a:r>
              <a:rPr lang="en-US" sz="2000" b="0" i="0" u="none" strike="noStrike" cap="non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at(Rover, school)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0" lvl="0" indent="-45720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 #1 and #3: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BE00FF"/>
                </a:solidFill>
                <a:latin typeface="Trebuchet MS"/>
                <a:ea typeface="Trebuchet MS"/>
                <a:cs typeface="Trebuchet MS"/>
                <a:sym typeface="Trebuchet MS"/>
              </a:rPr>
              <a:t>4.	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at(John, 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0" lvl="0" indent="-45720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 #2 and #4: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BE00FF"/>
                </a:solidFill>
                <a:latin typeface="Trebuchet MS"/>
                <a:ea typeface="Trebuchet MS"/>
                <a:cs typeface="Trebuchet MS"/>
                <a:sym typeface="Trebuchet MS"/>
              </a:rPr>
              <a:t>5.	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NIL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0" lvl="0" indent="-45720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Conclude the negation of the added clause: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at(Rover, school)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85090" lvl="0" indent="-457200" algn="l" rtl="0">
              <a:lnSpc>
                <a:spcPct val="107916"/>
              </a:lnSpc>
              <a:spcBef>
                <a:spcPts val="61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seems a roundabout approach for such a simple example,  but it works well for larger problems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7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7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7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7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3780154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A second example</a:t>
            </a:r>
            <a:endParaRPr sz="4000"/>
          </a:p>
        </p:txBody>
      </p:sp>
      <p:sp>
        <p:nvSpPr>
          <p:cNvPr id="471" name="Google Shape;471;p37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472" name="Google Shape;472;p37"/>
          <p:cNvSpPr txBox="1"/>
          <p:nvPr/>
        </p:nvSpPr>
        <p:spPr>
          <a:xfrm>
            <a:off x="459750" y="1317327"/>
            <a:ext cx="4473600" cy="3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525" rIns="0" bIns="0" anchor="t" anchorCtr="0">
            <a:spAutoFit/>
          </a:bodyPr>
          <a:lstStyle/>
          <a:p>
            <a:pPr marL="3937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with: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128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it_is_raining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it_is_sunny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12800" marR="0" lvl="1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it_is_sunny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12800" marR="0" lvl="1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it_is_raining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I_take_umbrella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12800" marR="0" lvl="1" indent="-34290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I_take_umbrella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93700" marR="0" lvl="0" indent="-3810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to clause form: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128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E00FF"/>
              </a:buClr>
              <a:buSzPts val="2000"/>
              <a:buFont typeface="Trebuchet MS"/>
              <a:buAutoNum type="arabicPeriod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it_is_raining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it_is_sunny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12800" marR="0" lvl="0" indent="-34290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BE00FF"/>
              </a:buClr>
              <a:buSzPts val="2000"/>
              <a:buFont typeface="Trebuchet MS"/>
              <a:buAutoNum type="arabicPeriod"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it_is_sunny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3" name="Google Shape;473;p37"/>
          <p:cNvSpPr txBox="1"/>
          <p:nvPr/>
        </p:nvSpPr>
        <p:spPr>
          <a:xfrm>
            <a:off x="459740" y="4395673"/>
            <a:ext cx="45555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275" rIns="0" bIns="0" anchor="t" anchorCtr="0">
            <a:spAutoFit/>
          </a:bodyPr>
          <a:lstStyle/>
          <a:p>
            <a:pPr marL="8128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FF"/>
              </a:buClr>
              <a:buSzPts val="2000"/>
              <a:buFont typeface="Trebuchet MS"/>
              <a:buAutoNum type="arabicPeriod" startAt="3"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it_is_raining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I_take_umbrella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12800" marR="0" lvl="0" indent="-34290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BE00FF"/>
              </a:buClr>
              <a:buSzPts val="2000"/>
              <a:buFont typeface="Trebuchet MS"/>
              <a:buAutoNum type="arabicPeriod" startAt="3"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I_take_umbrella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93700" marR="0" lvl="0" indent="-3810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that I stay dry: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37"/>
          <p:cNvSpPr txBox="1"/>
          <p:nvPr/>
        </p:nvSpPr>
        <p:spPr>
          <a:xfrm>
            <a:off x="916939" y="5628894"/>
            <a:ext cx="171323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BE00FF"/>
                </a:solidFill>
                <a:latin typeface="Trebuchet MS"/>
                <a:ea typeface="Trebuchet MS"/>
                <a:cs typeface="Trebuchet MS"/>
                <a:sym typeface="Trebuchet MS"/>
              </a:rPr>
              <a:t>5.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5" name="Google Shape;475;p37"/>
          <p:cNvSpPr txBox="1"/>
          <p:nvPr/>
        </p:nvSpPr>
        <p:spPr>
          <a:xfrm>
            <a:off x="4955794" y="3176954"/>
            <a:ext cx="3891915" cy="310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150" rIns="0" bIns="0" anchor="t" anchorCtr="0">
            <a:spAutoFit/>
          </a:bodyPr>
          <a:lstStyle/>
          <a:p>
            <a:pPr marL="4699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1" indent="-127000" algn="l" rtl="0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BE00FF"/>
              </a:buClr>
              <a:buSzPts val="2000"/>
              <a:buFont typeface="Trebuchet MS"/>
              <a:buAutoNum type="arabicPeriod" startAt="6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(5, 2)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it_is_sunny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0" lvl="1" indent="-127000" algn="l" rtl="0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rgbClr val="BE00FF"/>
              </a:buClr>
              <a:buSzPts val="2000"/>
              <a:buFont typeface="Trebuchet MS"/>
              <a:buAutoNum type="arabicPeriod" startAt="6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(6, 1) it_is_raining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0" lvl="1" indent="-12700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BE00FF"/>
              </a:buClr>
              <a:buSzPts val="2000"/>
              <a:buFont typeface="Trebuchet MS"/>
              <a:buAutoNum type="arabicPeriod" startAt="6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(5, 4)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I_take_umbrella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755650" lvl="1" indent="-127000" algn="l" rtl="0">
              <a:lnSpc>
                <a:spcPct val="119700"/>
              </a:lnSpc>
              <a:spcBef>
                <a:spcPts val="10"/>
              </a:spcBef>
              <a:spcAft>
                <a:spcPts val="0"/>
              </a:spcAft>
              <a:buClr>
                <a:srgbClr val="BE00FF"/>
              </a:buClr>
              <a:buSzPts val="2000"/>
              <a:buFont typeface="Trebuchet MS"/>
              <a:buAutoNum type="arabicPeriod" startAt="6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(8, 3)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it_is_raining </a:t>
            </a:r>
            <a:r>
              <a:rPr lang="en-US" sz="2000" b="0" i="0" u="none" strike="noStrike" cap="none">
                <a:solidFill>
                  <a:srgbClr val="BE00FF"/>
                </a:solidFill>
                <a:latin typeface="Trebuchet MS"/>
                <a:ea typeface="Trebuchet MS"/>
                <a:cs typeface="Trebuchet MS"/>
                <a:sym typeface="Trebuchet MS"/>
              </a:rPr>
              <a:t> 10.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(9, 7) NIL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0" lvl="0" indent="-457200" algn="l" rtl="0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0073D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50900" marR="0" lvl="1" indent="-381000" algn="l" rtl="0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BE00FF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I_stay_dry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8"/>
          <p:cNvSpPr/>
          <p:nvPr/>
        </p:nvSpPr>
        <p:spPr>
          <a:xfrm>
            <a:off x="558800" y="2625788"/>
            <a:ext cx="322580" cy="474980"/>
          </a:xfrm>
          <a:custGeom>
            <a:avLst/>
            <a:gdLst/>
            <a:ahLst/>
            <a:cxnLst/>
            <a:rect l="l" t="t" r="r" b="b"/>
            <a:pathLst>
              <a:path w="322580" h="474980" extrusionOk="0">
                <a:moveTo>
                  <a:pt x="0" y="474662"/>
                </a:moveTo>
                <a:lnTo>
                  <a:pt x="322262" y="474662"/>
                </a:lnTo>
                <a:lnTo>
                  <a:pt x="322262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8"/>
          <p:cNvSpPr/>
          <p:nvPr/>
        </p:nvSpPr>
        <p:spPr>
          <a:xfrm>
            <a:off x="825500" y="2625788"/>
            <a:ext cx="328612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566737" y="3048063"/>
            <a:ext cx="422275" cy="474980"/>
          </a:xfrm>
          <a:custGeom>
            <a:avLst/>
            <a:gdLst/>
            <a:ahLst/>
            <a:cxnLst/>
            <a:rect l="l" t="t" r="r" b="b"/>
            <a:pathLst>
              <a:path w="422275" h="474979" extrusionOk="0">
                <a:moveTo>
                  <a:pt x="0" y="474662"/>
                </a:moveTo>
                <a:lnTo>
                  <a:pt x="422275" y="474662"/>
                </a:lnTo>
                <a:lnTo>
                  <a:pt x="422275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8"/>
          <p:cNvSpPr/>
          <p:nvPr/>
        </p:nvSpPr>
        <p:spPr>
          <a:xfrm>
            <a:off x="936625" y="3048063"/>
            <a:ext cx="368300" cy="47466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152400" y="2974975"/>
            <a:ext cx="560387" cy="4222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803275" y="2438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29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315912" y="3265488"/>
            <a:ext cx="8683625" cy="4603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8"/>
          <p:cNvSpPr txBox="1">
            <a:spLocks noGrp="1"/>
          </p:cNvSpPr>
          <p:nvPr>
            <p:ph type="title"/>
          </p:nvPr>
        </p:nvSpPr>
        <p:spPr>
          <a:xfrm>
            <a:off x="1947164" y="2591307"/>
            <a:ext cx="540258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Conversion to clause form</a:t>
            </a:r>
            <a:endParaRPr sz="4000"/>
          </a:p>
        </p:txBody>
      </p:sp>
      <p:sp>
        <p:nvSpPr>
          <p:cNvPr id="488" name="Google Shape;488;p38"/>
          <p:cNvSpPr txBox="1"/>
          <p:nvPr/>
        </p:nvSpPr>
        <p:spPr>
          <a:xfrm>
            <a:off x="1551686" y="3907282"/>
            <a:ext cx="6876415" cy="124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90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nine-step process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</a:pPr>
            <a:endParaRPr sz="3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Reference: </a:t>
            </a:r>
            <a:r>
              <a:rPr lang="en-US" sz="2000" b="0" i="1" u="none" strike="noStrike" cap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</a:t>
            </a:r>
            <a:r>
              <a:rPr lang="en-US" sz="2000" b="0" i="0" u="none" strike="noStrike" cap="non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by Elaine Rich and Kevin Knight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9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9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9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9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362331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Running example</a:t>
            </a:r>
            <a:endParaRPr sz="4000"/>
          </a:p>
        </p:txBody>
      </p:sp>
      <p:sp>
        <p:nvSpPr>
          <p:cNvPr id="498" name="Google Shape;498;p39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499" name="Google Shape;499;p39"/>
          <p:cNvSpPr txBox="1"/>
          <p:nvPr/>
        </p:nvSpPr>
        <p:spPr>
          <a:xfrm>
            <a:off x="459740" y="1392681"/>
            <a:ext cx="7824470" cy="267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Romans who know Marcus either hate Caesar or  think that anyone who hates anyone is crazy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73D9"/>
              </a:buClr>
              <a:buSzPts val="3500"/>
              <a:buFont typeface="Noto Sans Symbols"/>
              <a:buNone/>
            </a:pPr>
            <a:endParaRPr sz="3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[ Roman(x)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]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endParaRPr sz="2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 hate(x, Caesar)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5689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y,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z, hate(y, z)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y))]</a:t>
            </a:r>
            <a:endParaRPr sz="2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0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0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0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0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0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619252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Step 1: Eliminate implications</a:t>
            </a:r>
            <a:endParaRPr sz="4000"/>
          </a:p>
        </p:txBody>
      </p:sp>
      <p:sp>
        <p:nvSpPr>
          <p:cNvPr id="509" name="Google Shape;509;p40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510" name="Google Shape;510;p40"/>
          <p:cNvSpPr txBox="1"/>
          <p:nvPr/>
        </p:nvSpPr>
        <p:spPr>
          <a:xfrm>
            <a:off x="459740" y="1392681"/>
            <a:ext cx="7461250" cy="3978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fact that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	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equivalent to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73D9"/>
              </a:buClr>
              <a:buSzPts val="3050"/>
              <a:buFont typeface="Noto Sans Symbols"/>
              <a:buNone/>
            </a:pPr>
            <a:endParaRPr sz="30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3865" marR="0" lvl="0" indent="-4311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[ Roman(x)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]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endParaRPr sz="2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461009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 hate(x, Caesar)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7810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y,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z, hate(y, z)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y))]</a:t>
            </a:r>
            <a:endParaRPr sz="2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endParaRPr sz="34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3865" marR="0" lvl="0" indent="-43116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 Roman(x)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]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461009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[hate(x, Caesar)	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8864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y,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z, hate(y, z)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y))]</a:t>
            </a:r>
            <a:endParaRPr sz="2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1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1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1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1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1"/>
          <p:cNvSpPr txBox="1">
            <a:spLocks noGrp="1"/>
          </p:cNvSpPr>
          <p:nvPr>
            <p:ph type="title"/>
          </p:nvPr>
        </p:nvSpPr>
        <p:spPr>
          <a:xfrm>
            <a:off x="1297939" y="382778"/>
            <a:ext cx="617283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Step 2: Reduce the scope of </a:t>
            </a:r>
            <a:r>
              <a:rPr lang="en-US" sz="4000"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endParaRPr sz="40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20" name="Google Shape;520;p41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521" name="Google Shape;521;p41"/>
          <p:cNvSpPr txBox="1">
            <a:spLocks noGrp="1"/>
          </p:cNvSpPr>
          <p:nvPr>
            <p:ph type="body" idx="1"/>
          </p:nvPr>
        </p:nvSpPr>
        <p:spPr>
          <a:xfrm>
            <a:off x="459740" y="1316440"/>
            <a:ext cx="6809105" cy="144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556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/>
              <a:t>Reduce the scope of negation to a single term, using:</a:t>
            </a:r>
            <a:endParaRPr/>
          </a:p>
          <a:p>
            <a:pPr marL="755650" lvl="1" indent="-28575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p) 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200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lvl="1" indent="-2857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(a 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00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b) 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200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b)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lvl="1" indent="-2857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(a 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00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b) 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200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000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b)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2" name="Google Shape;522;p41"/>
          <p:cNvSpPr txBox="1"/>
          <p:nvPr/>
        </p:nvSpPr>
        <p:spPr>
          <a:xfrm>
            <a:off x="916939" y="2732734"/>
            <a:ext cx="1424305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175" rIns="0" bIns="0" anchor="t" anchorCtr="0">
            <a:spAutoFit/>
          </a:bodyPr>
          <a:lstStyle/>
          <a:p>
            <a:pPr marL="298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¬∀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p(x)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98450" marR="0" lvl="0" indent="-2857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BE00FF"/>
              </a:buClr>
              <a:buSzPts val="11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¬∃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p(x)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3" name="Google Shape;523;p41"/>
          <p:cNvSpPr txBox="1"/>
          <p:nvPr/>
        </p:nvSpPr>
        <p:spPr>
          <a:xfrm>
            <a:off x="2503677" y="2732734"/>
            <a:ext cx="1507490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175" rIns="0" bIns="0" anchor="t" anchorCtr="0">
            <a:spAutoFit/>
          </a:bodyPr>
          <a:lstStyle/>
          <a:p>
            <a:pPr marL="5461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p(x)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</a:t>
            </a:r>
            <a:r>
              <a:rPr lang="en-US" sz="20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0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p(x)</a:t>
            </a: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4" name="Google Shape;524;p41"/>
          <p:cNvSpPr txBox="1"/>
          <p:nvPr/>
        </p:nvSpPr>
        <p:spPr>
          <a:xfrm>
            <a:off x="111627" y="3671900"/>
            <a:ext cx="7280100" cy="282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 Roman(x)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]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4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55600" marR="0" lvl="0" indent="0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[hate(x, Caesar)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4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631190" marR="0" lvl="0" indent="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z, hate(y, z)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y))]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[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Roman(x)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]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4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5560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[hate(x, Caesar)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4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631190" marR="0" lvl="0" indent="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z,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hate(y, z)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y))]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2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2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2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2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2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7079615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Step 3: Standardize variables apart</a:t>
            </a:r>
            <a:endParaRPr sz="4000"/>
          </a:p>
        </p:txBody>
      </p:sp>
      <p:sp>
        <p:nvSpPr>
          <p:cNvPr id="534" name="Google Shape;534;p42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535" name="Google Shape;535;p42"/>
          <p:cNvSpPr txBox="1"/>
          <p:nvPr/>
        </p:nvSpPr>
        <p:spPr>
          <a:xfrm>
            <a:off x="459740" y="1443735"/>
            <a:ext cx="8222615" cy="258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5600" marR="5122545" lvl="0" indent="-342900" algn="l" rtl="0">
              <a:lnSpc>
                <a:spcPct val="103499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P(x)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Q(x)  becomes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470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P(x)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y, Q(y)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just to keep the scopes of variables from getting  confused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necessary in our running example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3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3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3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3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506349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Step 4: Move quantifiers</a:t>
            </a:r>
            <a:endParaRPr sz="4000"/>
          </a:p>
        </p:txBody>
      </p:sp>
      <p:sp>
        <p:nvSpPr>
          <p:cNvPr id="545" name="Google Shape;545;p43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546" name="Google Shape;546;p43"/>
          <p:cNvSpPr txBox="1"/>
          <p:nvPr/>
        </p:nvSpPr>
        <p:spPr>
          <a:xfrm>
            <a:off x="459740" y="1392681"/>
            <a:ext cx="8092440" cy="446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 all quantifiers to the left, without changing their  relative positions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73D9"/>
              </a:buClr>
              <a:buSzPts val="3500"/>
              <a:buFont typeface="Noto Sans Symbols"/>
              <a:buNone/>
            </a:pPr>
            <a:endParaRPr sz="3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[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Roman(x)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]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[hate(x, Caesar)	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67373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y,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z,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hate(y, z)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y)]</a:t>
            </a:r>
            <a:endParaRPr sz="2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3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y,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z,[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Roman(x)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]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[hate(x, Caesar)	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67373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hate(y, z)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y))]</a:t>
            </a:r>
            <a:endParaRPr sz="2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4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4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44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4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4"/>
          <p:cNvSpPr txBox="1">
            <a:spLocks noGrp="1"/>
          </p:cNvSpPr>
          <p:nvPr>
            <p:ph type="title"/>
          </p:nvPr>
        </p:nvSpPr>
        <p:spPr>
          <a:xfrm>
            <a:off x="1297939" y="443738"/>
            <a:ext cx="726249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5: Eliminate existential quantifiers</a:t>
            </a:r>
            <a:endParaRPr/>
          </a:p>
        </p:txBody>
      </p:sp>
      <p:sp>
        <p:nvSpPr>
          <p:cNvPr id="556" name="Google Shape;556;p44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557" name="Google Shape;557;p44"/>
          <p:cNvSpPr txBox="1"/>
          <p:nvPr/>
        </p:nvSpPr>
        <p:spPr>
          <a:xfrm>
            <a:off x="459740" y="1304073"/>
            <a:ext cx="7935595" cy="310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do this by introducing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Skolem functions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marR="0" lvl="1" indent="-285750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p(x)	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just pick one; call it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x’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55650" marR="5080" lvl="1" indent="-285750" algn="l" rtl="0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BE00FF"/>
              </a:buClr>
              <a:buSzPts val="13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existential quantifier is under control of a universal  quantifier, then the picked value has to be a function of the  universally quantified variable: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5700" marR="0" lvl="2" indent="-228600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0073D9"/>
              </a:buClr>
              <a:buSzPts val="120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∃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y, p(x, y)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p(x, y(x))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necessary in our running example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5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5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5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5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5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7350759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Step 6: Drop the prefix (quantifiers)</a:t>
            </a:r>
            <a:endParaRPr sz="4000"/>
          </a:p>
        </p:txBody>
      </p:sp>
      <p:sp>
        <p:nvSpPr>
          <p:cNvPr id="567" name="Google Shape;567;p45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568" name="Google Shape;568;p45"/>
          <p:cNvSpPr txBox="1"/>
          <p:nvPr/>
        </p:nvSpPr>
        <p:spPr>
          <a:xfrm>
            <a:off x="459740" y="1395729"/>
            <a:ext cx="8328025" cy="301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x,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y,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z,[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Roman(x)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]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4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[hate(x, Caesar)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hate(y, z)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y))]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this point, all the quantifiers are universal quantifiers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70993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just take it for granted that all variables are  universally quantified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73D9"/>
              </a:buClr>
              <a:buSzPts val="14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Roman(x)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]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4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[hate(x, Caesar)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hate(y, z)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y))]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6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6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6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6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6"/>
          <p:cNvSpPr txBox="1">
            <a:spLocks noGrp="1"/>
          </p:cNvSpPr>
          <p:nvPr>
            <p:ph type="title"/>
          </p:nvPr>
        </p:nvSpPr>
        <p:spPr>
          <a:xfrm>
            <a:off x="404495" y="432308"/>
            <a:ext cx="8335009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90614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7: Create a conjunction of disjuncts</a:t>
            </a:r>
            <a:endParaRPr/>
          </a:p>
        </p:txBody>
      </p:sp>
      <p:sp>
        <p:nvSpPr>
          <p:cNvPr id="578" name="Google Shape;578;p46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579" name="Google Shape;579;p46"/>
          <p:cNvSpPr txBox="1"/>
          <p:nvPr/>
        </p:nvSpPr>
        <p:spPr>
          <a:xfrm>
            <a:off x="459740" y="1443735"/>
            <a:ext cx="7496809" cy="259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43865" marR="0" lvl="0" indent="-4311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Roman(x)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]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4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[hate(x, Caesar)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hate(y, z)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y))]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endParaRPr sz="24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becomes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70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Roman(x)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4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hate(x, Caesar)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hate(y, z)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7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7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7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7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629031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Step 8: Create separate clauses</a:t>
            </a:r>
            <a:endParaRPr sz="4000"/>
          </a:p>
        </p:txBody>
      </p:sp>
      <p:sp>
        <p:nvSpPr>
          <p:cNvPr id="589" name="Google Shape;589;p47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590" name="Google Shape;590;p47"/>
          <p:cNvSpPr txBox="1"/>
          <p:nvPr/>
        </p:nvSpPr>
        <p:spPr>
          <a:xfrm>
            <a:off x="459740" y="1392681"/>
            <a:ext cx="8099425" cy="139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place we have an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break our expression up  into separate pieces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necessary in our running example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/>
          <p:nvPr/>
        </p:nvSpPr>
        <p:spPr>
          <a:xfrm>
            <a:off x="914400" y="685863"/>
            <a:ext cx="368300" cy="4746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8"/>
          <p:cNvSpPr/>
          <p:nvPr/>
        </p:nvSpPr>
        <p:spPr>
          <a:xfrm>
            <a:off x="127000" y="609600"/>
            <a:ext cx="560387" cy="4222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8"/>
          <p:cNvSpPr/>
          <p:nvPr/>
        </p:nvSpPr>
        <p:spPr>
          <a:xfrm>
            <a:off x="777875" y="152463"/>
            <a:ext cx="0" cy="1052830"/>
          </a:xfrm>
          <a:custGeom>
            <a:avLst/>
            <a:gdLst/>
            <a:ahLst/>
            <a:cxnLst/>
            <a:rect l="l" t="t" r="r" b="b"/>
            <a:pathLst>
              <a:path w="120000" h="1052830" extrusionOk="0">
                <a:moveTo>
                  <a:pt x="0" y="0"/>
                </a:moveTo>
                <a:lnTo>
                  <a:pt x="0" y="1052512"/>
                </a:lnTo>
              </a:path>
            </a:pathLst>
          </a:custGeom>
          <a:noFill/>
          <a:ln w="31750" cap="flat" cmpd="sng">
            <a:solidFill>
              <a:srgbClr val="99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8"/>
          <p:cNvSpPr/>
          <p:nvPr/>
        </p:nvSpPr>
        <p:spPr>
          <a:xfrm>
            <a:off x="460375" y="990663"/>
            <a:ext cx="8683625" cy="4603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8"/>
          <p:cNvSpPr txBox="1">
            <a:spLocks noGrp="1"/>
          </p:cNvSpPr>
          <p:nvPr>
            <p:ph type="title"/>
          </p:nvPr>
        </p:nvSpPr>
        <p:spPr>
          <a:xfrm>
            <a:off x="1297939" y="381254"/>
            <a:ext cx="5118100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Step 9: Standardize apart</a:t>
            </a:r>
            <a:endParaRPr sz="4000"/>
          </a:p>
        </p:txBody>
      </p:sp>
      <p:sp>
        <p:nvSpPr>
          <p:cNvPr id="600" name="Google Shape;600;p48"/>
          <p:cNvSpPr txBox="1">
            <a:spLocks noGrp="1"/>
          </p:cNvSpPr>
          <p:nvPr>
            <p:ph type="sldNum" idx="12"/>
          </p:nvPr>
        </p:nvSpPr>
        <p:spPr>
          <a:xfrm>
            <a:off x="8828023" y="6598973"/>
            <a:ext cx="24892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601" name="Google Shape;601;p48"/>
          <p:cNvSpPr txBox="1"/>
          <p:nvPr/>
        </p:nvSpPr>
        <p:spPr>
          <a:xfrm>
            <a:off x="459740" y="1392681"/>
            <a:ext cx="8206105" cy="4488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 variables so that no two clauses have the same  variable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necessary in our running example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73D9"/>
              </a:buClr>
              <a:buSzPts val="3500"/>
              <a:buFont typeface="Noto Sans Symbols"/>
              <a:buNone/>
            </a:pPr>
            <a:endParaRPr sz="3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result: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3865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Roman(x)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know(x, Marcus)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endParaRPr sz="24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hate(x, Caesar)	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hate(y, z)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33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thinkCrazy(x, y)</a:t>
            </a:r>
            <a:endParaRPr sz="2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endParaRPr sz="34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48005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D9"/>
              </a:buClr>
              <a:buSzPts val="16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That’s it! It’s a long process, but easy enough to do  mechanically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4406</Words>
  <Application>Microsoft Office PowerPoint</Application>
  <PresentationFormat>On-screen Show (4:3)</PresentationFormat>
  <Paragraphs>558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Times New Roman</vt:lpstr>
      <vt:lpstr>Noto Sans Symbols</vt:lpstr>
      <vt:lpstr>Trebuchet MS</vt:lpstr>
      <vt:lpstr>Verdana</vt:lpstr>
      <vt:lpstr>Office Theme</vt:lpstr>
      <vt:lpstr>More on Logics &amp; Proof</vt:lpstr>
      <vt:lpstr>What is logic?</vt:lpstr>
      <vt:lpstr>Propositional logic</vt:lpstr>
      <vt:lpstr>Propositional logic</vt:lpstr>
      <vt:lpstr>Useful binary operators</vt:lpstr>
      <vt:lpstr>Logical expressions</vt:lpstr>
      <vt:lpstr>Another example</vt:lpstr>
      <vt:lpstr>Worlds</vt:lpstr>
      <vt:lpstr>Models</vt:lpstr>
      <vt:lpstr>Inference rules in propositional logic</vt:lpstr>
      <vt:lpstr>Implication elimination</vt:lpstr>
      <vt:lpstr>Conjunction elimination</vt:lpstr>
      <vt:lpstr>Inference by computer</vt:lpstr>
      <vt:lpstr>Forward and backward reasoning</vt:lpstr>
      <vt:lpstr>Example</vt:lpstr>
      <vt:lpstr>Predicate Calculus</vt:lpstr>
      <vt:lpstr>Predicate calculus</vt:lpstr>
      <vt:lpstr>Constants, functions, and predicates</vt:lpstr>
      <vt:lpstr>Universal quantification</vt:lpstr>
      <vt:lpstr>Existential quantification</vt:lpstr>
      <vt:lpstr>Properties of quantifiers</vt:lpstr>
      <vt:lpstr>Parentheses</vt:lpstr>
      <vt:lpstr>More rules</vt:lpstr>
      <vt:lpstr>Interlude: Definitions</vt:lpstr>
      <vt:lpstr>Resolution</vt:lpstr>
      <vt:lpstr>Logic by computer was infeasible</vt:lpstr>
      <vt:lpstr>The magic of resolution</vt:lpstr>
      <vt:lpstr>The fact base</vt:lpstr>
      <vt:lpstr>Clause form</vt:lpstr>
      <vt:lpstr>Unification</vt:lpstr>
      <vt:lpstr>The resolution principle</vt:lpstr>
      <vt:lpstr>A common error</vt:lpstr>
      <vt:lpstr>Contradiction</vt:lpstr>
      <vt:lpstr>A first example</vt:lpstr>
      <vt:lpstr>Refutation resolution</vt:lpstr>
      <vt:lpstr>Example of refutation resolution</vt:lpstr>
      <vt:lpstr>A second example</vt:lpstr>
      <vt:lpstr>Conversion to clause form</vt:lpstr>
      <vt:lpstr>Running example</vt:lpstr>
      <vt:lpstr>Step 1: Eliminate implications</vt:lpstr>
      <vt:lpstr>Step 2: Reduce the scope of ¬</vt:lpstr>
      <vt:lpstr>Step 3: Standardize variables apart</vt:lpstr>
      <vt:lpstr>Step 4: Move quantifiers</vt:lpstr>
      <vt:lpstr>Step 5: Eliminate existential quantifiers</vt:lpstr>
      <vt:lpstr>Step 6: Drop the prefix (quantifiers)</vt:lpstr>
      <vt:lpstr>Step 7: Create a conjunction of disjuncts</vt:lpstr>
      <vt:lpstr>Step 8: Create separate clauses</vt:lpstr>
      <vt:lpstr>Step 9: Standardize apart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Dave Matuszek</dc:creator>
  <cp:lastModifiedBy>Norsham Idris</cp:lastModifiedBy>
  <cp:revision>1</cp:revision>
  <dcterms:created xsi:type="dcterms:W3CDTF">2019-09-28T04:39:15Z</dcterms:created>
  <dcterms:modified xsi:type="dcterms:W3CDTF">2025-10-22T04:40:52Z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2013-09-29T00:00:00Z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2019-09-28T00:00:00Z</vt:filetime>
  </property>
</Properties>
</file>