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39"/>
      <p:bold r:id="rId40"/>
      <p: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idLMZZcb+ApM/absZAfczwggrM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91FB26-8CD8-4150-84DE-5954C83DBE40}">
  <a:tblStyle styleId="{BB91FB26-8CD8-4150-84DE-5954C83DBE40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3D4C59A-1B88-4128-8D4D-7D4BE1DCD80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0D91BEC-1D3C-41D2-930B-A399E2BB072D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-flair.training/blogs/heuristic-search-ai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https://data-flair.training/blogs/heuristic-search-ai/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d2a6f7be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g38d2a6f7be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1" name="Google Shape;3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https://www.mdpi.com/1424-8220/16/8/1224/htm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d2a6f7be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g38d2a6f7be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https://link.springer.com/article/10.1007/s40860-016-0020-z</a:t>
            </a:r>
            <a:endParaRPr/>
          </a:p>
        </p:txBody>
      </p:sp>
      <p:sp>
        <p:nvSpPr>
          <p:cNvPr id="383" name="Google Shape;383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https://link.springer.com/article/10.1007/s40860-016-0020-z</a:t>
            </a:r>
            <a:endParaRPr/>
          </a:p>
        </p:txBody>
      </p:sp>
      <p:sp>
        <p:nvSpPr>
          <p:cNvPr id="435" name="Google Shape;43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4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6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" name="Google Shape;13;p36" descr="header_UTM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6" descr="header_url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1169894"/>
            <a:ext cx="2376488" cy="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36" descr="A close up of a logo&#10;&#10;Description automatically generated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0" y="2130425"/>
            <a:ext cx="92202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Roboto"/>
              <a:buNone/>
            </a:pPr>
            <a:r>
              <a:rPr lang="en-US" sz="54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Project Task</a:t>
            </a:r>
            <a:endParaRPr sz="54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None/>
            </a:pPr>
            <a:r>
              <a:rPr lang="en-US" sz="4000" b="1" dirty="0">
                <a:solidFill>
                  <a:srgbClr val="0070C0"/>
                </a:solidFill>
              </a:rPr>
              <a:t>Artificial Intelligence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</a:pPr>
            <a:endParaRPr sz="1100" b="1" dirty="0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i="1" dirty="0"/>
              <a:t>Faculty of Computing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i="1" dirty="0" err="1"/>
              <a:t>Universiti</a:t>
            </a:r>
            <a:r>
              <a:rPr lang="en-US" sz="2800" i="1" dirty="0"/>
              <a:t> </a:t>
            </a:r>
            <a:r>
              <a:rPr lang="en-US" sz="2800" i="1" dirty="0" err="1"/>
              <a:t>Teknologi</a:t>
            </a:r>
            <a:r>
              <a:rPr lang="en-US" sz="2800" i="1" dirty="0"/>
              <a:t> Malaysia</a:t>
            </a:r>
            <a:endParaRPr dirty="0"/>
          </a:p>
        </p:txBody>
      </p:sp>
      <p:pic>
        <p:nvPicPr>
          <p:cNvPr id="96" name="Google Shape;96;p1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1" y="3429000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/>
          <p:nvPr/>
        </p:nvSpPr>
        <p:spPr>
          <a:xfrm>
            <a:off x="-7257" y="3059668"/>
            <a:ext cx="914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2400" b="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2400" b="0" i="1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members per group)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Mark Distribution: Assignment &amp; Project</a:t>
            </a:r>
            <a:endParaRPr sz="3600" b="1"/>
          </a:p>
        </p:txBody>
      </p:sp>
      <p:sp>
        <p:nvSpPr>
          <p:cNvPr id="103" name="Google Shape;103;p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105" name="Google Shape;105;p3"/>
          <p:cNvGraphicFramePr/>
          <p:nvPr/>
        </p:nvGraphicFramePr>
        <p:xfrm>
          <a:off x="1466652" y="210901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{BB91FB26-8CD8-4150-84DE-5954C83DBE40}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1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r>
                        <a:rPr lang="en-US" sz="1600" b="1"/>
                        <a:t>2</a:t>
                      </a:r>
                      <a:endParaRPr sz="1600" b="1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/>
                        <a:t>(C2)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r>
                        <a:rPr lang="en-US" sz="1600" b="1"/>
                        <a:t>4</a:t>
                      </a:r>
                      <a:endParaRPr sz="1600" b="1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/>
                        <a:t>(C3B)</a:t>
                      </a:r>
                      <a:endParaRPr sz="1600" b="1"/>
                    </a:p>
                  </a:txBody>
                  <a:tcPr marL="68575" marR="68575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(%)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CLO2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CLO3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1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2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3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Generic Skills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0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4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Total (%)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2000" b="1" u="none" strike="noStrike" cap="none"/>
                        <a:t>5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2000" b="1" u="none" strike="noStrike" cap="none"/>
                        <a:t>0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20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"/>
              <a:buNone/>
            </a:pPr>
            <a:r>
              <a:rPr lang="en-US" sz="5400" b="1">
                <a:latin typeface="Roboto"/>
                <a:ea typeface="Roboto"/>
                <a:cs typeface="Roboto"/>
                <a:sym typeface="Roboto"/>
              </a:rPr>
              <a:t>Outline</a:t>
            </a:r>
            <a:endParaRPr/>
          </a:p>
        </p:txBody>
      </p:sp>
      <p:sp>
        <p:nvSpPr>
          <p:cNvPr id="112" name="Google Shape;11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Mark Distribution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The theme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Mapping Task Assessment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Design Thinking</a:t>
            </a:r>
            <a:endParaRPr/>
          </a:p>
          <a:p>
            <a:pPr marL="514350" lvl="0" indent="-5143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Project Timeline &amp; Grading</a:t>
            </a:r>
            <a:endParaRPr/>
          </a:p>
          <a:p>
            <a:pPr marL="914400" lvl="1" indent="-3730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Project: Design Thinking oriented proposal (Week 4)</a:t>
            </a:r>
            <a:endParaRPr/>
          </a:p>
          <a:p>
            <a:pPr marL="914400" lvl="1" indent="-3730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1 – Assignment 1 (Week 5)</a:t>
            </a:r>
            <a:endParaRPr/>
          </a:p>
          <a:p>
            <a:pPr marL="914400" lvl="1" indent="-3730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2 – Assignment 2 (Week 9)</a:t>
            </a:r>
            <a:endParaRPr/>
          </a:p>
          <a:p>
            <a:pPr marL="914400" lvl="1" indent="-3730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3 – Assignment 3 (Week 12)</a:t>
            </a:r>
            <a:endParaRPr/>
          </a:p>
          <a:p>
            <a:pPr marL="914400" lvl="1" indent="-3730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Project: Proof of Concept (Due: Week 14)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The Theme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04800" y="1600200"/>
            <a:ext cx="4191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is aimed to provide innovative solution that improve current established system, or a new unprecedented solution based on real-world problem (according to theme) by implementing artificial intelligence (AI). The assignment and project task will reflect the three major components in AI: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representation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Intelligent AI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develop a prototype as a proof of concept  implementation of an intelligent application (can be in mobile application / web application). Design thinking will be used as a design methodology for you to develop this prototype.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SCSJ 3353: Artificial Intelligence</a:t>
            </a:r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4828520" y="1761271"/>
            <a:ext cx="3677958" cy="4363642"/>
            <a:chOff x="180320" y="161071"/>
            <a:chExt cx="3677958" cy="4363642"/>
          </a:xfrm>
        </p:grpSpPr>
        <p:sp>
          <p:nvSpPr>
            <p:cNvPr id="124" name="Google Shape;124;p4"/>
            <p:cNvSpPr/>
            <p:nvPr/>
          </p:nvSpPr>
          <p:spPr>
            <a:xfrm>
              <a:off x="1524149" y="161071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1743986" y="380904"/>
              <a:ext cx="591855" cy="59185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993318" y="1354060"/>
              <a:ext cx="2051962" cy="69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993325" y="1354044"/>
              <a:ext cx="205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THEME: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HEALTHCARE, AGRICULTURE, SMART EDUCATION, SMART CITY, SENTIMENT ANALYSIS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846" y="2634182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77237" y="2875582"/>
              <a:ext cx="591855" cy="59185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180320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180320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STRUCTURE: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4-5 MEMBERS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2489915" y="2689615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709741" y="2909448"/>
              <a:ext cx="591855" cy="59185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2167263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2167263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ASSESSMENT SKILL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PROBLEM SOLVING &amp; TEAMWORKING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469490" y="263559"/>
            <a:ext cx="8229600" cy="65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Mapping Task Assessment</a:t>
            </a:r>
            <a:endParaRPr b="1"/>
          </a:p>
        </p:txBody>
      </p:sp>
      <p:sp>
        <p:nvSpPr>
          <p:cNvPr id="141" name="Google Shape;141;p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304800" y="163285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{63D4C59A-1B88-4128-8D4D-7D4BE1DCD807}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12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sz="12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2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Solvin</a:t>
                      </a:r>
                      <a:r>
                        <a:rPr lang="en-US" sz="1200" b="1"/>
                        <a:t>g</a:t>
                      </a:r>
                      <a:endParaRPr sz="1200" b="1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/>
                        <a:t>(PLO3, CLO2)</a:t>
                      </a:r>
                      <a:endParaRPr sz="1200" b="1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Teamwork</a:t>
                      </a:r>
                      <a:endParaRPr sz="12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/>
                        <a:t>(PLO8, CLO3)</a:t>
                      </a:r>
                      <a:endParaRPr sz="1200" b="1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(%)</a:t>
                      </a:r>
                      <a:endParaRPr sz="12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77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Project: Proposal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Proposal that defines: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solution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 of AI solution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the process of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Emphatize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DT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the process of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DT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8575" marR="68575" marT="0" marB="0" anchor="ctr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1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proposing: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Relevant knowledge representation that supports AI solution to achieve the goal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/>
                        <a:t>(Peer assessment)</a:t>
                      </a:r>
                      <a:endParaRPr sz="1200"/>
                    </a:p>
                  </a:txBody>
                  <a:tcPr marL="68575" marR="6857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2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formulating: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state space search that supports the previous defined knowledge representation to achieve the goal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(Peer assessment)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formulating: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PEAS model representation that supports AI solution to achieve the goal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  <a:p>
                      <a:pPr marL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/>
                        <a:t>(Peer assessment)</a:t>
                      </a:r>
                      <a:endParaRPr sz="1200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Project: Prototype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lang="en-US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</a:t>
                      </a: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developing:</a:t>
                      </a:r>
                      <a:endParaRPr sz="1200" u="none" strike="noStrike" cap="none"/>
                    </a:p>
                    <a:p>
                      <a:pPr marL="176213" marR="0" lvl="0" indent="-163513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Proof of concept of AI solution</a:t>
                      </a:r>
                      <a:endParaRPr sz="1200" u="none" strike="noStrike" cap="none"/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/>
                        <a:t>10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/>
                        <a:t>5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(Peer assessment) 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0">
                <a:tc gridSpan="5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TOTAL</a:t>
                      </a:r>
                      <a:endParaRPr sz="1200" b="1"/>
                    </a:p>
                  </a:txBody>
                  <a:tcPr marL="68575" marR="6857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/>
                        <a:t>35</a:t>
                      </a:r>
                      <a:endParaRPr sz="1200" b="1" u="none" strike="noStrike" cap="none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0" name="Google Shape;150;p6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1733612" y="2314726"/>
            <a:ext cx="7257988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Design Thinking</a:t>
            </a:r>
            <a:r>
              <a:rPr lang="en-US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136238" y="3124200"/>
            <a:ext cx="62170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&amp; Process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Design Thinking to brainstorm ideas to solve real world problems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7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Design Thinking Process</a:t>
            </a:r>
            <a:endParaRPr sz="4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0" y="2057400"/>
            <a:ext cx="2666999" cy="36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1. Empathize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users and discover their pain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Define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needs and requirements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3. Ideate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 using AI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4. Prototype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ideas into POC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8" descr="design_thinki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1524000"/>
            <a:ext cx="6248401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-76200" y="0"/>
            <a:ext cx="9220200" cy="731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Examples of question in Empathy for DT process</a:t>
            </a:r>
            <a:endParaRPr sz="3200"/>
          </a:p>
        </p:txBody>
      </p:sp>
      <p:sp>
        <p:nvSpPr>
          <p:cNvPr id="167" name="Google Shape;16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70" name="Google Shape;170;p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</a:pPr>
            <a:r>
              <a:rPr lang="en-US" b="1">
                <a:latin typeface="Roboto"/>
                <a:ea typeface="Roboto"/>
                <a:cs typeface="Roboto"/>
                <a:sym typeface="Roboto"/>
              </a:rPr>
              <a:t>Project Timeline &amp; Grading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" name="Google Shape;177;p7"/>
          <p:cNvGrpSpPr/>
          <p:nvPr/>
        </p:nvGrpSpPr>
        <p:grpSpPr>
          <a:xfrm>
            <a:off x="1354193" y="1600936"/>
            <a:ext cx="6391502" cy="4705802"/>
            <a:chOff x="896993" y="736"/>
            <a:chExt cx="6391502" cy="4705802"/>
          </a:xfrm>
        </p:grpSpPr>
        <p:sp>
          <p:nvSpPr>
            <p:cNvPr id="178" name="Google Shape;178;p7"/>
            <p:cNvSpPr/>
            <p:nvPr/>
          </p:nvSpPr>
          <p:spPr>
            <a:xfrm>
              <a:off x="3074925" y="736"/>
              <a:ext cx="2046897" cy="96641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3122101" y="47912"/>
              <a:ext cx="1952545" cy="87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1 (Asg1)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5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2539085" y="664267"/>
              <a:ext cx="3862868" cy="38628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5591" y="5731"/>
                  </a:moveTo>
                  <a:lnTo>
                    <a:pt x="85591" y="5731"/>
                  </a:lnTo>
                  <a:cubicBezTo>
                    <a:pt x="90935" y="8251"/>
                    <a:pt x="95878" y="11547"/>
                    <a:pt x="100259" y="15512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952997" y="1295400"/>
              <a:ext cx="2335498" cy="96641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5000173" y="1342576"/>
              <a:ext cx="2241146" cy="87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2 (Asg2)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9</a:t>
              </a:r>
              <a:endParaRPr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2407213" y="796242"/>
              <a:ext cx="3862868" cy="38628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550" y="52669"/>
                  </a:moveTo>
                  <a:cubicBezTo>
                    <a:pt x="120464" y="60094"/>
                    <a:pt x="119981" y="67625"/>
                    <a:pt x="118127" y="74873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4544113" y="3429002"/>
              <a:ext cx="2542490" cy="96641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4591289" y="3476178"/>
              <a:ext cx="2448138" cy="87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3 (Asg3)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12</a:t>
              </a:r>
              <a:endParaRPr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241787" y="843670"/>
              <a:ext cx="3862868" cy="38628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0369" y="116437"/>
                  </a:moveTo>
                  <a:cubicBezTo>
                    <a:pt x="65865" y="121672"/>
                    <a:pt x="49903" y="121122"/>
                    <a:pt x="35794" y="114901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96993" y="3352803"/>
              <a:ext cx="3065410" cy="96641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944169" y="3399979"/>
              <a:ext cx="2971058" cy="87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Proof of Concept (POC)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14</a:t>
              </a:r>
              <a:endParaRPr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1938041" y="608363"/>
              <a:ext cx="3862868" cy="38628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052" y="78891"/>
                  </a:moveTo>
                  <a:lnTo>
                    <a:pt x="3052" y="78891"/>
                  </a:lnTo>
                  <a:cubicBezTo>
                    <a:pt x="839" y="72219"/>
                    <a:pt x="-185" y="65211"/>
                    <a:pt x="28" y="5818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914410" y="1295400"/>
              <a:ext cx="2269797" cy="96641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961586" y="1342576"/>
              <a:ext cx="2175445" cy="87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Design Thinking oriented Proposal</a:t>
              </a:r>
              <a:endPara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US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4</a:t>
              </a:r>
              <a:endParaRPr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750954" y="679379"/>
              <a:ext cx="3862868" cy="386286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20333" y="14983"/>
                  </a:moveTo>
                  <a:lnTo>
                    <a:pt x="20333" y="14983"/>
                  </a:lnTo>
                  <a:cubicBezTo>
                    <a:pt x="24890" y="10968"/>
                    <a:pt x="30030" y="7668"/>
                    <a:pt x="35577" y="5195"/>
                  </a:cubicBez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94" name="Google Shape;194;p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52400" y="2472813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048002" y="1189419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561006" y="2739513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61903" y="4907336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6200" y="4716463"/>
            <a:ext cx="1504335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- CLO2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6200" y="5334000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- CLO3*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28600" y="5943600"/>
            <a:ext cx="2514600" cy="53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</a:t>
            </a:r>
            <a:r>
              <a:rPr lang="en-US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- peer review/self review on TW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561006" y="3429000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361903" y="5573200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658981" y="1189425"/>
            <a:ext cx="1524000" cy="5334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10" name="Google Shape;210;p1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11" name="Google Shape;211;p10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2362200" y="2590800"/>
            <a:ext cx="6629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Project: Design Thinking oriented Proposal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743200" y="3657600"/>
            <a:ext cx="53313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Design Thinking oriented Proposal – 2%</a:t>
            </a:r>
            <a:endParaRPr sz="2800"/>
          </a:p>
        </p:txBody>
      </p:sp>
      <p:sp>
        <p:nvSpPr>
          <p:cNvPr id="219" name="Google Shape;2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project is aimed to provide innovative solution that improve current established system, or a new unprecedented solution based on real-world problem (according to theme either healthcare, agriculture, smart city and smart education) by </a:t>
            </a:r>
            <a:r>
              <a:rPr lang="en-US" u="sng"/>
              <a:t>implementing AI</a:t>
            </a:r>
            <a:r>
              <a:rPr lang="en-US"/>
              <a:t>.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</a:t>
            </a:r>
            <a:r>
              <a:rPr lang="en-US" u="sng"/>
              <a:t>Design Thinking (DT) </a:t>
            </a:r>
            <a:r>
              <a:rPr lang="en-US"/>
              <a:t>to discover AI solutions to a real-world problem 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Answer how the AI solution can achieve the aim/objective of the proposed product/system/software/apps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i="1"/>
              <a:t>Formulate</a:t>
            </a:r>
            <a:r>
              <a:rPr lang="en-US"/>
              <a:t> your solution and describe it in parts following the Design Thinking Process diagram</a:t>
            </a:r>
            <a:endParaRPr i="1"/>
          </a:p>
          <a:p>
            <a:pPr marL="342900" lvl="0" indent="-342900" algn="l" rtl="0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proposal should comprise at least as follows:</a:t>
            </a:r>
            <a:endParaRPr/>
          </a:p>
          <a:p>
            <a:pPr marL="742950" lvl="1" indent="-285750" algn="l" rtl="0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AI solution</a:t>
            </a:r>
            <a:endParaRPr/>
          </a:p>
          <a:p>
            <a:pPr marL="742950" lvl="1" indent="-285750" algn="l" rtl="0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The goal of AI solution</a:t>
            </a:r>
            <a:endParaRPr/>
          </a:p>
          <a:p>
            <a:pPr marL="742950" lvl="1" indent="-285750" algn="l" rtl="0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Describe the process of </a:t>
            </a:r>
            <a:r>
              <a:rPr lang="en-US" b="1"/>
              <a:t>Emphatize</a:t>
            </a:r>
            <a:r>
              <a:rPr lang="en-US"/>
              <a:t> in DT</a:t>
            </a:r>
            <a:endParaRPr/>
          </a:p>
          <a:p>
            <a:pPr marL="742950" lvl="1" indent="-285750" algn="l" rtl="0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Describe the process of </a:t>
            </a:r>
            <a:r>
              <a:rPr lang="en-US" b="1"/>
              <a:t>Define</a:t>
            </a:r>
            <a:r>
              <a:rPr lang="en-US"/>
              <a:t> in DT</a:t>
            </a:r>
            <a:endParaRPr/>
          </a:p>
          <a:p>
            <a:pPr marL="34290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i="1"/>
          </a:p>
        </p:txBody>
      </p:sp>
      <p:sp>
        <p:nvSpPr>
          <p:cNvPr id="220" name="Google Shape;220;p1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21" name="Google Shape;221;p1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>
            <a:spLocks noGrp="1"/>
          </p:cNvSpPr>
          <p:nvPr>
            <p:ph type="title"/>
          </p:nvPr>
        </p:nvSpPr>
        <p:spPr>
          <a:xfrm>
            <a:off x="489155" y="38065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Roboto"/>
              <a:buNone/>
            </a:pPr>
            <a:r>
              <a:rPr lang="en-US" sz="26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Design Thinking oriented Proposal (2%)</a:t>
            </a:r>
            <a:endParaRPr sz="2600"/>
          </a:p>
        </p:txBody>
      </p:sp>
      <p:sp>
        <p:nvSpPr>
          <p:cNvPr id="227" name="Google Shape;227;p1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28" name="Google Shape;228;p1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229" name="Google Shape;229;p12"/>
          <p:cNvGraphicFramePr/>
          <p:nvPr/>
        </p:nvGraphicFramePr>
        <p:xfrm>
          <a:off x="457200" y="158578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Category 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Score? 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Elaboration of emphatize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and pain, user/stakeholder and the goal are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and pain, user/stakeholder and the goal are somehow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and pain, user/stakeholder and the goal are limited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and pain, user/stakeholder and the goal are unclear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Elaboration of Design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Covers user/stakeholder needs in-depth with details and examples. 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Includes essential user/stakeholder needs. 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Includes essential user/stakeholder needs but there are 1-2 factual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User/stakeholder needs is minimal OR there are several factual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AI solution &amp; goal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AI solution shows large amount of original thought.  Ideas are creative and inventive.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AI solution  shows some original thought. Work shows new ideas and insights.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AI solution uses other people’s idea (giving them credit) but there is little evidence of original thinking. 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AI solution uses other people’s ideas but does not give them credit.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Roboto"/>
              <a:buNone/>
            </a:pPr>
            <a:r>
              <a:rPr lang="en-US" sz="32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Checklist: Activity, PIC &amp; Timeline</a:t>
            </a:r>
            <a:endParaRPr sz="3200"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Task: Design thinking oriented proposal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38" name="Google Shape;238;p13"/>
          <p:cNvGraphicFramePr/>
          <p:nvPr/>
        </p:nvGraphicFramePr>
        <p:xfrm>
          <a:off x="228599" y="22450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{80D91BEC-1D3C-41D2-930B-A399E2BB072D}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Task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PIC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Deadline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Describe the process of </a:t>
                      </a:r>
                      <a:r>
                        <a:rPr lang="en-US" sz="1800" b="1" u="none" strike="noStrike" cap="none"/>
                        <a:t>Empathize</a:t>
                      </a:r>
                      <a:r>
                        <a:rPr lang="en-US" sz="1800" u="none" strike="noStrike" cap="none"/>
                        <a:t> in DT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Describe the process of </a:t>
                      </a:r>
                      <a:r>
                        <a:rPr lang="en-US" sz="1800" b="1" u="none" strike="noStrike" cap="none"/>
                        <a:t>Define</a:t>
                      </a:r>
                      <a:r>
                        <a:rPr lang="en-US" sz="1800" u="none" strike="noStrike" cap="none"/>
                        <a:t> in DT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The goal of AI solution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AI solution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Roboto"/>
              <a:buNone/>
            </a:pPr>
            <a:r>
              <a:rPr lang="en-US" sz="32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Checklist: Activity, PIC &amp; Timeline</a:t>
            </a:r>
            <a:endParaRPr sz="3200"/>
          </a:p>
        </p:txBody>
      </p:sp>
      <p:sp>
        <p:nvSpPr>
          <p:cNvPr id="244" name="Google Shape;244;p14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Task: Design thinking oriented proposal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45" name="Google Shape;245;p1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46" name="Google Shape;246;p1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247" name="Google Shape;247;p14"/>
          <p:cNvGraphicFramePr/>
          <p:nvPr/>
        </p:nvGraphicFramePr>
        <p:xfrm>
          <a:off x="228599" y="22450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{80D91BEC-1D3C-41D2-930B-A399E2BB072D}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Task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PIC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Deadline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Describe the process of </a:t>
                      </a:r>
                      <a:r>
                        <a:rPr lang="en-US" sz="1800" b="1" u="none" strike="noStrike" cap="none"/>
                        <a:t>Emphatize</a:t>
                      </a:r>
                      <a:r>
                        <a:rPr lang="en-US" sz="1800" u="none" strike="noStrike" cap="none"/>
                        <a:t> in DT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Problem and pain, user/stakeholder and the goal are clearly described.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Who is my user?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/>
                        <a:t>What matters to them?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Describe the process of </a:t>
                      </a:r>
                      <a:r>
                        <a:rPr lang="en-US" sz="1800" b="1" u="none" strike="noStrike" cap="none"/>
                        <a:t>Define</a:t>
                      </a:r>
                      <a:r>
                        <a:rPr lang="en-US" sz="1800" u="none" strike="noStrike" cap="none"/>
                        <a:t> in DT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Covers user/stakeholder needs in-depth with details and examples.  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What are their needs?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The goal of AI solution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AI solution shows large amount of original thought.  Ideas are creative and inventive. 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/>
                        <a:t>Name AI solution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>
            <a:spLocks noGrp="1"/>
          </p:cNvSpPr>
          <p:nvPr>
            <p:ph type="title"/>
          </p:nvPr>
        </p:nvSpPr>
        <p:spPr>
          <a:xfrm>
            <a:off x="-76200" y="0"/>
            <a:ext cx="9220200" cy="731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Examples of question in Empathy for DT process</a:t>
            </a:r>
            <a:endParaRPr sz="3200"/>
          </a:p>
        </p:txBody>
      </p:sp>
      <p:sp>
        <p:nvSpPr>
          <p:cNvPr id="253" name="Google Shape;25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54" name="Google Shape;254;p1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56" name="Google Shape;256;p1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64" name="Google Shape;264;p16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/>
        </p:nvSpPr>
        <p:spPr>
          <a:xfrm>
            <a:off x="2362200" y="2590800"/>
            <a:ext cx="66294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1 – Knowledge Representation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2743200" y="3657600"/>
            <a:ext cx="53313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1% TW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2" name="Google Shape;272;p1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17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066800" y="304800"/>
            <a:ext cx="80732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Knowledge Representation – </a:t>
            </a:r>
            <a:r>
              <a:rPr lang="en-US" sz="32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32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32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152400" y="1600200"/>
            <a:ext cx="87630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 the knowledge representation(KR) for your AI solution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at least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KR using logical representation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write up on the KR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71550" marR="0" lvl="2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KR supports the proposed AI solution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 the goal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FOL to describe the KR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appropriate connectives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what KR is involved in order to achieve the aim/goal of the proposed product/system/software/apps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Knowledge Representation (3%)</a:t>
            </a:r>
            <a:endParaRPr sz="2800"/>
          </a:p>
        </p:txBody>
      </p:sp>
      <p:sp>
        <p:nvSpPr>
          <p:cNvPr id="280" name="Google Shape;280;p1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81" name="Google Shape;281;p1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282" name="Google Shape;282;p18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Category 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Score? 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Correctness of semantics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clearly represented using natural language and FOL with correct semantic.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somehow clear represented using natural language and FOL with some correct semantic.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somehow clear represented using natural language and FOL with limited correct semantic.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unclear represented using natural language and FOL with correct semantic.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Correctness of syntax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clearly represented using a correct syntax of FOL.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somehow clear represented using some correct syntax of FOL.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somehow clear represented using limited correct syntax of FOL.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AI solution is unclear represented using a correct syntax of FOL.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88" name="Google Shape;288;p1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19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066800" y="304800"/>
            <a:ext cx="807327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- Knowledge Representation</a:t>
            </a:r>
            <a:endParaRPr sz="32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76200" y="4724400"/>
            <a:ext cx="8763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motion_detector = active AND door_control = on AND window_control = on THEN security_alarm = SET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lighting_control = off AND radiator = off OR temp=not_active THEN auto_notify = SET_FIRST_WARN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9" descr="smartho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0"/>
            <a:ext cx="38100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zigbee1.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00500" y="1524000"/>
            <a:ext cx="49911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d2a6f7be0_1_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8" name="Google Shape;298;g38d2a6f7be0_1_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20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99" name="Google Shape;299;g38d2a6f7be0_1_8"/>
          <p:cNvSpPr/>
          <p:nvPr/>
        </p:nvSpPr>
        <p:spPr>
          <a:xfrm>
            <a:off x="1066800" y="304800"/>
            <a:ext cx="8073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lang="en-US" sz="36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38d2a6f7be0_1_8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49" marR="0" lvl="0" indent="-2571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49" marR="0" lvl="0" indent="-2571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49" marR="0" lvl="0" indent="-2571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49" marR="0" lvl="0" indent="-1047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g38d2a6f7be0_1_8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{63D4C59A-1B88-4128-8D4D-7D4BE1DCD807}</a:tableStyleId>
              </a:tblPr>
              <a:tblGrid>
                <a:gridCol w="16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08" name="Google Shape;308;p20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2362200" y="2590800"/>
            <a:ext cx="62484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2 – State Space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2743200" y="3429000"/>
            <a:ext cx="533136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TW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16" name="Google Shape;316;p2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22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CLO3: State Space Search – </a:t>
            </a:r>
            <a:r>
              <a:rPr lang="en-US" sz="36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152400" y="1447800"/>
            <a:ext cx="8763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previous KR,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problem using state space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state space by specifying the </a:t>
            </a:r>
            <a:r>
              <a:rPr lang="en-US" sz="2400" b="0" i="0" u="none" strike="noStrike" cap="none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0" i="0" u="none" strike="noStrike" cap="none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write up on the state space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71550" marR="0" lvl="2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each state and each actions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the state space as graph (directed/undirected graph)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problem by specifying four things: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71550" marR="0" lvl="2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state, Actions, Goal, Path cost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4350" marR="0" lvl="1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sequence of actions leading from initial state to goal state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how the problem is formulated to support the proposed KR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State Space Search (5%)</a:t>
            </a:r>
            <a:endParaRPr sz="2800"/>
          </a:p>
        </p:txBody>
      </p:sp>
      <p:sp>
        <p:nvSpPr>
          <p:cNvPr id="324" name="Google Shape;324;p2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25" name="Google Shape;325;p2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aphicFrame>
        <p:nvGraphicFramePr>
          <p:cNvPr id="326" name="Google Shape;326;p22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Score? </a:t>
                      </a: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 of state space graph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somehow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limited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unclear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Correctness of state space graph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precisely the problem using state space graph. 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somehow precisely the problem using state space graph.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somehow precisely the problem using state space graph but there are 1-2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Represent so minimal the problem using state space graph OR there are several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32" name="Google Shape;332;p2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24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lang="en-US" sz="36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23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{63D4C59A-1B88-4128-8D4D-7D4BE1DCD807}</a:tableStyleId>
              </a:tblPr>
              <a:tblGrid>
                <a:gridCol w="16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42" name="Google Shape;342;p2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25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State Space Search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4" name="Google Shape;344;p24" descr="senso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1524000"/>
            <a:ext cx="67818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 txBox="1"/>
          <p:nvPr/>
        </p:nvSpPr>
        <p:spPr>
          <a:xfrm>
            <a:off x="4724400" y="1676400"/>
            <a:ext cx="42672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the problem formulation in a state space 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the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system is to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risk types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appropriate response for such risks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51" name="Google Shape;351;p2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52" name="Google Shape;352;p25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 txBox="1"/>
          <p:nvPr/>
        </p:nvSpPr>
        <p:spPr>
          <a:xfrm>
            <a:off x="2362200" y="2543100"/>
            <a:ext cx="63246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3 – Intelligent Agent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2743200" y="3429000"/>
            <a:ext cx="5331362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TW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60" name="Google Shape;360;p2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27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228600" y="1676400"/>
            <a:ext cx="8610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proposed AI solution using PEAS model representation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each property in PEAS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–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explanation on each property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14450" marR="0" lvl="2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Performance measure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14450" marR="0" lvl="2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Environment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14450" marR="0" lvl="2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Actuators/Effectors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14450" marR="0" lvl="2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S: Sensors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diagram(s) to represent the relations between each property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–"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write up on how each property will be represented in the Proof of Concept (POC)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lang="en-US" sz="2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how agent in AI behaves in the proposed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product/system/software/apps</a:t>
            </a: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Intelligent Agent – </a:t>
            </a:r>
            <a:r>
              <a:rPr lang="en-US" sz="40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4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Intelligent Agent (5%)</a:t>
            </a:r>
            <a:endParaRPr sz="2800"/>
          </a:p>
        </p:txBody>
      </p:sp>
      <p:sp>
        <p:nvSpPr>
          <p:cNvPr id="368" name="Google Shape;368;p2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69" name="Google Shape;369;p2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aphicFrame>
        <p:nvGraphicFramePr>
          <p:cNvPr id="370" name="Google Shape;370;p27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1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Category 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Score? 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 of PEAS model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somehow clearly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limited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unclear described.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Correctness of PEAS model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precisely the solution using PEAS model. 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somehow precisely the solution using PEAS model.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Represent somehow precisely the solution using PEAS model but there are 1-2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strike="noStrike" cap="none"/>
                        <a:t>Represent so minimal the solution using PEAS model OR there are several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 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d2a6f7be0_1_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76" name="Google Shape;376;g38d2a6f7be0_1_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29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77" name="Google Shape;377;g38d2a6f7be0_1_0"/>
          <p:cNvSpPr/>
          <p:nvPr/>
        </p:nvSpPr>
        <p:spPr>
          <a:xfrm>
            <a:off x="1066800" y="304800"/>
            <a:ext cx="80733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lang="en-US" sz="36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38d2a6f7be0_1_0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49" marR="0" lvl="0" indent="-2571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49" marR="0" lvl="0" indent="-2571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49" marR="0" lvl="0" indent="-2571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49" marR="0" lvl="0" indent="-104749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g38d2a6f7be0_1_0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{63D4C59A-1B88-4128-8D4D-7D4BE1DCD807}</a:tableStyleId>
              </a:tblPr>
              <a:tblGrid>
                <a:gridCol w="166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86" name="Google Shape;386;p2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30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Intelligent Agent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8" name="Google Shape;388;p29" descr="peas-smarthome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1981200"/>
            <a:ext cx="4895850" cy="254793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9"/>
          <p:cNvSpPr txBox="1"/>
          <p:nvPr/>
        </p:nvSpPr>
        <p:spPr>
          <a:xfrm>
            <a:off x="762000" y="4876800"/>
            <a:ext cx="7162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Along with detailed explanation on the above diagram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how each property will be represented in the POC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96" name="Google Shape;396;p30" descr="Image result for artificial intelligence icon"/>
          <p:cNvPicPr preferRelativeResize="0"/>
          <p:nvPr/>
        </p:nvPicPr>
        <p:blipFill rotWithShape="1">
          <a:blip r:embed="rId3">
            <a:alphaModFix/>
          </a:blip>
          <a:srcRect l="14092" r="15442" b="29337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/>
          <p:nvPr/>
        </p:nvSpPr>
        <p:spPr>
          <a:xfrm>
            <a:off x="2362200" y="2590800"/>
            <a:ext cx="6324600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of Concept - POC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2743200" y="3429000"/>
            <a:ext cx="61722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CLO2, 5% TW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4" name="Google Shape;404;p3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32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228600" y="1828800"/>
            <a:ext cx="8610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prototype as POC of the proposed AI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may use any prototyping tools/software and it should include interactive interface. The main idea is for you to express your solution on how AI can be implemented in real-world problems.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answer how the proposed AI solution can verify the concept in solving problems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4572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Garamond"/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14350" marR="0" lvl="0" indent="-31750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Garamond"/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Proof of Concept – 10%</a:t>
            </a:r>
            <a:endParaRPr sz="4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Proof of Concept (10%)</a:t>
            </a:r>
            <a:endParaRPr sz="2800"/>
          </a:p>
        </p:txBody>
      </p:sp>
      <p:sp>
        <p:nvSpPr>
          <p:cNvPr id="412" name="Google Shape;412;p3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413" name="Google Shape;413;p3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aphicFrame>
        <p:nvGraphicFramePr>
          <p:cNvPr id="414" name="Google Shape;414;p32"/>
          <p:cNvGraphicFramePr/>
          <p:nvPr/>
        </p:nvGraphicFramePr>
        <p:xfrm>
          <a:off x="449826" y="160020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Category 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Score?</a:t>
                      </a: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Originality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POC shows large amount of original thought.  Ideas are creative and inventive.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POC shows some original thought. Work shows new ideas and insights.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Uses other people’s idea (giving them credit) but there is little evidence of original thinking.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Uses other people’s ideas but does not give them credit.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Content organization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Content shows the most persuasive elements to attract reader.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 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Content shows the persuasive elements to attract reader.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 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Content shows minimal persuasive elements to attract reader.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Content shows the very minimal persuasive elements to attract reader.</a:t>
                      </a:r>
                      <a:endParaRPr sz="1400" u="none" strike="noStrike" cap="none"/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lang="en-US" sz="2800" b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Proof of Concept (10%)</a:t>
            </a:r>
            <a:endParaRPr sz="2800"/>
          </a:p>
        </p:txBody>
      </p:sp>
      <p:sp>
        <p:nvSpPr>
          <p:cNvPr id="420" name="Google Shape;420;p3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421" name="Google Shape;421;p3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422" name="Google Shape;422;p33"/>
          <p:cNvGraphicFramePr/>
          <p:nvPr/>
        </p:nvGraphicFramePr>
        <p:xfrm>
          <a:off x="449826" y="1600200"/>
          <a:ext cx="3000000" cy="300000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{80D91BEC-1D3C-41D2-930B-A399E2BB072D}</a:tableStyleId>
              </a:tblPr>
              <a:tblGrid>
                <a:gridCol w="11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Category 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1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Score?</a:t>
                      </a: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Originality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POC shows large amount of original thought.  Ideas are creative and inventive.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POC shows some original thought. Work shows new ideas and insights.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Uses other people’s idea (giving them credit) but there is little evidence of original thinking.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Uses other people’s ideas but does not give them credit.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Problem Formulation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is clearly formulated and well explained with examples.</a:t>
                      </a: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is clearly formulated with adequate explanation.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is somehow clear with limited explanation.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Problem is unclear.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Content organization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Content shows the most persuasive elements.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Includes essential knowledge about the topic. Subject knowledge appears to be good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Includes essential information about the topic but there are 1-2 factual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Content is minimal OR there are several factual errors.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 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725" marR="6372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28" name="Google Shape;428;p3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35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(5%)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381000" y="1447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Peer review on Team Working (TW)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Team Working Value in the scale of 1 to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" name="Google Shape;431;p34"/>
          <p:cNvGraphicFramePr/>
          <p:nvPr/>
        </p:nvGraphicFramePr>
        <p:xfrm>
          <a:off x="152400" y="22098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{63D4C59A-1B88-4128-8D4D-7D4BE1DCD807}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Routinely provides useful ideas when participating in the group. 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provides useful ideas when participating in the group.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Sometimes provides useful ideas when participating in the group.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provides useful ideas when participating in the group.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Problem-solving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Actively looks for and suggests solutions to problems.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Refines solutions suggested by others.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suggest or refine solutions but is willing to try out solutions suggested by others.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try to solve problems or help others solve problems.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others do the work.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Attitude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never publicly critical of the project or the work of others.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has a positive attitude about the task(s).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rarely publicly critical of the project or the work of others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Often has a positive attitude about the task(s).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occasionally publicly critical of the project or the work of other members of the group.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has a positive attitude about the task(s).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often publicly critical of the project or the work of other members of the group.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often negative about the task(s).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on the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Consistently stays focused on the task and what needs to be done.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self-directed</a:t>
                      </a: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the task and what needs to be done most of the time.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group members can count on this person</a:t>
                      </a: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the task and what needs to be done some of the time.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group members must sometimes nag, prod, and remind to keep this person on task.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focuses on the task and what needs to be done. </a:t>
                      </a:r>
                      <a:r>
                        <a:rPr lang="en-US" sz="1050" u="sng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Lets others do the work.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Working with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Almost always listens to, shares with, and supports the efforts of others. Tries to keep people working well together.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listens to, shares, with, and supports the efforts of others. Does not cause "waves" in the group.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Often listens to, shares with, and supports the efforts of others, but sometimes is not a good team member.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listens to, shares with, and supports the efforts of others. Often is not a good team player.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38" name="Google Shape;438;p3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36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Proof of Concept</a:t>
            </a:r>
            <a:endParaRPr sz="36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5"/>
          <p:cNvSpPr txBox="1"/>
          <p:nvPr/>
        </p:nvSpPr>
        <p:spPr>
          <a:xfrm>
            <a:off x="1143000" y="56388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257150" marR="0" lvl="0" indent="-257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an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design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demonstrate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25715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 of the proposed AI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50" marR="0" lvl="0" indent="-104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35" descr="po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47800"/>
            <a:ext cx="592501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3192</Words>
  <Application>Microsoft Office PowerPoint</Application>
  <PresentationFormat>On-screen Show (4:3)</PresentationFormat>
  <Paragraphs>528</Paragraphs>
  <Slides>36</Slides>
  <Notes>36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Roboto</vt:lpstr>
      <vt:lpstr>Arial</vt:lpstr>
      <vt:lpstr>Garamond</vt:lpstr>
      <vt:lpstr>Calibri</vt:lpstr>
      <vt:lpstr>Times New Roman</vt:lpstr>
      <vt:lpstr>Noto Sans Symbols</vt:lpstr>
      <vt:lpstr>Office Theme</vt:lpstr>
      <vt:lpstr>Project Task</vt:lpstr>
      <vt:lpstr>Mark Distribution: Assignment &amp; Project</vt:lpstr>
      <vt:lpstr>Outline</vt:lpstr>
      <vt:lpstr>The Theme</vt:lpstr>
      <vt:lpstr>Mapping Task Assessment</vt:lpstr>
      <vt:lpstr>PowerPoint Presentation</vt:lpstr>
      <vt:lpstr>PowerPoint Presentation</vt:lpstr>
      <vt:lpstr>Examples of question in Empathy for DT process</vt:lpstr>
      <vt:lpstr>Project Timeline &amp; Grading</vt:lpstr>
      <vt:lpstr>PowerPoint Presentation</vt:lpstr>
      <vt:lpstr>CLO2: Design Thinking oriented Proposal – 2%</vt:lpstr>
      <vt:lpstr>Rubric: Design Thinking oriented Proposal (2%)</vt:lpstr>
      <vt:lpstr>Checklist: Activity, PIC &amp; Timeline</vt:lpstr>
      <vt:lpstr>Checklist: Activity, PIC &amp; Timeline</vt:lpstr>
      <vt:lpstr>Examples of question in Empathy for DT process</vt:lpstr>
      <vt:lpstr>PowerPoint Presentation</vt:lpstr>
      <vt:lpstr>PowerPoint Presentation</vt:lpstr>
      <vt:lpstr>Rubric: Knowledge Representation (3%)</vt:lpstr>
      <vt:lpstr>PowerPoint Presentation</vt:lpstr>
      <vt:lpstr>PowerPoint Presentation</vt:lpstr>
      <vt:lpstr>PowerPoint Presentation</vt:lpstr>
      <vt:lpstr>PowerPoint Presentation</vt:lpstr>
      <vt:lpstr>Rubric: State Space Search (5%)</vt:lpstr>
      <vt:lpstr>PowerPoint Presentation</vt:lpstr>
      <vt:lpstr>PowerPoint Presentation</vt:lpstr>
      <vt:lpstr>PowerPoint Presentation</vt:lpstr>
      <vt:lpstr>PowerPoint Presentation</vt:lpstr>
      <vt:lpstr>Rubric: Intelligent Agent (5%)</vt:lpstr>
      <vt:lpstr>PowerPoint Presentation</vt:lpstr>
      <vt:lpstr>PowerPoint Presentation</vt:lpstr>
      <vt:lpstr>PowerPoint Presentation</vt:lpstr>
      <vt:lpstr>PowerPoint Presentation</vt:lpstr>
      <vt:lpstr>Rubric: Proof of Concept (10%)</vt:lpstr>
      <vt:lpstr>Rubric: Proof of Concept (10%)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ASRAFUL SYIFAA' BINTI AHMAD</dc:creator>
  <cp:lastModifiedBy>Norsham Idris</cp:lastModifiedBy>
  <cp:revision>2</cp:revision>
  <dcterms:created xsi:type="dcterms:W3CDTF">2019-10-19T12:03:00Z</dcterms:created>
  <dcterms:modified xsi:type="dcterms:W3CDTF">2025-10-22T01:49:23Z</dcterms:modified>
</cp:coreProperties>
</file>